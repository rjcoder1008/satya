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Hedvig Letters Sans" charset="-122" pitchFamily="34"/>
      <p:regular r:id="rId20"/>
    </p:embeddedFont>
    <p:embeddedFont>
      <p:font typeface="Liter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0.wp.com/c3c2d6fd60575d0abe08dc7cc8d1044d5772d882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9779" b="977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11827"/>
              </a:gs>
              <a:gs pos="50000">
                <a:srgbClr val="111827">
                  <a:alpha val="90000"/>
                </a:srgbClr>
              </a:gs>
              <a:gs pos="100000">
                <a:srgbClr val="34D399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90525" y="1571625"/>
            <a:ext cx="3790950" cy="514350"/>
          </a:xfrm>
          <a:custGeom>
            <a:avLst/>
            <a:gdLst/>
            <a:ahLst/>
            <a:cxnLst/>
            <a:rect l="l" t="t" r="r" b="b"/>
            <a:pathLst>
              <a:path w="3790950" h="514350">
                <a:moveTo>
                  <a:pt x="114299" y="0"/>
                </a:moveTo>
                <a:lnTo>
                  <a:pt x="3676651" y="0"/>
                </a:lnTo>
                <a:cubicBezTo>
                  <a:pt x="3739777" y="0"/>
                  <a:pt x="3790950" y="51173"/>
                  <a:pt x="3790950" y="114299"/>
                </a:cubicBezTo>
                <a:lnTo>
                  <a:pt x="3790950" y="400051"/>
                </a:lnTo>
                <a:cubicBezTo>
                  <a:pt x="3790950" y="463177"/>
                  <a:pt x="3739777" y="514350"/>
                  <a:pt x="3676651" y="514350"/>
                </a:cubicBezTo>
                <a:lnTo>
                  <a:pt x="114299" y="514350"/>
                </a:lnTo>
                <a:cubicBezTo>
                  <a:pt x="51173" y="514350"/>
                  <a:pt x="0" y="463177"/>
                  <a:pt x="0" y="4000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8650" y="1724025"/>
            <a:ext cx="34057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450" kern="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 AUTHENTICATION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24100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9FAF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Satya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4671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3810000"/>
            <a:ext cx="8705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34D3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Deepfake Detection &amp; Media Authentication Platform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467225"/>
            <a:ext cx="7429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Restoring Trust in Digital Content Through Explainable AI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14350" y="6153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2" name="Text 9"/>
          <p:cNvSpPr/>
          <p:nvPr/>
        </p:nvSpPr>
        <p:spPr>
          <a:xfrm>
            <a:off x="952500" y="6115050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AI-Generated Detection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032373" y="609600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4B5563"/>
          </a:solidFill>
          <a:ln/>
        </p:spPr>
      </p:sp>
      <p:sp>
        <p:nvSpPr>
          <p:cNvPr id="14" name="Shape 11"/>
          <p:cNvSpPr/>
          <p:nvPr/>
        </p:nvSpPr>
        <p:spPr>
          <a:xfrm>
            <a:off x="3346698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3468142" y="61531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8999" y="-2977"/>
                </a:moveTo>
                <a:cubicBezTo>
                  <a:pt x="86730" y="-5283"/>
                  <a:pt x="83418" y="-6214"/>
                  <a:pt x="80293" y="-5358"/>
                </a:cubicBezTo>
                <a:cubicBezTo>
                  <a:pt x="77167" y="-4502"/>
                  <a:pt x="74749" y="-2084"/>
                  <a:pt x="73968" y="1042"/>
                </a:cubicBezTo>
                <a:lnTo>
                  <a:pt x="68275" y="23440"/>
                </a:lnTo>
                <a:cubicBezTo>
                  <a:pt x="67866" y="25078"/>
                  <a:pt x="66191" y="26045"/>
                  <a:pt x="64591" y="25561"/>
                </a:cubicBezTo>
                <a:lnTo>
                  <a:pt x="42342" y="19310"/>
                </a:lnTo>
                <a:cubicBezTo>
                  <a:pt x="39216" y="18417"/>
                  <a:pt x="35868" y="19310"/>
                  <a:pt x="33598" y="21580"/>
                </a:cubicBezTo>
                <a:cubicBezTo>
                  <a:pt x="31328" y="23850"/>
                  <a:pt x="30435" y="27198"/>
                  <a:pt x="31328" y="30324"/>
                </a:cubicBezTo>
                <a:lnTo>
                  <a:pt x="37616" y="52574"/>
                </a:lnTo>
                <a:cubicBezTo>
                  <a:pt x="38063" y="54173"/>
                  <a:pt x="37095" y="55848"/>
                  <a:pt x="35496" y="56257"/>
                </a:cubicBezTo>
                <a:lnTo>
                  <a:pt x="13060" y="61950"/>
                </a:lnTo>
                <a:cubicBezTo>
                  <a:pt x="9934" y="62731"/>
                  <a:pt x="7479" y="65187"/>
                  <a:pt x="6623" y="68312"/>
                </a:cubicBezTo>
                <a:cubicBezTo>
                  <a:pt x="5767" y="71438"/>
                  <a:pt x="6697" y="74749"/>
                  <a:pt x="9004" y="77019"/>
                </a:cubicBezTo>
                <a:lnTo>
                  <a:pt x="25561" y="93129"/>
                </a:lnTo>
                <a:cubicBezTo>
                  <a:pt x="26752" y="94283"/>
                  <a:pt x="26752" y="96217"/>
                  <a:pt x="25561" y="97408"/>
                </a:cubicBezTo>
                <a:lnTo>
                  <a:pt x="9041" y="113519"/>
                </a:lnTo>
                <a:cubicBezTo>
                  <a:pt x="6734" y="115788"/>
                  <a:pt x="5804" y="119100"/>
                  <a:pt x="6660" y="122225"/>
                </a:cubicBezTo>
                <a:cubicBezTo>
                  <a:pt x="7516" y="125350"/>
                  <a:pt x="9971" y="127769"/>
                  <a:pt x="13097" y="128588"/>
                </a:cubicBezTo>
                <a:lnTo>
                  <a:pt x="35496" y="134280"/>
                </a:lnTo>
                <a:cubicBezTo>
                  <a:pt x="37133" y="134689"/>
                  <a:pt x="38100" y="136364"/>
                  <a:pt x="37616" y="137964"/>
                </a:cubicBezTo>
                <a:lnTo>
                  <a:pt x="31328" y="160176"/>
                </a:lnTo>
                <a:cubicBezTo>
                  <a:pt x="30435" y="163302"/>
                  <a:pt x="31328" y="166650"/>
                  <a:pt x="33598" y="168920"/>
                </a:cubicBezTo>
                <a:cubicBezTo>
                  <a:pt x="35868" y="171190"/>
                  <a:pt x="39216" y="172083"/>
                  <a:pt x="42342" y="171190"/>
                </a:cubicBezTo>
                <a:lnTo>
                  <a:pt x="64591" y="164902"/>
                </a:lnTo>
                <a:cubicBezTo>
                  <a:pt x="66191" y="164455"/>
                  <a:pt x="67866" y="165422"/>
                  <a:pt x="68275" y="167022"/>
                </a:cubicBezTo>
                <a:lnTo>
                  <a:pt x="73968" y="189421"/>
                </a:lnTo>
                <a:cubicBezTo>
                  <a:pt x="74749" y="192546"/>
                  <a:pt x="77205" y="195002"/>
                  <a:pt x="80330" y="195858"/>
                </a:cubicBezTo>
                <a:cubicBezTo>
                  <a:pt x="83455" y="196714"/>
                  <a:pt x="86767" y="195783"/>
                  <a:pt x="89036" y="193477"/>
                </a:cubicBezTo>
                <a:lnTo>
                  <a:pt x="105147" y="176919"/>
                </a:lnTo>
                <a:cubicBezTo>
                  <a:pt x="106300" y="175729"/>
                  <a:pt x="108235" y="175729"/>
                  <a:pt x="109426" y="176919"/>
                </a:cubicBezTo>
                <a:lnTo>
                  <a:pt x="125499" y="193477"/>
                </a:lnTo>
                <a:cubicBezTo>
                  <a:pt x="127769" y="195783"/>
                  <a:pt x="131080" y="196714"/>
                  <a:pt x="134206" y="195858"/>
                </a:cubicBezTo>
                <a:cubicBezTo>
                  <a:pt x="137331" y="195002"/>
                  <a:pt x="139750" y="192546"/>
                  <a:pt x="140568" y="189421"/>
                </a:cubicBezTo>
                <a:lnTo>
                  <a:pt x="146261" y="167060"/>
                </a:lnTo>
                <a:cubicBezTo>
                  <a:pt x="146670" y="165422"/>
                  <a:pt x="148344" y="164455"/>
                  <a:pt x="149944" y="164939"/>
                </a:cubicBezTo>
                <a:lnTo>
                  <a:pt x="172194" y="171227"/>
                </a:lnTo>
                <a:cubicBezTo>
                  <a:pt x="175320" y="172120"/>
                  <a:pt x="178668" y="171227"/>
                  <a:pt x="180938" y="168957"/>
                </a:cubicBezTo>
                <a:cubicBezTo>
                  <a:pt x="183207" y="166687"/>
                  <a:pt x="184100" y="163339"/>
                  <a:pt x="183207" y="160213"/>
                </a:cubicBezTo>
                <a:lnTo>
                  <a:pt x="176919" y="137964"/>
                </a:lnTo>
                <a:cubicBezTo>
                  <a:pt x="176473" y="136364"/>
                  <a:pt x="177440" y="134689"/>
                  <a:pt x="179040" y="134280"/>
                </a:cubicBezTo>
                <a:lnTo>
                  <a:pt x="201439" y="128588"/>
                </a:lnTo>
                <a:cubicBezTo>
                  <a:pt x="204564" y="127806"/>
                  <a:pt x="207020" y="125350"/>
                  <a:pt x="207876" y="122225"/>
                </a:cubicBezTo>
                <a:cubicBezTo>
                  <a:pt x="208731" y="119100"/>
                  <a:pt x="207801" y="115751"/>
                  <a:pt x="205494" y="113519"/>
                </a:cubicBezTo>
                <a:lnTo>
                  <a:pt x="188937" y="97408"/>
                </a:lnTo>
                <a:cubicBezTo>
                  <a:pt x="187747" y="96255"/>
                  <a:pt x="187747" y="94320"/>
                  <a:pt x="188937" y="93129"/>
                </a:cubicBezTo>
                <a:lnTo>
                  <a:pt x="205494" y="77019"/>
                </a:lnTo>
                <a:cubicBezTo>
                  <a:pt x="207801" y="74749"/>
                  <a:pt x="208731" y="71437"/>
                  <a:pt x="207876" y="68312"/>
                </a:cubicBezTo>
                <a:cubicBezTo>
                  <a:pt x="207020" y="65187"/>
                  <a:pt x="204564" y="62768"/>
                  <a:pt x="201439" y="61950"/>
                </a:cubicBezTo>
                <a:lnTo>
                  <a:pt x="179040" y="56257"/>
                </a:lnTo>
                <a:cubicBezTo>
                  <a:pt x="177403" y="55848"/>
                  <a:pt x="176436" y="54173"/>
                  <a:pt x="176919" y="52574"/>
                </a:cubicBezTo>
                <a:lnTo>
                  <a:pt x="183207" y="30324"/>
                </a:lnTo>
                <a:cubicBezTo>
                  <a:pt x="184100" y="27198"/>
                  <a:pt x="183207" y="23850"/>
                  <a:pt x="180938" y="21580"/>
                </a:cubicBezTo>
                <a:cubicBezTo>
                  <a:pt x="178668" y="19310"/>
                  <a:pt x="175320" y="18417"/>
                  <a:pt x="172194" y="19310"/>
                </a:cubicBezTo>
                <a:lnTo>
                  <a:pt x="149944" y="25598"/>
                </a:lnTo>
                <a:cubicBezTo>
                  <a:pt x="148344" y="26045"/>
                  <a:pt x="146670" y="25078"/>
                  <a:pt x="146261" y="23478"/>
                </a:cubicBezTo>
                <a:lnTo>
                  <a:pt x="140568" y="1042"/>
                </a:lnTo>
                <a:cubicBezTo>
                  <a:pt x="139787" y="-2084"/>
                  <a:pt x="137331" y="-4539"/>
                  <a:pt x="134206" y="-5395"/>
                </a:cubicBezTo>
                <a:cubicBezTo>
                  <a:pt x="131080" y="-6251"/>
                  <a:pt x="127769" y="-5321"/>
                  <a:pt x="125499" y="-3014"/>
                </a:cubicBezTo>
                <a:lnTo>
                  <a:pt x="109389" y="13581"/>
                </a:lnTo>
                <a:cubicBezTo>
                  <a:pt x="108235" y="14771"/>
                  <a:pt x="106300" y="14771"/>
                  <a:pt x="105110" y="13581"/>
                </a:cubicBezTo>
                <a:lnTo>
                  <a:pt x="88999" y="-2977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6" name="Text 13"/>
          <p:cNvSpPr/>
          <p:nvPr/>
        </p:nvSpPr>
        <p:spPr>
          <a:xfrm>
            <a:off x="3918198" y="611505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Verified Authenticity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733008" y="609600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4B5563"/>
          </a:solidFill>
          <a:ln/>
        </p:spPr>
      </p:sp>
      <p:sp>
        <p:nvSpPr>
          <p:cNvPr id="18" name="Shape 15"/>
          <p:cNvSpPr/>
          <p:nvPr/>
        </p:nvSpPr>
        <p:spPr>
          <a:xfrm>
            <a:off x="6047333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180683" y="6153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20" name="Text 17"/>
          <p:cNvSpPr/>
          <p:nvPr/>
        </p:nvSpPr>
        <p:spPr>
          <a:xfrm>
            <a:off x="6618833" y="6115050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Explainable Results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240" kern="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We'll Cover Today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676400"/>
            <a:ext cx="5619750" cy="1085850"/>
          </a:xfrm>
          <a:custGeom>
            <a:avLst/>
            <a:gdLst/>
            <a:ahLst/>
            <a:cxnLst/>
            <a:rect l="l" t="t" r="r" b="b"/>
            <a:pathLst>
              <a:path w="5619750" h="1085850">
                <a:moveTo>
                  <a:pt x="38100" y="0"/>
                </a:moveTo>
                <a:lnTo>
                  <a:pt x="5543545" y="0"/>
                </a:lnTo>
                <a:cubicBezTo>
                  <a:pt x="5585632" y="0"/>
                  <a:pt x="5619750" y="34118"/>
                  <a:pt x="5619750" y="76205"/>
                </a:cubicBezTo>
                <a:lnTo>
                  <a:pt x="5619750" y="1009645"/>
                </a:lnTo>
                <a:cubicBezTo>
                  <a:pt x="5619750" y="1051732"/>
                  <a:pt x="5585632" y="1085850"/>
                  <a:pt x="5543545" y="1085850"/>
                </a:cubicBez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B5563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67640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3810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952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765870" y="2066925"/>
            <a:ext cx="333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118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5400" y="1952625"/>
            <a:ext cx="239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 &amp; Mission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" y="2257425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Restoring trust in digital content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1250" y="1676400"/>
            <a:ext cx="5619750" cy="1085850"/>
          </a:xfrm>
          <a:custGeom>
            <a:avLst/>
            <a:gdLst/>
            <a:ahLst/>
            <a:cxnLst/>
            <a:rect l="l" t="t" r="r" b="b"/>
            <a:pathLst>
              <a:path w="5619750" h="1085850">
                <a:moveTo>
                  <a:pt x="38100" y="0"/>
                </a:moveTo>
                <a:lnTo>
                  <a:pt x="5543545" y="0"/>
                </a:lnTo>
                <a:cubicBezTo>
                  <a:pt x="5585632" y="0"/>
                  <a:pt x="5619750" y="34118"/>
                  <a:pt x="5619750" y="76205"/>
                </a:cubicBezTo>
                <a:lnTo>
                  <a:pt x="5619750" y="1009645"/>
                </a:lnTo>
                <a:cubicBezTo>
                  <a:pt x="5619750" y="1051732"/>
                  <a:pt x="5585632" y="1085850"/>
                  <a:pt x="5543545" y="1085850"/>
                </a:cubicBez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B5563">
              <a:alpha val="3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191250" y="167640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3810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1952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6535117" y="206692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118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6600" y="1952625"/>
            <a:ext cx="201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Value Propositions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86600" y="2257425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core differentiators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2914650"/>
            <a:ext cx="5619750" cy="1085850"/>
          </a:xfrm>
          <a:custGeom>
            <a:avLst/>
            <a:gdLst/>
            <a:ahLst/>
            <a:cxnLst/>
            <a:rect l="l" t="t" r="r" b="b"/>
            <a:pathLst>
              <a:path w="5619750" h="1085850">
                <a:moveTo>
                  <a:pt x="38100" y="0"/>
                </a:moveTo>
                <a:lnTo>
                  <a:pt x="5543545" y="0"/>
                </a:lnTo>
                <a:cubicBezTo>
                  <a:pt x="5585632" y="0"/>
                  <a:pt x="5619750" y="34118"/>
                  <a:pt x="5619750" y="76205"/>
                </a:cubicBezTo>
                <a:lnTo>
                  <a:pt x="5619750" y="1009645"/>
                </a:lnTo>
                <a:cubicBezTo>
                  <a:pt x="5619750" y="1051732"/>
                  <a:pt x="5585632" y="1085850"/>
                  <a:pt x="5543545" y="1085850"/>
                </a:cubicBez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B5563">
              <a:alpha val="3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291465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3810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31908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20" name="Text 18"/>
          <p:cNvSpPr/>
          <p:nvPr/>
        </p:nvSpPr>
        <p:spPr>
          <a:xfrm>
            <a:off x="740941" y="33051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118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95400" y="3190875"/>
            <a:ext cx="244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Stack: Frontend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5400" y="3495675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18 + TypeScript experience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1250" y="2914650"/>
            <a:ext cx="5619750" cy="1085850"/>
          </a:xfrm>
          <a:custGeom>
            <a:avLst/>
            <a:gdLst/>
            <a:ahLst/>
            <a:cxnLst/>
            <a:rect l="l" t="t" r="r" b="b"/>
            <a:pathLst>
              <a:path w="5619750" h="1085850">
                <a:moveTo>
                  <a:pt x="38100" y="0"/>
                </a:moveTo>
                <a:lnTo>
                  <a:pt x="5543545" y="0"/>
                </a:lnTo>
                <a:cubicBezTo>
                  <a:pt x="5585632" y="0"/>
                  <a:pt x="5619750" y="34118"/>
                  <a:pt x="5619750" y="76205"/>
                </a:cubicBezTo>
                <a:lnTo>
                  <a:pt x="5619750" y="1009645"/>
                </a:lnTo>
                <a:cubicBezTo>
                  <a:pt x="5619750" y="1051732"/>
                  <a:pt x="5585632" y="1085850"/>
                  <a:pt x="5543545" y="1085850"/>
                </a:cubicBez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B5563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191250" y="291465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3810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31908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26" name="Text 24"/>
          <p:cNvSpPr/>
          <p:nvPr/>
        </p:nvSpPr>
        <p:spPr>
          <a:xfrm>
            <a:off x="6535192" y="33051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118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3190875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Stack: Backend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86600" y="3495675"/>
            <a:ext cx="2390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 + PyTorch AI core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4152900"/>
            <a:ext cx="5619750" cy="1085850"/>
          </a:xfrm>
          <a:custGeom>
            <a:avLst/>
            <a:gdLst/>
            <a:ahLst/>
            <a:cxnLst/>
            <a:rect l="l" t="t" r="r" b="b"/>
            <a:pathLst>
              <a:path w="5619750" h="1085850">
                <a:moveTo>
                  <a:pt x="38100" y="0"/>
                </a:moveTo>
                <a:lnTo>
                  <a:pt x="5543545" y="0"/>
                </a:lnTo>
                <a:cubicBezTo>
                  <a:pt x="5585632" y="0"/>
                  <a:pt x="5619750" y="34118"/>
                  <a:pt x="5619750" y="76205"/>
                </a:cubicBezTo>
                <a:lnTo>
                  <a:pt x="5619750" y="1009645"/>
                </a:lnTo>
                <a:cubicBezTo>
                  <a:pt x="5619750" y="1051732"/>
                  <a:pt x="5585632" y="1085850"/>
                  <a:pt x="5543545" y="1085850"/>
                </a:cubicBez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B5563">
              <a:alpha val="3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" y="415290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3810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31" name="Shape 29"/>
          <p:cNvSpPr/>
          <p:nvPr/>
        </p:nvSpPr>
        <p:spPr>
          <a:xfrm>
            <a:off x="609600" y="44291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32" name="Text 30"/>
          <p:cNvSpPr/>
          <p:nvPr/>
        </p:nvSpPr>
        <p:spPr>
          <a:xfrm>
            <a:off x="740569" y="454342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118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95400" y="4429125"/>
            <a:ext cx="213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DevOps &amp; Infrastructure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95400" y="4733925"/>
            <a:ext cx="2114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 + Nginx engine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1250" y="4152900"/>
            <a:ext cx="5619750" cy="1085850"/>
          </a:xfrm>
          <a:custGeom>
            <a:avLst/>
            <a:gdLst/>
            <a:ahLst/>
            <a:cxnLst/>
            <a:rect l="l" t="t" r="r" b="b"/>
            <a:pathLst>
              <a:path w="5619750" h="1085850">
                <a:moveTo>
                  <a:pt x="38100" y="0"/>
                </a:moveTo>
                <a:lnTo>
                  <a:pt x="5543545" y="0"/>
                </a:lnTo>
                <a:cubicBezTo>
                  <a:pt x="5585632" y="0"/>
                  <a:pt x="5619750" y="34118"/>
                  <a:pt x="5619750" y="76205"/>
                </a:cubicBezTo>
                <a:lnTo>
                  <a:pt x="5619750" y="1009645"/>
                </a:lnTo>
                <a:cubicBezTo>
                  <a:pt x="5619750" y="1051732"/>
                  <a:pt x="5585632" y="1085850"/>
                  <a:pt x="5543545" y="1085850"/>
                </a:cubicBez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B5563">
              <a:alpha val="3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191250" y="415290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3810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0" y="44291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38" name="Text 36"/>
          <p:cNvSpPr/>
          <p:nvPr/>
        </p:nvSpPr>
        <p:spPr>
          <a:xfrm>
            <a:off x="6530280" y="454342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118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86600" y="4429125"/>
            <a:ext cx="1990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086600" y="4733925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workflow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00050" y="5391150"/>
            <a:ext cx="11410950" cy="1085850"/>
          </a:xfrm>
          <a:custGeom>
            <a:avLst/>
            <a:gdLst/>
            <a:ahLst/>
            <a:cxnLst/>
            <a:rect l="l" t="t" r="r" b="b"/>
            <a:pathLst>
              <a:path w="11410950" h="1085850">
                <a:moveTo>
                  <a:pt x="38100" y="0"/>
                </a:moveTo>
                <a:lnTo>
                  <a:pt x="11334745" y="0"/>
                </a:lnTo>
                <a:cubicBezTo>
                  <a:pt x="11376832" y="0"/>
                  <a:pt x="11410950" y="34118"/>
                  <a:pt x="11410950" y="76205"/>
                </a:cubicBezTo>
                <a:lnTo>
                  <a:pt x="11410950" y="1009645"/>
                </a:lnTo>
                <a:cubicBezTo>
                  <a:pt x="11410950" y="1051732"/>
                  <a:pt x="11376832" y="1085850"/>
                  <a:pt x="11334745" y="1085850"/>
                </a:cubicBez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B5563">
              <a:alpha val="3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00050" y="5391150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3810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43" name="Shape 41"/>
          <p:cNvSpPr/>
          <p:nvPr/>
        </p:nvSpPr>
        <p:spPr>
          <a:xfrm>
            <a:off x="609600" y="56673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44" name="Text 42"/>
          <p:cNvSpPr/>
          <p:nvPr/>
        </p:nvSpPr>
        <p:spPr>
          <a:xfrm>
            <a:off x="749871" y="578167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118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95400" y="5667375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Roadmap &amp; Expansion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95400" y="5972175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Browser extension, blockchain, and audio detection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240" kern="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7715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Restoring Trust in Digital Content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28725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95425"/>
            <a:ext cx="7524750" cy="1466850"/>
          </a:xfrm>
          <a:custGeom>
            <a:avLst/>
            <a:gdLst/>
            <a:ahLst/>
            <a:cxnLst/>
            <a:rect l="l" t="t" r="r" b="b"/>
            <a:pathLst>
              <a:path w="7524750" h="1466850">
                <a:moveTo>
                  <a:pt x="38100" y="0"/>
                </a:moveTo>
                <a:lnTo>
                  <a:pt x="7448547" y="0"/>
                </a:lnTo>
                <a:cubicBezTo>
                  <a:pt x="7490605" y="0"/>
                  <a:pt x="7524750" y="34145"/>
                  <a:pt x="7524750" y="76203"/>
                </a:cubicBezTo>
                <a:lnTo>
                  <a:pt x="7524750" y="1390647"/>
                </a:lnTo>
                <a:cubicBezTo>
                  <a:pt x="7524750" y="1432705"/>
                  <a:pt x="7490605" y="1466850"/>
                  <a:pt x="7448547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95425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6859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2950" y="18192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1685925"/>
            <a:ext cx="6610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Mission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2028825"/>
            <a:ext cx="65913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Satya is a state-of-the-art media authentication platform designed to combat the proliferation of deepfakes and AI-generated content. We provide users with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transparent, explainable insights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into digital media authenticity, moving beyond simple binary "fake/real" labels.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114675"/>
            <a:ext cx="7524750" cy="1466850"/>
          </a:xfrm>
          <a:custGeom>
            <a:avLst/>
            <a:gdLst/>
            <a:ahLst/>
            <a:cxnLst/>
            <a:rect l="l" t="t" r="r" b="b"/>
            <a:pathLst>
              <a:path w="7524750" h="1466850">
                <a:moveTo>
                  <a:pt x="38100" y="0"/>
                </a:moveTo>
                <a:lnTo>
                  <a:pt x="7448547" y="0"/>
                </a:lnTo>
                <a:cubicBezTo>
                  <a:pt x="7490605" y="0"/>
                  <a:pt x="7524750" y="34145"/>
                  <a:pt x="7524750" y="76203"/>
                </a:cubicBezTo>
                <a:lnTo>
                  <a:pt x="7524750" y="1390647"/>
                </a:lnTo>
                <a:cubicBezTo>
                  <a:pt x="7524750" y="1432705"/>
                  <a:pt x="7490605" y="1466850"/>
                  <a:pt x="7448547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3114675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600" y="3305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9CA3AF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950" y="3438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15" name="Text 13"/>
          <p:cNvSpPr/>
          <p:nvPr/>
        </p:nvSpPr>
        <p:spPr>
          <a:xfrm>
            <a:off x="1219200" y="3305175"/>
            <a:ext cx="6610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19200" y="3648075"/>
            <a:ext cx="65913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Deepfake technology has advanced exponentially, making it increasingly difficult to distinguish authentic content from sophisticated forgeries. Traditional detection methods provide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black box results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explanations, leaving users without understanding or trust in the process.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733925"/>
            <a:ext cx="7524750" cy="1714500"/>
          </a:xfrm>
          <a:custGeom>
            <a:avLst/>
            <a:gdLst/>
            <a:ahLst/>
            <a:cxnLst/>
            <a:rect l="l" t="t" r="r" b="b"/>
            <a:pathLst>
              <a:path w="7524750" h="1714500">
                <a:moveTo>
                  <a:pt x="38100" y="0"/>
                </a:moveTo>
                <a:lnTo>
                  <a:pt x="7448558" y="0"/>
                </a:lnTo>
                <a:cubicBezTo>
                  <a:pt x="7490638" y="0"/>
                  <a:pt x="7524750" y="34112"/>
                  <a:pt x="7524750" y="76192"/>
                </a:cubicBezTo>
                <a:lnTo>
                  <a:pt x="7524750" y="1638308"/>
                </a:lnTo>
                <a:cubicBezTo>
                  <a:pt x="7524750" y="1680388"/>
                  <a:pt x="7490638" y="1714500"/>
                  <a:pt x="7448558" y="1714500"/>
                </a:cubicBez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4733925"/>
            <a:ext cx="38100" cy="1714500"/>
          </a:xfrm>
          <a:custGeom>
            <a:avLst/>
            <a:gdLst/>
            <a:ahLst/>
            <a:cxnLst/>
            <a:rect l="l" t="t" r="r" b="b"/>
            <a:pathLst>
              <a:path w="38100" h="1714500">
                <a:moveTo>
                  <a:pt x="3810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4924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66763" y="50577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1219200" y="4924425"/>
            <a:ext cx="6610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Satya Solution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9200" y="5267325"/>
            <a:ext cx="65913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ensemble of deep learning models analyzes content across multiple dimensions—spatial, frequency, and semantic domains. Instead of just labeling content as fake, we provide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language explanations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like "Inconsistent lighting detected" or "GAN artifacts present in frequency domain."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58163" y="385763"/>
            <a:ext cx="3648075" cy="3724275"/>
          </a:xfrm>
          <a:custGeom>
            <a:avLst/>
            <a:gdLst/>
            <a:ahLst/>
            <a:cxnLst/>
            <a:rect l="l" t="t" r="r" b="b"/>
            <a:pathLst>
              <a:path w="3648075" h="3724275">
                <a:moveTo>
                  <a:pt x="114294" y="0"/>
                </a:moveTo>
                <a:lnTo>
                  <a:pt x="3533781" y="0"/>
                </a:lnTo>
                <a:cubicBezTo>
                  <a:pt x="3596904" y="0"/>
                  <a:pt x="3648075" y="51171"/>
                  <a:pt x="3648075" y="114294"/>
                </a:cubicBezTo>
                <a:lnTo>
                  <a:pt x="3648075" y="3609981"/>
                </a:lnTo>
                <a:cubicBezTo>
                  <a:pt x="3648075" y="3673104"/>
                  <a:pt x="3596904" y="3724275"/>
                  <a:pt x="3533781" y="3724275"/>
                </a:cubicBezTo>
                <a:lnTo>
                  <a:pt x="114294" y="3724275"/>
                </a:lnTo>
                <a:cubicBezTo>
                  <a:pt x="51171" y="3724275"/>
                  <a:pt x="0" y="3673104"/>
                  <a:pt x="0" y="3609981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4B5563">
              <a:alpha val="30196"/>
            </a:srgbClr>
          </a:solidFill>
          <a:ln w="12700">
            <a:solidFill>
              <a:srgbClr val="34D399">
                <a:alpha val="5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4375" y="619125"/>
            <a:ext cx="3295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4D3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Growing Threat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77225" y="1076325"/>
            <a:ext cx="3409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900%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53425" y="1571625"/>
            <a:ext cx="3257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 in deepfakes online since 2019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91525" y="1952625"/>
            <a:ext cx="3181350" cy="9525"/>
          </a:xfrm>
          <a:custGeom>
            <a:avLst/>
            <a:gdLst/>
            <a:ahLst/>
            <a:cxnLst/>
            <a:rect l="l" t="t" r="r" b="b"/>
            <a:pathLst>
              <a:path w="3181350" h="9525">
                <a:moveTo>
                  <a:pt x="0" y="0"/>
                </a:moveTo>
                <a:lnTo>
                  <a:pt x="3181350" y="0"/>
                </a:lnTo>
                <a:lnTo>
                  <a:pt x="3181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B5563"/>
          </a:solidFill>
          <a:ln/>
        </p:spPr>
      </p:sp>
      <p:sp>
        <p:nvSpPr>
          <p:cNvPr id="28" name="Text 26"/>
          <p:cNvSpPr/>
          <p:nvPr/>
        </p:nvSpPr>
        <p:spPr>
          <a:xfrm>
            <a:off x="8277225" y="2114550"/>
            <a:ext cx="3409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53425" y="2609850"/>
            <a:ext cx="3257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Deepfake videos created in 2023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91525" y="2990850"/>
            <a:ext cx="3181350" cy="9525"/>
          </a:xfrm>
          <a:custGeom>
            <a:avLst/>
            <a:gdLst/>
            <a:ahLst/>
            <a:cxnLst/>
            <a:rect l="l" t="t" r="r" b="b"/>
            <a:pathLst>
              <a:path w="3181350" h="9525">
                <a:moveTo>
                  <a:pt x="0" y="0"/>
                </a:moveTo>
                <a:lnTo>
                  <a:pt x="3181350" y="0"/>
                </a:lnTo>
                <a:lnTo>
                  <a:pt x="3181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B5563"/>
          </a:solidFill>
          <a:ln/>
        </p:spPr>
      </p:sp>
      <p:sp>
        <p:nvSpPr>
          <p:cNvPr id="31" name="Text 29"/>
          <p:cNvSpPr/>
          <p:nvPr/>
        </p:nvSpPr>
        <p:spPr>
          <a:xfrm>
            <a:off x="8277225" y="3152775"/>
            <a:ext cx="3409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$250M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53425" y="3648075"/>
            <a:ext cx="3257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Projected deepfake fraud losses by 2027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58163" y="5167313"/>
            <a:ext cx="3648075" cy="1304925"/>
          </a:xfrm>
          <a:custGeom>
            <a:avLst/>
            <a:gdLst/>
            <a:ahLst/>
            <a:cxnLst/>
            <a:rect l="l" t="t" r="r" b="b"/>
            <a:pathLst>
              <a:path w="3648075" h="1304925">
                <a:moveTo>
                  <a:pt x="76195" y="0"/>
                </a:moveTo>
                <a:lnTo>
                  <a:pt x="3571880" y="0"/>
                </a:lnTo>
                <a:cubicBezTo>
                  <a:pt x="3613933" y="0"/>
                  <a:pt x="3648075" y="34142"/>
                  <a:pt x="3648075" y="76195"/>
                </a:cubicBezTo>
                <a:lnTo>
                  <a:pt x="3648075" y="1228730"/>
                </a:lnTo>
                <a:cubicBezTo>
                  <a:pt x="3648075" y="1270783"/>
                  <a:pt x="3613933" y="1304925"/>
                  <a:pt x="3571880" y="1304925"/>
                </a:cubicBezTo>
                <a:lnTo>
                  <a:pt x="76195" y="1304925"/>
                </a:lnTo>
                <a:cubicBezTo>
                  <a:pt x="34142" y="1304925"/>
                  <a:pt x="0" y="1270783"/>
                  <a:pt x="0" y="122873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34D399">
              <a:alpha val="10196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08181" y="53625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80367"/>
                </a:moveTo>
                <a:cubicBezTo>
                  <a:pt x="0" y="55699"/>
                  <a:pt x="19980" y="35719"/>
                  <a:pt x="44648" y="35719"/>
                </a:cubicBezTo>
                <a:lnTo>
                  <a:pt x="47625" y="35719"/>
                </a:lnTo>
                <a:cubicBezTo>
                  <a:pt x="54211" y="35719"/>
                  <a:pt x="59531" y="41039"/>
                  <a:pt x="59531" y="47625"/>
                </a:cubicBezTo>
                <a:cubicBezTo>
                  <a:pt x="59531" y="54211"/>
                  <a:pt x="54211" y="59531"/>
                  <a:pt x="47625" y="59531"/>
                </a:cubicBezTo>
                <a:lnTo>
                  <a:pt x="44648" y="59531"/>
                </a:lnTo>
                <a:cubicBezTo>
                  <a:pt x="33151" y="59531"/>
                  <a:pt x="23812" y="68870"/>
                  <a:pt x="23812" y="80367"/>
                </a:cubicBezTo>
                <a:lnTo>
                  <a:pt x="23812" y="83344"/>
                </a:lnTo>
                <a:lnTo>
                  <a:pt x="47625" y="83344"/>
                </a:lnTo>
                <a:cubicBezTo>
                  <a:pt x="60759" y="83344"/>
                  <a:pt x="71438" y="94022"/>
                  <a:pt x="71438" y="107156"/>
                </a:cubicBezTo>
                <a:lnTo>
                  <a:pt x="71438" y="130969"/>
                </a:lnTo>
                <a:cubicBezTo>
                  <a:pt x="71438" y="144103"/>
                  <a:pt x="60759" y="154781"/>
                  <a:pt x="47625" y="154781"/>
                </a:cubicBezTo>
                <a:lnTo>
                  <a:pt x="23812" y="154781"/>
                </a:lnTo>
                <a:cubicBezTo>
                  <a:pt x="10678" y="154781"/>
                  <a:pt x="0" y="144103"/>
                  <a:pt x="0" y="130969"/>
                </a:cubicBezTo>
                <a:lnTo>
                  <a:pt x="0" y="80367"/>
                </a:lnTo>
                <a:close/>
                <a:moveTo>
                  <a:pt x="95250" y="80367"/>
                </a:moveTo>
                <a:cubicBezTo>
                  <a:pt x="95250" y="55699"/>
                  <a:pt x="115230" y="35719"/>
                  <a:pt x="139898" y="35719"/>
                </a:cubicBezTo>
                <a:lnTo>
                  <a:pt x="142875" y="35719"/>
                </a:lnTo>
                <a:cubicBezTo>
                  <a:pt x="149461" y="35719"/>
                  <a:pt x="154781" y="41039"/>
                  <a:pt x="154781" y="47625"/>
                </a:cubicBezTo>
                <a:cubicBezTo>
                  <a:pt x="154781" y="54211"/>
                  <a:pt x="149461" y="59531"/>
                  <a:pt x="142875" y="59531"/>
                </a:cubicBezTo>
                <a:lnTo>
                  <a:pt x="139898" y="59531"/>
                </a:lnTo>
                <a:cubicBezTo>
                  <a:pt x="128401" y="59531"/>
                  <a:pt x="119063" y="68870"/>
                  <a:pt x="119063" y="80367"/>
                </a:cubicBezTo>
                <a:lnTo>
                  <a:pt x="119063" y="83344"/>
                </a:lnTo>
                <a:lnTo>
                  <a:pt x="142875" y="83344"/>
                </a:lnTo>
                <a:cubicBezTo>
                  <a:pt x="156009" y="83344"/>
                  <a:pt x="166688" y="94022"/>
                  <a:pt x="166688" y="107156"/>
                </a:cubicBezTo>
                <a:lnTo>
                  <a:pt x="166688" y="130969"/>
                </a:lnTo>
                <a:cubicBezTo>
                  <a:pt x="166688" y="144103"/>
                  <a:pt x="156009" y="154781"/>
                  <a:pt x="142875" y="154781"/>
                </a:cubicBezTo>
                <a:lnTo>
                  <a:pt x="119063" y="154781"/>
                </a:lnTo>
                <a:cubicBezTo>
                  <a:pt x="105928" y="154781"/>
                  <a:pt x="95250" y="144103"/>
                  <a:pt x="95250" y="130969"/>
                </a:cubicBezTo>
                <a:lnTo>
                  <a:pt x="95250" y="80367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5" name="Text 33"/>
          <p:cNvSpPr/>
          <p:nvPr/>
        </p:nvSpPr>
        <p:spPr>
          <a:xfrm>
            <a:off x="8577858" y="5324475"/>
            <a:ext cx="31432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"In an era where seeing is no longer believing, Satya provides the transparency and verification needed to restore trust in digital media."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391" y="353391"/>
            <a:ext cx="11555896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spc="167" kern="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VALUE PROPOSITIONS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3391" y="636104"/>
            <a:ext cx="11644243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4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 Core Differentiators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3391" y="1095513"/>
            <a:ext cx="706783" cy="35339"/>
          </a:xfrm>
          <a:custGeom>
            <a:avLst/>
            <a:gdLst/>
            <a:ahLst/>
            <a:cxnLst/>
            <a:rect l="l" t="t" r="r" b="b"/>
            <a:pathLst>
              <a:path w="706783" h="35339">
                <a:moveTo>
                  <a:pt x="0" y="0"/>
                </a:moveTo>
                <a:lnTo>
                  <a:pt x="706783" y="0"/>
                </a:lnTo>
                <a:lnTo>
                  <a:pt x="706783" y="35339"/>
                </a:lnTo>
                <a:lnTo>
                  <a:pt x="0" y="35339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5" name="Shape 3"/>
          <p:cNvSpPr/>
          <p:nvPr/>
        </p:nvSpPr>
        <p:spPr>
          <a:xfrm>
            <a:off x="362226" y="1281043"/>
            <a:ext cx="5654261" cy="2791791"/>
          </a:xfrm>
          <a:custGeom>
            <a:avLst/>
            <a:gdLst/>
            <a:ahLst/>
            <a:cxnLst/>
            <a:rect l="l" t="t" r="r" b="b"/>
            <a:pathLst>
              <a:path w="5654261" h="2791791">
                <a:moveTo>
                  <a:pt x="70688" y="0"/>
                </a:moveTo>
                <a:lnTo>
                  <a:pt x="5583573" y="0"/>
                </a:lnTo>
                <a:cubicBezTo>
                  <a:pt x="5622613" y="0"/>
                  <a:pt x="5654261" y="31648"/>
                  <a:pt x="5654261" y="70688"/>
                </a:cubicBezTo>
                <a:lnTo>
                  <a:pt x="5654261" y="2721103"/>
                </a:lnTo>
                <a:cubicBezTo>
                  <a:pt x="5654261" y="2760143"/>
                  <a:pt x="5622613" y="2791791"/>
                  <a:pt x="5583573" y="2791791"/>
                </a:cubicBezTo>
                <a:lnTo>
                  <a:pt x="70688" y="2791791"/>
                </a:lnTo>
                <a:cubicBezTo>
                  <a:pt x="31648" y="2791791"/>
                  <a:pt x="0" y="2760143"/>
                  <a:pt x="0" y="2721103"/>
                </a:cubicBezTo>
                <a:lnTo>
                  <a:pt x="0" y="70688"/>
                </a:lnTo>
                <a:cubicBezTo>
                  <a:pt x="0" y="31648"/>
                  <a:pt x="31648" y="0"/>
                  <a:pt x="70688" y="0"/>
                </a:cubicBezTo>
                <a:close/>
              </a:path>
            </a:pathLst>
          </a:custGeom>
          <a:gradFill rotWithShape="1" flip="none">
            <a:gsLst>
              <a:gs pos="0">
                <a:srgbClr val="34D399">
                  <a:alpha val="20000"/>
                </a:srgbClr>
              </a:gs>
              <a:gs pos="100000">
                <a:srgbClr val="4B5563">
                  <a:alpha val="20000"/>
                </a:srgbClr>
              </a:gs>
            </a:gsLst>
            <a:lin ang="2700000" scaled="1"/>
          </a:gradFill>
          <a:ln w="25400">
            <a:solidFill>
              <a:srgbClr val="34D3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7757" y="1466574"/>
            <a:ext cx="494748" cy="494748"/>
          </a:xfrm>
          <a:custGeom>
            <a:avLst/>
            <a:gdLst/>
            <a:ahLst/>
            <a:cxnLst/>
            <a:rect l="l" t="t" r="r" b="b"/>
            <a:pathLst>
              <a:path w="494748" h="494748">
                <a:moveTo>
                  <a:pt x="247374" y="0"/>
                </a:moveTo>
                <a:lnTo>
                  <a:pt x="247374" y="0"/>
                </a:lnTo>
                <a:cubicBezTo>
                  <a:pt x="383903" y="0"/>
                  <a:pt x="494748" y="110845"/>
                  <a:pt x="494748" y="247374"/>
                </a:cubicBezTo>
                <a:lnTo>
                  <a:pt x="494748" y="247374"/>
                </a:lnTo>
                <a:cubicBezTo>
                  <a:pt x="494748" y="383903"/>
                  <a:pt x="383903" y="494748"/>
                  <a:pt x="247374" y="494748"/>
                </a:cubicBezTo>
                <a:lnTo>
                  <a:pt x="247374" y="494748"/>
                </a:lnTo>
                <a:cubicBezTo>
                  <a:pt x="110845" y="494748"/>
                  <a:pt x="0" y="383903"/>
                  <a:pt x="0" y="247374"/>
                </a:cubicBezTo>
                <a:lnTo>
                  <a:pt x="0" y="247374"/>
                </a:lnTo>
                <a:cubicBezTo>
                  <a:pt x="0" y="110845"/>
                  <a:pt x="110845" y="0"/>
                  <a:pt x="247374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7" name="Shape 5"/>
          <p:cNvSpPr/>
          <p:nvPr/>
        </p:nvSpPr>
        <p:spPr>
          <a:xfrm>
            <a:off x="675861" y="1607930"/>
            <a:ext cx="238539" cy="212035"/>
          </a:xfrm>
          <a:custGeom>
            <a:avLst/>
            <a:gdLst/>
            <a:ahLst/>
            <a:cxnLst/>
            <a:rect l="l" t="t" r="r" b="b"/>
            <a:pathLst>
              <a:path w="238539" h="212035">
                <a:moveTo>
                  <a:pt x="39757" y="39757"/>
                </a:moveTo>
                <a:cubicBezTo>
                  <a:pt x="39757" y="25138"/>
                  <a:pt x="51642" y="13252"/>
                  <a:pt x="66261" y="13252"/>
                </a:cubicBezTo>
                <a:lnTo>
                  <a:pt x="198783" y="13252"/>
                </a:lnTo>
                <a:cubicBezTo>
                  <a:pt x="213401" y="13252"/>
                  <a:pt x="225287" y="25138"/>
                  <a:pt x="225287" y="39757"/>
                </a:cubicBezTo>
                <a:lnTo>
                  <a:pt x="225287" y="145774"/>
                </a:lnTo>
                <a:cubicBezTo>
                  <a:pt x="225287" y="160393"/>
                  <a:pt x="213401" y="172278"/>
                  <a:pt x="198783" y="172278"/>
                </a:cubicBezTo>
                <a:lnTo>
                  <a:pt x="66261" y="172278"/>
                </a:lnTo>
                <a:cubicBezTo>
                  <a:pt x="51642" y="172278"/>
                  <a:pt x="39757" y="160393"/>
                  <a:pt x="39757" y="145774"/>
                </a:cubicBezTo>
                <a:lnTo>
                  <a:pt x="39757" y="39757"/>
                </a:lnTo>
                <a:close/>
                <a:moveTo>
                  <a:pt x="9939" y="53009"/>
                </a:moveTo>
                <a:cubicBezTo>
                  <a:pt x="15447" y="53009"/>
                  <a:pt x="19878" y="57440"/>
                  <a:pt x="19878" y="62948"/>
                </a:cubicBezTo>
                <a:lnTo>
                  <a:pt x="19878" y="185530"/>
                </a:lnTo>
                <a:cubicBezTo>
                  <a:pt x="19878" y="189175"/>
                  <a:pt x="22860" y="192157"/>
                  <a:pt x="26504" y="192157"/>
                </a:cubicBezTo>
                <a:lnTo>
                  <a:pt x="175591" y="192157"/>
                </a:lnTo>
                <a:cubicBezTo>
                  <a:pt x="181099" y="192157"/>
                  <a:pt x="185530" y="196588"/>
                  <a:pt x="185530" y="202096"/>
                </a:cubicBezTo>
                <a:cubicBezTo>
                  <a:pt x="185530" y="207604"/>
                  <a:pt x="181099" y="212035"/>
                  <a:pt x="175591" y="212035"/>
                </a:cubicBezTo>
                <a:lnTo>
                  <a:pt x="26504" y="212035"/>
                </a:lnTo>
                <a:cubicBezTo>
                  <a:pt x="11886" y="212035"/>
                  <a:pt x="0" y="200149"/>
                  <a:pt x="0" y="185530"/>
                </a:cubicBezTo>
                <a:lnTo>
                  <a:pt x="0" y="62948"/>
                </a:lnTo>
                <a:cubicBezTo>
                  <a:pt x="0" y="57440"/>
                  <a:pt x="4431" y="53009"/>
                  <a:pt x="9939" y="53009"/>
                </a:cubicBezTo>
                <a:close/>
                <a:moveTo>
                  <a:pt x="79513" y="66261"/>
                </a:moveTo>
                <a:cubicBezTo>
                  <a:pt x="86827" y="66261"/>
                  <a:pt x="92765" y="60323"/>
                  <a:pt x="92765" y="53009"/>
                </a:cubicBezTo>
                <a:cubicBezTo>
                  <a:pt x="92765" y="45695"/>
                  <a:pt x="86827" y="39757"/>
                  <a:pt x="79513" y="39757"/>
                </a:cubicBezTo>
                <a:cubicBezTo>
                  <a:pt x="72199" y="39757"/>
                  <a:pt x="66261" y="45695"/>
                  <a:pt x="66261" y="53009"/>
                </a:cubicBezTo>
                <a:cubicBezTo>
                  <a:pt x="66261" y="60323"/>
                  <a:pt x="72199" y="66261"/>
                  <a:pt x="79513" y="66261"/>
                </a:cubicBezTo>
                <a:close/>
                <a:moveTo>
                  <a:pt x="160890" y="71023"/>
                </a:moveTo>
                <a:cubicBezTo>
                  <a:pt x="159068" y="68083"/>
                  <a:pt x="155879" y="66261"/>
                  <a:pt x="152400" y="66261"/>
                </a:cubicBezTo>
                <a:cubicBezTo>
                  <a:pt x="148921" y="66261"/>
                  <a:pt x="145732" y="68083"/>
                  <a:pt x="143910" y="71023"/>
                </a:cubicBezTo>
                <a:lnTo>
                  <a:pt x="120595" y="109165"/>
                </a:lnTo>
                <a:lnTo>
                  <a:pt x="110449" y="96492"/>
                </a:lnTo>
                <a:cubicBezTo>
                  <a:pt x="108544" y="94132"/>
                  <a:pt x="105727" y="92765"/>
                  <a:pt x="102704" y="92765"/>
                </a:cubicBezTo>
                <a:cubicBezTo>
                  <a:pt x="99681" y="92765"/>
                  <a:pt x="96824" y="94132"/>
                  <a:pt x="94960" y="96492"/>
                </a:cubicBezTo>
                <a:lnTo>
                  <a:pt x="68456" y="129623"/>
                </a:lnTo>
                <a:cubicBezTo>
                  <a:pt x="66054" y="132605"/>
                  <a:pt x="65598" y="136704"/>
                  <a:pt x="67255" y="140142"/>
                </a:cubicBezTo>
                <a:cubicBezTo>
                  <a:pt x="68911" y="143579"/>
                  <a:pt x="72390" y="145774"/>
                  <a:pt x="76200" y="145774"/>
                </a:cubicBezTo>
                <a:lnTo>
                  <a:pt x="188843" y="145774"/>
                </a:lnTo>
                <a:cubicBezTo>
                  <a:pt x="192446" y="145774"/>
                  <a:pt x="195759" y="143828"/>
                  <a:pt x="197499" y="140680"/>
                </a:cubicBezTo>
                <a:cubicBezTo>
                  <a:pt x="199238" y="137533"/>
                  <a:pt x="199197" y="133723"/>
                  <a:pt x="197292" y="130617"/>
                </a:cubicBezTo>
                <a:lnTo>
                  <a:pt x="160848" y="70982"/>
                </a:ln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8" name="Text 6"/>
          <p:cNvSpPr/>
          <p:nvPr/>
        </p:nvSpPr>
        <p:spPr>
          <a:xfrm>
            <a:off x="1183861" y="1466574"/>
            <a:ext cx="2217530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Multi-Modal Detection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3861" y="1749287"/>
            <a:ext cx="2182191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Images + Videos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7757" y="2067339"/>
            <a:ext cx="5353878" cy="459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3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analysis across media types, detecting AI-generated content with high accuracy.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6591" y="2899327"/>
            <a:ext cx="5274365" cy="459409"/>
          </a:xfrm>
          <a:custGeom>
            <a:avLst/>
            <a:gdLst/>
            <a:ahLst/>
            <a:cxnLst/>
            <a:rect l="l" t="t" r="r" b="b"/>
            <a:pathLst>
              <a:path w="5274365" h="459409">
                <a:moveTo>
                  <a:pt x="17670" y="0"/>
                </a:moveTo>
                <a:lnTo>
                  <a:pt x="5239028" y="0"/>
                </a:lnTo>
                <a:cubicBezTo>
                  <a:pt x="5258544" y="0"/>
                  <a:pt x="5274365" y="15821"/>
                  <a:pt x="5274365" y="35338"/>
                </a:cubicBezTo>
                <a:lnTo>
                  <a:pt x="5274365" y="424071"/>
                </a:lnTo>
                <a:cubicBezTo>
                  <a:pt x="5274365" y="443587"/>
                  <a:pt x="5258544" y="459409"/>
                  <a:pt x="5239028" y="459409"/>
                </a:cubicBezTo>
                <a:lnTo>
                  <a:pt x="17670" y="459409"/>
                </a:lnTo>
                <a:cubicBezTo>
                  <a:pt x="7911" y="459409"/>
                  <a:pt x="0" y="451498"/>
                  <a:pt x="0" y="441739"/>
                </a:cubicBezTo>
                <a:lnTo>
                  <a:pt x="0" y="17670"/>
                </a:lnTo>
                <a:cubicBezTo>
                  <a:pt x="0" y="7911"/>
                  <a:pt x="7911" y="0"/>
                  <a:pt x="17670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56591" y="2899327"/>
            <a:ext cx="17670" cy="459409"/>
          </a:xfrm>
          <a:custGeom>
            <a:avLst/>
            <a:gdLst/>
            <a:ahLst/>
            <a:cxnLst/>
            <a:rect l="l" t="t" r="r" b="b"/>
            <a:pathLst>
              <a:path w="17670" h="459409">
                <a:moveTo>
                  <a:pt x="17670" y="0"/>
                </a:moveTo>
                <a:lnTo>
                  <a:pt x="17670" y="0"/>
                </a:lnTo>
                <a:lnTo>
                  <a:pt x="17670" y="459409"/>
                </a:lnTo>
                <a:lnTo>
                  <a:pt x="17670" y="459409"/>
                </a:lnTo>
                <a:cubicBezTo>
                  <a:pt x="7911" y="459409"/>
                  <a:pt x="0" y="451498"/>
                  <a:pt x="0" y="441739"/>
                </a:cubicBezTo>
                <a:lnTo>
                  <a:pt x="0" y="17670"/>
                </a:lnTo>
                <a:cubicBezTo>
                  <a:pt x="0" y="7917"/>
                  <a:pt x="7917" y="0"/>
                  <a:pt x="1767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671443" y="2934666"/>
            <a:ext cx="5221357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Analysis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1443" y="3111362"/>
            <a:ext cx="5230191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Noise patterns, frequency artifacts, GAN detection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6591" y="3429414"/>
            <a:ext cx="5274365" cy="459409"/>
          </a:xfrm>
          <a:custGeom>
            <a:avLst/>
            <a:gdLst/>
            <a:ahLst/>
            <a:cxnLst/>
            <a:rect l="l" t="t" r="r" b="b"/>
            <a:pathLst>
              <a:path w="5274365" h="459409">
                <a:moveTo>
                  <a:pt x="17670" y="0"/>
                </a:moveTo>
                <a:lnTo>
                  <a:pt x="5239028" y="0"/>
                </a:lnTo>
                <a:cubicBezTo>
                  <a:pt x="5258544" y="0"/>
                  <a:pt x="5274365" y="15821"/>
                  <a:pt x="5274365" y="35338"/>
                </a:cubicBezTo>
                <a:lnTo>
                  <a:pt x="5274365" y="424071"/>
                </a:lnTo>
                <a:cubicBezTo>
                  <a:pt x="5274365" y="443587"/>
                  <a:pt x="5258544" y="459409"/>
                  <a:pt x="5239028" y="459409"/>
                </a:cubicBezTo>
                <a:lnTo>
                  <a:pt x="17670" y="459409"/>
                </a:lnTo>
                <a:cubicBezTo>
                  <a:pt x="7911" y="459409"/>
                  <a:pt x="0" y="451498"/>
                  <a:pt x="0" y="441739"/>
                </a:cubicBezTo>
                <a:lnTo>
                  <a:pt x="0" y="17670"/>
                </a:lnTo>
                <a:cubicBezTo>
                  <a:pt x="0" y="7911"/>
                  <a:pt x="7911" y="0"/>
                  <a:pt x="17670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56591" y="3429414"/>
            <a:ext cx="17670" cy="459409"/>
          </a:xfrm>
          <a:custGeom>
            <a:avLst/>
            <a:gdLst/>
            <a:ahLst/>
            <a:cxnLst/>
            <a:rect l="l" t="t" r="r" b="b"/>
            <a:pathLst>
              <a:path w="17670" h="459409">
                <a:moveTo>
                  <a:pt x="17670" y="0"/>
                </a:moveTo>
                <a:lnTo>
                  <a:pt x="17670" y="0"/>
                </a:lnTo>
                <a:lnTo>
                  <a:pt x="17670" y="459409"/>
                </a:lnTo>
                <a:lnTo>
                  <a:pt x="17670" y="459409"/>
                </a:lnTo>
                <a:cubicBezTo>
                  <a:pt x="7911" y="459409"/>
                  <a:pt x="0" y="451498"/>
                  <a:pt x="0" y="441739"/>
                </a:cubicBezTo>
                <a:lnTo>
                  <a:pt x="0" y="17670"/>
                </a:lnTo>
                <a:cubicBezTo>
                  <a:pt x="0" y="7917"/>
                  <a:pt x="7917" y="0"/>
                  <a:pt x="1767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671443" y="3464753"/>
            <a:ext cx="5221357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Analysis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1443" y="3641449"/>
            <a:ext cx="5230191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inconsistencies, frame-by-frame analysis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3511" y="1281043"/>
            <a:ext cx="5654261" cy="2791791"/>
          </a:xfrm>
          <a:custGeom>
            <a:avLst/>
            <a:gdLst/>
            <a:ahLst/>
            <a:cxnLst/>
            <a:rect l="l" t="t" r="r" b="b"/>
            <a:pathLst>
              <a:path w="5654261" h="2791791">
                <a:moveTo>
                  <a:pt x="70688" y="0"/>
                </a:moveTo>
                <a:lnTo>
                  <a:pt x="5583573" y="0"/>
                </a:lnTo>
                <a:cubicBezTo>
                  <a:pt x="5622613" y="0"/>
                  <a:pt x="5654261" y="31648"/>
                  <a:pt x="5654261" y="70688"/>
                </a:cubicBezTo>
                <a:lnTo>
                  <a:pt x="5654261" y="2721103"/>
                </a:lnTo>
                <a:cubicBezTo>
                  <a:pt x="5654261" y="2760143"/>
                  <a:pt x="5622613" y="2791791"/>
                  <a:pt x="5583573" y="2791791"/>
                </a:cubicBezTo>
                <a:lnTo>
                  <a:pt x="70688" y="2791791"/>
                </a:lnTo>
                <a:cubicBezTo>
                  <a:pt x="31648" y="2791791"/>
                  <a:pt x="0" y="2760143"/>
                  <a:pt x="0" y="2721103"/>
                </a:cubicBezTo>
                <a:lnTo>
                  <a:pt x="0" y="70688"/>
                </a:lnTo>
                <a:cubicBezTo>
                  <a:pt x="0" y="31648"/>
                  <a:pt x="31648" y="0"/>
                  <a:pt x="70688" y="0"/>
                </a:cubicBezTo>
                <a:close/>
              </a:path>
            </a:pathLst>
          </a:custGeom>
          <a:gradFill rotWithShape="1" flip="none">
            <a:gsLst>
              <a:gs pos="0">
                <a:srgbClr val="34D399">
                  <a:alpha val="20000"/>
                </a:srgbClr>
              </a:gs>
              <a:gs pos="100000">
                <a:srgbClr val="4B5563">
                  <a:alpha val="20000"/>
                </a:srgbClr>
              </a:gs>
            </a:gsLst>
            <a:lin ang="2700000" scaled="1"/>
          </a:gradFill>
          <a:ln w="25400">
            <a:solidFill>
              <a:srgbClr val="34D3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9042" y="1466574"/>
            <a:ext cx="494748" cy="494748"/>
          </a:xfrm>
          <a:custGeom>
            <a:avLst/>
            <a:gdLst/>
            <a:ahLst/>
            <a:cxnLst/>
            <a:rect l="l" t="t" r="r" b="b"/>
            <a:pathLst>
              <a:path w="494748" h="494748">
                <a:moveTo>
                  <a:pt x="247374" y="0"/>
                </a:moveTo>
                <a:lnTo>
                  <a:pt x="247374" y="0"/>
                </a:lnTo>
                <a:cubicBezTo>
                  <a:pt x="383903" y="0"/>
                  <a:pt x="494748" y="110845"/>
                  <a:pt x="494748" y="247374"/>
                </a:cubicBezTo>
                <a:lnTo>
                  <a:pt x="494748" y="247374"/>
                </a:lnTo>
                <a:cubicBezTo>
                  <a:pt x="494748" y="383903"/>
                  <a:pt x="383903" y="494748"/>
                  <a:pt x="247374" y="494748"/>
                </a:cubicBezTo>
                <a:lnTo>
                  <a:pt x="247374" y="494748"/>
                </a:lnTo>
                <a:cubicBezTo>
                  <a:pt x="110845" y="494748"/>
                  <a:pt x="0" y="383903"/>
                  <a:pt x="0" y="247374"/>
                </a:cubicBezTo>
                <a:lnTo>
                  <a:pt x="0" y="247374"/>
                </a:lnTo>
                <a:cubicBezTo>
                  <a:pt x="0" y="110845"/>
                  <a:pt x="110845" y="0"/>
                  <a:pt x="247374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21" name="Shape 19"/>
          <p:cNvSpPr/>
          <p:nvPr/>
        </p:nvSpPr>
        <p:spPr>
          <a:xfrm>
            <a:off x="6487146" y="1607930"/>
            <a:ext cx="238539" cy="212035"/>
          </a:xfrm>
          <a:custGeom>
            <a:avLst/>
            <a:gdLst/>
            <a:ahLst/>
            <a:cxnLst/>
            <a:rect l="l" t="t" r="r" b="b"/>
            <a:pathLst>
              <a:path w="238539" h="212035">
                <a:moveTo>
                  <a:pt x="99060" y="-3313"/>
                </a:moveTo>
                <a:cubicBezTo>
                  <a:pt x="96534" y="-5881"/>
                  <a:pt x="92848" y="-6916"/>
                  <a:pt x="89369" y="-5963"/>
                </a:cubicBezTo>
                <a:cubicBezTo>
                  <a:pt x="85891" y="-5011"/>
                  <a:pt x="83199" y="-2319"/>
                  <a:pt x="82329" y="1160"/>
                </a:cubicBezTo>
                <a:lnTo>
                  <a:pt x="75993" y="26090"/>
                </a:lnTo>
                <a:cubicBezTo>
                  <a:pt x="75537" y="27912"/>
                  <a:pt x="73674" y="28989"/>
                  <a:pt x="71893" y="28451"/>
                </a:cubicBezTo>
                <a:lnTo>
                  <a:pt x="47128" y="21493"/>
                </a:lnTo>
                <a:cubicBezTo>
                  <a:pt x="43649" y="20499"/>
                  <a:pt x="39922" y="21493"/>
                  <a:pt x="37396" y="24020"/>
                </a:cubicBezTo>
                <a:cubicBezTo>
                  <a:pt x="34870" y="26546"/>
                  <a:pt x="33876" y="30273"/>
                  <a:pt x="34870" y="33752"/>
                </a:cubicBezTo>
                <a:lnTo>
                  <a:pt x="41869" y="58517"/>
                </a:lnTo>
                <a:cubicBezTo>
                  <a:pt x="42366" y="60297"/>
                  <a:pt x="41289" y="62161"/>
                  <a:pt x="39508" y="62617"/>
                </a:cubicBezTo>
                <a:lnTo>
                  <a:pt x="14536" y="68953"/>
                </a:lnTo>
                <a:cubicBezTo>
                  <a:pt x="11057" y="69822"/>
                  <a:pt x="8324" y="72556"/>
                  <a:pt x="7372" y="76034"/>
                </a:cubicBezTo>
                <a:cubicBezTo>
                  <a:pt x="6419" y="79513"/>
                  <a:pt x="7454" y="83199"/>
                  <a:pt x="10022" y="85725"/>
                </a:cubicBezTo>
                <a:lnTo>
                  <a:pt x="28451" y="103657"/>
                </a:lnTo>
                <a:cubicBezTo>
                  <a:pt x="29776" y="104941"/>
                  <a:pt x="29776" y="107094"/>
                  <a:pt x="28451" y="108419"/>
                </a:cubicBezTo>
                <a:lnTo>
                  <a:pt x="10063" y="126351"/>
                </a:lnTo>
                <a:cubicBezTo>
                  <a:pt x="7496" y="128877"/>
                  <a:pt x="6460" y="132563"/>
                  <a:pt x="7413" y="136042"/>
                </a:cubicBezTo>
                <a:cubicBezTo>
                  <a:pt x="8365" y="139521"/>
                  <a:pt x="11099" y="142212"/>
                  <a:pt x="14577" y="143123"/>
                </a:cubicBezTo>
                <a:lnTo>
                  <a:pt x="39508" y="149460"/>
                </a:lnTo>
                <a:cubicBezTo>
                  <a:pt x="41330" y="149915"/>
                  <a:pt x="42407" y="151779"/>
                  <a:pt x="41869" y="153560"/>
                </a:cubicBezTo>
                <a:lnTo>
                  <a:pt x="34870" y="178283"/>
                </a:lnTo>
                <a:cubicBezTo>
                  <a:pt x="33876" y="181762"/>
                  <a:pt x="34870" y="185489"/>
                  <a:pt x="37396" y="188015"/>
                </a:cubicBezTo>
                <a:cubicBezTo>
                  <a:pt x="39922" y="190541"/>
                  <a:pt x="43649" y="191535"/>
                  <a:pt x="47128" y="190541"/>
                </a:cubicBezTo>
                <a:lnTo>
                  <a:pt x="71893" y="183543"/>
                </a:lnTo>
                <a:cubicBezTo>
                  <a:pt x="73674" y="183046"/>
                  <a:pt x="75537" y="184122"/>
                  <a:pt x="75993" y="185903"/>
                </a:cubicBezTo>
                <a:lnTo>
                  <a:pt x="82329" y="210834"/>
                </a:lnTo>
                <a:cubicBezTo>
                  <a:pt x="83199" y="214313"/>
                  <a:pt x="85932" y="217046"/>
                  <a:pt x="89411" y="217998"/>
                </a:cubicBezTo>
                <a:cubicBezTo>
                  <a:pt x="92889" y="218951"/>
                  <a:pt x="96575" y="217915"/>
                  <a:pt x="99101" y="215348"/>
                </a:cubicBezTo>
                <a:lnTo>
                  <a:pt x="117033" y="196919"/>
                </a:lnTo>
                <a:cubicBezTo>
                  <a:pt x="118317" y="195594"/>
                  <a:pt x="120471" y="195594"/>
                  <a:pt x="121796" y="196919"/>
                </a:cubicBezTo>
                <a:lnTo>
                  <a:pt x="139686" y="215348"/>
                </a:lnTo>
                <a:cubicBezTo>
                  <a:pt x="142212" y="217915"/>
                  <a:pt x="145898" y="218951"/>
                  <a:pt x="149377" y="217998"/>
                </a:cubicBezTo>
                <a:cubicBezTo>
                  <a:pt x="152856" y="217046"/>
                  <a:pt x="155547" y="214313"/>
                  <a:pt x="156458" y="210834"/>
                </a:cubicBezTo>
                <a:lnTo>
                  <a:pt x="162795" y="185945"/>
                </a:lnTo>
                <a:cubicBezTo>
                  <a:pt x="163250" y="184122"/>
                  <a:pt x="165114" y="183046"/>
                  <a:pt x="166895" y="183584"/>
                </a:cubicBezTo>
                <a:lnTo>
                  <a:pt x="191660" y="190583"/>
                </a:lnTo>
                <a:cubicBezTo>
                  <a:pt x="195138" y="191577"/>
                  <a:pt x="198865" y="190583"/>
                  <a:pt x="201392" y="188057"/>
                </a:cubicBezTo>
                <a:cubicBezTo>
                  <a:pt x="203918" y="185530"/>
                  <a:pt x="204912" y="181803"/>
                  <a:pt x="203918" y="178325"/>
                </a:cubicBezTo>
                <a:lnTo>
                  <a:pt x="196919" y="153560"/>
                </a:lnTo>
                <a:cubicBezTo>
                  <a:pt x="196422" y="151779"/>
                  <a:pt x="197499" y="149915"/>
                  <a:pt x="199280" y="149460"/>
                </a:cubicBezTo>
                <a:lnTo>
                  <a:pt x="224210" y="143123"/>
                </a:lnTo>
                <a:cubicBezTo>
                  <a:pt x="227689" y="142254"/>
                  <a:pt x="230422" y="139521"/>
                  <a:pt x="231375" y="136042"/>
                </a:cubicBezTo>
                <a:cubicBezTo>
                  <a:pt x="232327" y="132563"/>
                  <a:pt x="231292" y="128836"/>
                  <a:pt x="228724" y="126351"/>
                </a:cubicBezTo>
                <a:lnTo>
                  <a:pt x="210295" y="108419"/>
                </a:lnTo>
                <a:cubicBezTo>
                  <a:pt x="208970" y="107136"/>
                  <a:pt x="208970" y="104982"/>
                  <a:pt x="210295" y="103657"/>
                </a:cubicBezTo>
                <a:lnTo>
                  <a:pt x="228724" y="85725"/>
                </a:lnTo>
                <a:cubicBezTo>
                  <a:pt x="231292" y="83199"/>
                  <a:pt x="232327" y="79513"/>
                  <a:pt x="231375" y="76034"/>
                </a:cubicBezTo>
                <a:cubicBezTo>
                  <a:pt x="230422" y="72556"/>
                  <a:pt x="227689" y="69864"/>
                  <a:pt x="224210" y="68953"/>
                </a:cubicBezTo>
                <a:lnTo>
                  <a:pt x="199280" y="62617"/>
                </a:lnTo>
                <a:cubicBezTo>
                  <a:pt x="197457" y="62161"/>
                  <a:pt x="196381" y="60297"/>
                  <a:pt x="196919" y="58517"/>
                </a:cubicBezTo>
                <a:lnTo>
                  <a:pt x="203918" y="33752"/>
                </a:lnTo>
                <a:cubicBezTo>
                  <a:pt x="204912" y="30273"/>
                  <a:pt x="203918" y="26546"/>
                  <a:pt x="201392" y="24020"/>
                </a:cubicBezTo>
                <a:cubicBezTo>
                  <a:pt x="198865" y="21493"/>
                  <a:pt x="195138" y="20499"/>
                  <a:pt x="191660" y="21493"/>
                </a:cubicBezTo>
                <a:lnTo>
                  <a:pt x="166895" y="28492"/>
                </a:lnTo>
                <a:cubicBezTo>
                  <a:pt x="165114" y="28989"/>
                  <a:pt x="163250" y="27912"/>
                  <a:pt x="162795" y="26132"/>
                </a:cubicBezTo>
                <a:lnTo>
                  <a:pt x="156458" y="1160"/>
                </a:lnTo>
                <a:cubicBezTo>
                  <a:pt x="155589" y="-2319"/>
                  <a:pt x="152856" y="-5052"/>
                  <a:pt x="149377" y="-6005"/>
                </a:cubicBezTo>
                <a:cubicBezTo>
                  <a:pt x="145898" y="-6957"/>
                  <a:pt x="142212" y="-5922"/>
                  <a:pt x="139686" y="-3354"/>
                </a:cubicBezTo>
                <a:lnTo>
                  <a:pt x="121754" y="15116"/>
                </a:lnTo>
                <a:cubicBezTo>
                  <a:pt x="120471" y="16441"/>
                  <a:pt x="118317" y="16441"/>
                  <a:pt x="116992" y="15116"/>
                </a:cubicBezTo>
                <a:lnTo>
                  <a:pt x="99060" y="-3313"/>
                </a:ln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46" y="1466574"/>
            <a:ext cx="1563757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Verified Trust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95146" y="1749287"/>
            <a:ext cx="1528417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Authenticity Certificates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59042" y="2067339"/>
            <a:ext cx="5353878" cy="459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3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Generates downloadable "Verified Authentic" certificates for genuine content, enabling users to prove authorship and maintain trust.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67877" y="2899327"/>
            <a:ext cx="5274365" cy="459409"/>
          </a:xfrm>
          <a:custGeom>
            <a:avLst/>
            <a:gdLst/>
            <a:ahLst/>
            <a:cxnLst/>
            <a:rect l="l" t="t" r="r" b="b"/>
            <a:pathLst>
              <a:path w="5274365" h="459409">
                <a:moveTo>
                  <a:pt x="17670" y="0"/>
                </a:moveTo>
                <a:lnTo>
                  <a:pt x="5239028" y="0"/>
                </a:lnTo>
                <a:cubicBezTo>
                  <a:pt x="5258544" y="0"/>
                  <a:pt x="5274365" y="15821"/>
                  <a:pt x="5274365" y="35338"/>
                </a:cubicBezTo>
                <a:lnTo>
                  <a:pt x="5274365" y="424071"/>
                </a:lnTo>
                <a:cubicBezTo>
                  <a:pt x="5274365" y="443587"/>
                  <a:pt x="5258544" y="459409"/>
                  <a:pt x="5239028" y="459409"/>
                </a:cubicBezTo>
                <a:lnTo>
                  <a:pt x="17670" y="459409"/>
                </a:lnTo>
                <a:cubicBezTo>
                  <a:pt x="7911" y="459409"/>
                  <a:pt x="0" y="451498"/>
                  <a:pt x="0" y="441739"/>
                </a:cubicBezTo>
                <a:lnTo>
                  <a:pt x="0" y="17670"/>
                </a:lnTo>
                <a:cubicBezTo>
                  <a:pt x="0" y="7911"/>
                  <a:pt x="7911" y="0"/>
                  <a:pt x="17670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367877" y="2899327"/>
            <a:ext cx="17670" cy="459409"/>
          </a:xfrm>
          <a:custGeom>
            <a:avLst/>
            <a:gdLst/>
            <a:ahLst/>
            <a:cxnLst/>
            <a:rect l="l" t="t" r="r" b="b"/>
            <a:pathLst>
              <a:path w="17670" h="459409">
                <a:moveTo>
                  <a:pt x="17670" y="0"/>
                </a:moveTo>
                <a:lnTo>
                  <a:pt x="17670" y="0"/>
                </a:lnTo>
                <a:lnTo>
                  <a:pt x="17670" y="459409"/>
                </a:lnTo>
                <a:lnTo>
                  <a:pt x="17670" y="459409"/>
                </a:lnTo>
                <a:cubicBezTo>
                  <a:pt x="7911" y="459409"/>
                  <a:pt x="0" y="451498"/>
                  <a:pt x="0" y="441739"/>
                </a:cubicBezTo>
                <a:lnTo>
                  <a:pt x="0" y="17670"/>
                </a:lnTo>
                <a:cubicBezTo>
                  <a:pt x="0" y="7917"/>
                  <a:pt x="7917" y="0"/>
                  <a:pt x="1767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6482729" y="2934666"/>
            <a:ext cx="5221357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Cryptographic Signing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82729" y="3111362"/>
            <a:ext cx="5230191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Tamper-proof certificates with metadata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67877" y="3429414"/>
            <a:ext cx="5274365" cy="459409"/>
          </a:xfrm>
          <a:custGeom>
            <a:avLst/>
            <a:gdLst/>
            <a:ahLst/>
            <a:cxnLst/>
            <a:rect l="l" t="t" r="r" b="b"/>
            <a:pathLst>
              <a:path w="5274365" h="459409">
                <a:moveTo>
                  <a:pt x="17670" y="0"/>
                </a:moveTo>
                <a:lnTo>
                  <a:pt x="5239028" y="0"/>
                </a:lnTo>
                <a:cubicBezTo>
                  <a:pt x="5258544" y="0"/>
                  <a:pt x="5274365" y="15821"/>
                  <a:pt x="5274365" y="35338"/>
                </a:cubicBezTo>
                <a:lnTo>
                  <a:pt x="5274365" y="424071"/>
                </a:lnTo>
                <a:cubicBezTo>
                  <a:pt x="5274365" y="443587"/>
                  <a:pt x="5258544" y="459409"/>
                  <a:pt x="5239028" y="459409"/>
                </a:cubicBezTo>
                <a:lnTo>
                  <a:pt x="17670" y="459409"/>
                </a:lnTo>
                <a:cubicBezTo>
                  <a:pt x="7911" y="459409"/>
                  <a:pt x="0" y="451498"/>
                  <a:pt x="0" y="441739"/>
                </a:cubicBezTo>
                <a:lnTo>
                  <a:pt x="0" y="17670"/>
                </a:lnTo>
                <a:cubicBezTo>
                  <a:pt x="0" y="7911"/>
                  <a:pt x="7911" y="0"/>
                  <a:pt x="17670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367877" y="3429414"/>
            <a:ext cx="17670" cy="459409"/>
          </a:xfrm>
          <a:custGeom>
            <a:avLst/>
            <a:gdLst/>
            <a:ahLst/>
            <a:cxnLst/>
            <a:rect l="l" t="t" r="r" b="b"/>
            <a:pathLst>
              <a:path w="17670" h="459409">
                <a:moveTo>
                  <a:pt x="17670" y="0"/>
                </a:moveTo>
                <a:lnTo>
                  <a:pt x="17670" y="0"/>
                </a:lnTo>
                <a:lnTo>
                  <a:pt x="17670" y="459409"/>
                </a:lnTo>
                <a:lnTo>
                  <a:pt x="17670" y="459409"/>
                </a:lnTo>
                <a:cubicBezTo>
                  <a:pt x="7911" y="459409"/>
                  <a:pt x="0" y="451498"/>
                  <a:pt x="0" y="441739"/>
                </a:cubicBezTo>
                <a:lnTo>
                  <a:pt x="0" y="17670"/>
                </a:lnTo>
                <a:cubicBezTo>
                  <a:pt x="0" y="7917"/>
                  <a:pt x="7917" y="0"/>
                  <a:pt x="1767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1" name="Text 29"/>
          <p:cNvSpPr/>
          <p:nvPr/>
        </p:nvSpPr>
        <p:spPr>
          <a:xfrm>
            <a:off x="6482729" y="3464753"/>
            <a:ext cx="5221357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Authorship Proof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82729" y="3641449"/>
            <a:ext cx="5230191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 ownership and creation timeline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2226" y="4233379"/>
            <a:ext cx="5654261" cy="2791791"/>
          </a:xfrm>
          <a:custGeom>
            <a:avLst/>
            <a:gdLst/>
            <a:ahLst/>
            <a:cxnLst/>
            <a:rect l="l" t="t" r="r" b="b"/>
            <a:pathLst>
              <a:path w="5654261" h="2791791">
                <a:moveTo>
                  <a:pt x="70688" y="0"/>
                </a:moveTo>
                <a:lnTo>
                  <a:pt x="5583573" y="0"/>
                </a:lnTo>
                <a:cubicBezTo>
                  <a:pt x="5622613" y="0"/>
                  <a:pt x="5654261" y="31648"/>
                  <a:pt x="5654261" y="70688"/>
                </a:cubicBezTo>
                <a:lnTo>
                  <a:pt x="5654261" y="2721103"/>
                </a:lnTo>
                <a:cubicBezTo>
                  <a:pt x="5654261" y="2760143"/>
                  <a:pt x="5622613" y="2791791"/>
                  <a:pt x="5583573" y="2791791"/>
                </a:cubicBezTo>
                <a:lnTo>
                  <a:pt x="70688" y="2791791"/>
                </a:lnTo>
                <a:cubicBezTo>
                  <a:pt x="31648" y="2791791"/>
                  <a:pt x="0" y="2760143"/>
                  <a:pt x="0" y="2721103"/>
                </a:cubicBezTo>
                <a:lnTo>
                  <a:pt x="0" y="70688"/>
                </a:lnTo>
                <a:cubicBezTo>
                  <a:pt x="0" y="31648"/>
                  <a:pt x="31648" y="0"/>
                  <a:pt x="70688" y="0"/>
                </a:cubicBezTo>
                <a:close/>
              </a:path>
            </a:pathLst>
          </a:custGeom>
          <a:gradFill rotWithShape="1" flip="none">
            <a:gsLst>
              <a:gs pos="0">
                <a:srgbClr val="9CA3AF">
                  <a:alpha val="20000"/>
                </a:srgbClr>
              </a:gs>
              <a:gs pos="100000">
                <a:srgbClr val="4B5563">
                  <a:alpha val="20000"/>
                </a:srgbClr>
              </a:gs>
            </a:gsLst>
            <a:lin ang="2700000" scaled="1"/>
          </a:gradFill>
          <a:ln w="25400">
            <a:solidFill>
              <a:srgbClr val="9CA3A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7757" y="4418910"/>
            <a:ext cx="494748" cy="494748"/>
          </a:xfrm>
          <a:custGeom>
            <a:avLst/>
            <a:gdLst/>
            <a:ahLst/>
            <a:cxnLst/>
            <a:rect l="l" t="t" r="r" b="b"/>
            <a:pathLst>
              <a:path w="494748" h="494748">
                <a:moveTo>
                  <a:pt x="247374" y="0"/>
                </a:moveTo>
                <a:lnTo>
                  <a:pt x="247374" y="0"/>
                </a:lnTo>
                <a:cubicBezTo>
                  <a:pt x="383903" y="0"/>
                  <a:pt x="494748" y="110845"/>
                  <a:pt x="494748" y="247374"/>
                </a:cubicBezTo>
                <a:lnTo>
                  <a:pt x="494748" y="247374"/>
                </a:lnTo>
                <a:cubicBezTo>
                  <a:pt x="494748" y="383903"/>
                  <a:pt x="383903" y="494748"/>
                  <a:pt x="247374" y="494748"/>
                </a:cubicBezTo>
                <a:lnTo>
                  <a:pt x="247374" y="494748"/>
                </a:lnTo>
                <a:cubicBezTo>
                  <a:pt x="110845" y="494748"/>
                  <a:pt x="0" y="383903"/>
                  <a:pt x="0" y="247374"/>
                </a:cubicBezTo>
                <a:lnTo>
                  <a:pt x="0" y="247374"/>
                </a:lnTo>
                <a:cubicBezTo>
                  <a:pt x="0" y="110845"/>
                  <a:pt x="110845" y="0"/>
                  <a:pt x="247374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35" name="Shape 33"/>
          <p:cNvSpPr/>
          <p:nvPr/>
        </p:nvSpPr>
        <p:spPr>
          <a:xfrm>
            <a:off x="689113" y="4560266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49696" y="23191"/>
                </a:moveTo>
                <a:cubicBezTo>
                  <a:pt x="49696" y="10395"/>
                  <a:pt x="60090" y="0"/>
                  <a:pt x="72887" y="0"/>
                </a:cubicBezTo>
                <a:lnTo>
                  <a:pt x="82826" y="0"/>
                </a:lnTo>
                <a:cubicBezTo>
                  <a:pt x="90156" y="0"/>
                  <a:pt x="96078" y="5922"/>
                  <a:pt x="96078" y="13252"/>
                </a:cubicBezTo>
                <a:lnTo>
                  <a:pt x="96078" y="198783"/>
                </a:lnTo>
                <a:cubicBezTo>
                  <a:pt x="96078" y="206113"/>
                  <a:pt x="90156" y="212035"/>
                  <a:pt x="82826" y="212035"/>
                </a:cubicBezTo>
                <a:lnTo>
                  <a:pt x="69574" y="212035"/>
                </a:lnTo>
                <a:cubicBezTo>
                  <a:pt x="57233" y="212035"/>
                  <a:pt x="46838" y="203587"/>
                  <a:pt x="43898" y="192157"/>
                </a:cubicBezTo>
                <a:cubicBezTo>
                  <a:pt x="43608" y="192157"/>
                  <a:pt x="43359" y="192157"/>
                  <a:pt x="43070" y="192157"/>
                </a:cubicBezTo>
                <a:cubicBezTo>
                  <a:pt x="24765" y="192157"/>
                  <a:pt x="9939" y="177331"/>
                  <a:pt x="9939" y="159026"/>
                </a:cubicBezTo>
                <a:cubicBezTo>
                  <a:pt x="9939" y="151572"/>
                  <a:pt x="12424" y="144697"/>
                  <a:pt x="16565" y="139148"/>
                </a:cubicBezTo>
                <a:cubicBezTo>
                  <a:pt x="8531" y="133102"/>
                  <a:pt x="3313" y="123494"/>
                  <a:pt x="3313" y="112643"/>
                </a:cubicBezTo>
                <a:cubicBezTo>
                  <a:pt x="3313" y="99847"/>
                  <a:pt x="10602" y="88707"/>
                  <a:pt x="21203" y="83199"/>
                </a:cubicBezTo>
                <a:cubicBezTo>
                  <a:pt x="18263" y="78229"/>
                  <a:pt x="16565" y="72431"/>
                  <a:pt x="16565" y="66261"/>
                </a:cubicBezTo>
                <a:cubicBezTo>
                  <a:pt x="16565" y="47956"/>
                  <a:pt x="31391" y="33130"/>
                  <a:pt x="49696" y="33130"/>
                </a:cubicBezTo>
                <a:lnTo>
                  <a:pt x="49696" y="23191"/>
                </a:lnTo>
                <a:close/>
                <a:moveTo>
                  <a:pt x="162339" y="23191"/>
                </a:moveTo>
                <a:lnTo>
                  <a:pt x="162339" y="33130"/>
                </a:lnTo>
                <a:cubicBezTo>
                  <a:pt x="180644" y="33130"/>
                  <a:pt x="195470" y="47956"/>
                  <a:pt x="195470" y="66261"/>
                </a:cubicBezTo>
                <a:cubicBezTo>
                  <a:pt x="195470" y="72473"/>
                  <a:pt x="193772" y="78271"/>
                  <a:pt x="190831" y="83199"/>
                </a:cubicBezTo>
                <a:cubicBezTo>
                  <a:pt x="201474" y="88707"/>
                  <a:pt x="208722" y="99805"/>
                  <a:pt x="208722" y="112643"/>
                </a:cubicBezTo>
                <a:cubicBezTo>
                  <a:pt x="208722" y="123494"/>
                  <a:pt x="203504" y="133102"/>
                  <a:pt x="195470" y="139148"/>
                </a:cubicBezTo>
                <a:cubicBezTo>
                  <a:pt x="199611" y="144697"/>
                  <a:pt x="202096" y="151572"/>
                  <a:pt x="202096" y="159026"/>
                </a:cubicBezTo>
                <a:cubicBezTo>
                  <a:pt x="202096" y="177331"/>
                  <a:pt x="187270" y="192157"/>
                  <a:pt x="168965" y="192157"/>
                </a:cubicBezTo>
                <a:cubicBezTo>
                  <a:pt x="168675" y="192157"/>
                  <a:pt x="168427" y="192157"/>
                  <a:pt x="168137" y="192157"/>
                </a:cubicBezTo>
                <a:cubicBezTo>
                  <a:pt x="165197" y="203587"/>
                  <a:pt x="154802" y="212035"/>
                  <a:pt x="142461" y="212035"/>
                </a:cubicBezTo>
                <a:lnTo>
                  <a:pt x="129209" y="212035"/>
                </a:lnTo>
                <a:cubicBezTo>
                  <a:pt x="121879" y="212035"/>
                  <a:pt x="115957" y="206113"/>
                  <a:pt x="115957" y="198783"/>
                </a:cubicBezTo>
                <a:lnTo>
                  <a:pt x="115957" y="13252"/>
                </a:lnTo>
                <a:cubicBezTo>
                  <a:pt x="115957" y="5922"/>
                  <a:pt x="121879" y="0"/>
                  <a:pt x="129209" y="0"/>
                </a:cubicBezTo>
                <a:lnTo>
                  <a:pt x="139148" y="0"/>
                </a:lnTo>
                <a:cubicBezTo>
                  <a:pt x="151944" y="0"/>
                  <a:pt x="162339" y="10395"/>
                  <a:pt x="162339" y="23191"/>
                </a:cubicBez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36" name="Text 34"/>
          <p:cNvSpPr/>
          <p:nvPr/>
        </p:nvSpPr>
        <p:spPr>
          <a:xfrm>
            <a:off x="1183861" y="4418910"/>
            <a:ext cx="1952487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Explainable AI (XAI)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83861" y="4701623"/>
            <a:ext cx="191714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Transparent Insights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7757" y="5019675"/>
            <a:ext cx="5353878" cy="459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3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Unlike "black box" detectors, Satya explains why content is flagged, providing natural language explanations for informed decisions.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56591" y="5851732"/>
            <a:ext cx="5274365" cy="459409"/>
          </a:xfrm>
          <a:custGeom>
            <a:avLst/>
            <a:gdLst/>
            <a:ahLst/>
            <a:cxnLst/>
            <a:rect l="l" t="t" r="r" b="b"/>
            <a:pathLst>
              <a:path w="5274365" h="459409">
                <a:moveTo>
                  <a:pt x="17670" y="0"/>
                </a:moveTo>
                <a:lnTo>
                  <a:pt x="5239028" y="0"/>
                </a:lnTo>
                <a:cubicBezTo>
                  <a:pt x="5258544" y="0"/>
                  <a:pt x="5274365" y="15821"/>
                  <a:pt x="5274365" y="35338"/>
                </a:cubicBezTo>
                <a:lnTo>
                  <a:pt x="5274365" y="424071"/>
                </a:lnTo>
                <a:cubicBezTo>
                  <a:pt x="5274365" y="443587"/>
                  <a:pt x="5258544" y="459409"/>
                  <a:pt x="5239028" y="459409"/>
                </a:cubicBezTo>
                <a:lnTo>
                  <a:pt x="17670" y="459409"/>
                </a:lnTo>
                <a:cubicBezTo>
                  <a:pt x="7911" y="459409"/>
                  <a:pt x="0" y="451498"/>
                  <a:pt x="0" y="441739"/>
                </a:cubicBezTo>
                <a:lnTo>
                  <a:pt x="0" y="17670"/>
                </a:lnTo>
                <a:cubicBezTo>
                  <a:pt x="0" y="7911"/>
                  <a:pt x="7911" y="0"/>
                  <a:pt x="17670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6591" y="5851732"/>
            <a:ext cx="17670" cy="459409"/>
          </a:xfrm>
          <a:custGeom>
            <a:avLst/>
            <a:gdLst/>
            <a:ahLst/>
            <a:cxnLst/>
            <a:rect l="l" t="t" r="r" b="b"/>
            <a:pathLst>
              <a:path w="17670" h="459409">
                <a:moveTo>
                  <a:pt x="17670" y="0"/>
                </a:moveTo>
                <a:lnTo>
                  <a:pt x="17670" y="0"/>
                </a:lnTo>
                <a:lnTo>
                  <a:pt x="17670" y="459409"/>
                </a:lnTo>
                <a:lnTo>
                  <a:pt x="17670" y="459409"/>
                </a:lnTo>
                <a:cubicBezTo>
                  <a:pt x="7911" y="459409"/>
                  <a:pt x="0" y="451498"/>
                  <a:pt x="0" y="441739"/>
                </a:cubicBezTo>
                <a:lnTo>
                  <a:pt x="0" y="17670"/>
                </a:lnTo>
                <a:cubicBezTo>
                  <a:pt x="0" y="7917"/>
                  <a:pt x="7917" y="0"/>
                  <a:pt x="17670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41" name="Text 39"/>
          <p:cNvSpPr/>
          <p:nvPr/>
        </p:nvSpPr>
        <p:spPr>
          <a:xfrm>
            <a:off x="671443" y="5887071"/>
            <a:ext cx="5221357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 Reasons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1443" y="6063767"/>
            <a:ext cx="5230191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e.g., "Inconsistent lighting," "GAN artifacts"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56591" y="6381819"/>
            <a:ext cx="5274365" cy="459409"/>
          </a:xfrm>
          <a:custGeom>
            <a:avLst/>
            <a:gdLst/>
            <a:ahLst/>
            <a:cxnLst/>
            <a:rect l="l" t="t" r="r" b="b"/>
            <a:pathLst>
              <a:path w="5274365" h="459409">
                <a:moveTo>
                  <a:pt x="17670" y="0"/>
                </a:moveTo>
                <a:lnTo>
                  <a:pt x="5239028" y="0"/>
                </a:lnTo>
                <a:cubicBezTo>
                  <a:pt x="5258544" y="0"/>
                  <a:pt x="5274365" y="15821"/>
                  <a:pt x="5274365" y="35338"/>
                </a:cubicBezTo>
                <a:lnTo>
                  <a:pt x="5274365" y="424071"/>
                </a:lnTo>
                <a:cubicBezTo>
                  <a:pt x="5274365" y="443587"/>
                  <a:pt x="5258544" y="459409"/>
                  <a:pt x="5239028" y="459409"/>
                </a:cubicBezTo>
                <a:lnTo>
                  <a:pt x="17670" y="459409"/>
                </a:lnTo>
                <a:cubicBezTo>
                  <a:pt x="7911" y="459409"/>
                  <a:pt x="0" y="451498"/>
                  <a:pt x="0" y="441739"/>
                </a:cubicBezTo>
                <a:lnTo>
                  <a:pt x="0" y="17670"/>
                </a:lnTo>
                <a:cubicBezTo>
                  <a:pt x="0" y="7911"/>
                  <a:pt x="7911" y="0"/>
                  <a:pt x="17670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6591" y="6381819"/>
            <a:ext cx="17670" cy="459409"/>
          </a:xfrm>
          <a:custGeom>
            <a:avLst/>
            <a:gdLst/>
            <a:ahLst/>
            <a:cxnLst/>
            <a:rect l="l" t="t" r="r" b="b"/>
            <a:pathLst>
              <a:path w="17670" h="459409">
                <a:moveTo>
                  <a:pt x="17670" y="0"/>
                </a:moveTo>
                <a:lnTo>
                  <a:pt x="17670" y="0"/>
                </a:lnTo>
                <a:lnTo>
                  <a:pt x="17670" y="459409"/>
                </a:lnTo>
                <a:lnTo>
                  <a:pt x="17670" y="459409"/>
                </a:lnTo>
                <a:cubicBezTo>
                  <a:pt x="7911" y="459409"/>
                  <a:pt x="0" y="451498"/>
                  <a:pt x="0" y="441739"/>
                </a:cubicBezTo>
                <a:lnTo>
                  <a:pt x="0" y="17670"/>
                </a:lnTo>
                <a:cubicBezTo>
                  <a:pt x="0" y="7917"/>
                  <a:pt x="7917" y="0"/>
                  <a:pt x="17670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45" name="Text 43"/>
          <p:cNvSpPr/>
          <p:nvPr/>
        </p:nvSpPr>
        <p:spPr>
          <a:xfrm>
            <a:off x="671443" y="6417158"/>
            <a:ext cx="5221357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 Scores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1443" y="6593854"/>
            <a:ext cx="5230191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Quantified certainty levels for each analysis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73511" y="4233379"/>
            <a:ext cx="5654261" cy="2791791"/>
          </a:xfrm>
          <a:custGeom>
            <a:avLst/>
            <a:gdLst/>
            <a:ahLst/>
            <a:cxnLst/>
            <a:rect l="l" t="t" r="r" b="b"/>
            <a:pathLst>
              <a:path w="5654261" h="2791791">
                <a:moveTo>
                  <a:pt x="70688" y="0"/>
                </a:moveTo>
                <a:lnTo>
                  <a:pt x="5583573" y="0"/>
                </a:lnTo>
                <a:cubicBezTo>
                  <a:pt x="5622613" y="0"/>
                  <a:pt x="5654261" y="31648"/>
                  <a:pt x="5654261" y="70688"/>
                </a:cubicBezTo>
                <a:lnTo>
                  <a:pt x="5654261" y="2721103"/>
                </a:lnTo>
                <a:cubicBezTo>
                  <a:pt x="5654261" y="2760143"/>
                  <a:pt x="5622613" y="2791791"/>
                  <a:pt x="5583573" y="2791791"/>
                </a:cubicBezTo>
                <a:lnTo>
                  <a:pt x="70688" y="2791791"/>
                </a:lnTo>
                <a:cubicBezTo>
                  <a:pt x="31648" y="2791791"/>
                  <a:pt x="0" y="2760143"/>
                  <a:pt x="0" y="2721103"/>
                </a:cubicBezTo>
                <a:lnTo>
                  <a:pt x="0" y="70688"/>
                </a:lnTo>
                <a:cubicBezTo>
                  <a:pt x="0" y="31648"/>
                  <a:pt x="31648" y="0"/>
                  <a:pt x="70688" y="0"/>
                </a:cubicBezTo>
                <a:close/>
              </a:path>
            </a:pathLst>
          </a:custGeom>
          <a:gradFill rotWithShape="1" flip="none">
            <a:gsLst>
              <a:gs pos="0">
                <a:srgbClr val="9CA3AF">
                  <a:alpha val="20000"/>
                </a:srgbClr>
              </a:gs>
              <a:gs pos="100000">
                <a:srgbClr val="4B5563">
                  <a:alpha val="20000"/>
                </a:srgbClr>
              </a:gs>
            </a:gsLst>
            <a:lin ang="2700000" scaled="1"/>
          </a:gradFill>
          <a:ln w="25400">
            <a:solidFill>
              <a:srgbClr val="9CA3A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59042" y="4418910"/>
            <a:ext cx="494748" cy="494748"/>
          </a:xfrm>
          <a:custGeom>
            <a:avLst/>
            <a:gdLst/>
            <a:ahLst/>
            <a:cxnLst/>
            <a:rect l="l" t="t" r="r" b="b"/>
            <a:pathLst>
              <a:path w="494748" h="494748">
                <a:moveTo>
                  <a:pt x="247374" y="0"/>
                </a:moveTo>
                <a:lnTo>
                  <a:pt x="247374" y="0"/>
                </a:lnTo>
                <a:cubicBezTo>
                  <a:pt x="383903" y="0"/>
                  <a:pt x="494748" y="110845"/>
                  <a:pt x="494748" y="247374"/>
                </a:cubicBezTo>
                <a:lnTo>
                  <a:pt x="494748" y="247374"/>
                </a:lnTo>
                <a:cubicBezTo>
                  <a:pt x="494748" y="383903"/>
                  <a:pt x="383903" y="494748"/>
                  <a:pt x="247374" y="494748"/>
                </a:cubicBezTo>
                <a:lnTo>
                  <a:pt x="247374" y="494748"/>
                </a:lnTo>
                <a:cubicBezTo>
                  <a:pt x="110845" y="494748"/>
                  <a:pt x="0" y="383903"/>
                  <a:pt x="0" y="247374"/>
                </a:cubicBezTo>
                <a:lnTo>
                  <a:pt x="0" y="247374"/>
                </a:lnTo>
                <a:cubicBezTo>
                  <a:pt x="0" y="110845"/>
                  <a:pt x="110845" y="0"/>
                  <a:pt x="247374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49" name="Shape 47"/>
          <p:cNvSpPr/>
          <p:nvPr/>
        </p:nvSpPr>
        <p:spPr>
          <a:xfrm>
            <a:off x="6500398" y="4560266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198824" y="79513"/>
                </a:moveTo>
                <a:lnTo>
                  <a:pt x="202096" y="79513"/>
                </a:lnTo>
                <a:cubicBezTo>
                  <a:pt x="207604" y="79513"/>
                  <a:pt x="212035" y="75082"/>
                  <a:pt x="212035" y="69574"/>
                </a:cubicBezTo>
                <a:lnTo>
                  <a:pt x="212035" y="9939"/>
                </a:lnTo>
                <a:cubicBezTo>
                  <a:pt x="212035" y="5922"/>
                  <a:pt x="209633" y="2278"/>
                  <a:pt x="205906" y="745"/>
                </a:cubicBezTo>
                <a:cubicBezTo>
                  <a:pt x="202178" y="-787"/>
                  <a:pt x="197913" y="83"/>
                  <a:pt x="195055" y="2899"/>
                </a:cubicBezTo>
                <a:lnTo>
                  <a:pt x="173645" y="24351"/>
                </a:lnTo>
                <a:cubicBezTo>
                  <a:pt x="155299" y="9152"/>
                  <a:pt x="131693" y="0"/>
                  <a:pt x="106017" y="0"/>
                </a:cubicBezTo>
                <a:cubicBezTo>
                  <a:pt x="52595" y="0"/>
                  <a:pt x="8407" y="39508"/>
                  <a:pt x="1077" y="90902"/>
                </a:cubicBezTo>
                <a:cubicBezTo>
                  <a:pt x="41" y="98149"/>
                  <a:pt x="5052" y="104858"/>
                  <a:pt x="12300" y="105893"/>
                </a:cubicBezTo>
                <a:cubicBezTo>
                  <a:pt x="19547" y="106928"/>
                  <a:pt x="26256" y="101876"/>
                  <a:pt x="27291" y="94670"/>
                </a:cubicBezTo>
                <a:cubicBezTo>
                  <a:pt x="32799" y="56115"/>
                  <a:pt x="65971" y="26504"/>
                  <a:pt x="106017" y="26504"/>
                </a:cubicBezTo>
                <a:cubicBezTo>
                  <a:pt x="124405" y="26504"/>
                  <a:pt x="141301" y="32716"/>
                  <a:pt x="154761" y="43194"/>
                </a:cubicBezTo>
                <a:lnTo>
                  <a:pt x="135421" y="62534"/>
                </a:lnTo>
                <a:cubicBezTo>
                  <a:pt x="132563" y="65391"/>
                  <a:pt x="131735" y="69657"/>
                  <a:pt x="133267" y="73384"/>
                </a:cubicBezTo>
                <a:cubicBezTo>
                  <a:pt x="134799" y="77111"/>
                  <a:pt x="138444" y="79513"/>
                  <a:pt x="142461" y="79513"/>
                </a:cubicBezTo>
                <a:lnTo>
                  <a:pt x="198824" y="79513"/>
                </a:lnTo>
                <a:close/>
                <a:moveTo>
                  <a:pt x="210999" y="121133"/>
                </a:moveTo>
                <a:cubicBezTo>
                  <a:pt x="212035" y="113886"/>
                  <a:pt x="206982" y="107177"/>
                  <a:pt x="199777" y="106142"/>
                </a:cubicBezTo>
                <a:cubicBezTo>
                  <a:pt x="192571" y="105106"/>
                  <a:pt x="185820" y="110159"/>
                  <a:pt x="184785" y="117365"/>
                </a:cubicBezTo>
                <a:cubicBezTo>
                  <a:pt x="179277" y="155879"/>
                  <a:pt x="146105" y="185489"/>
                  <a:pt x="106059" y="185489"/>
                </a:cubicBezTo>
                <a:cubicBezTo>
                  <a:pt x="87671" y="185489"/>
                  <a:pt x="70775" y="179277"/>
                  <a:pt x="57316" y="168800"/>
                </a:cubicBezTo>
                <a:lnTo>
                  <a:pt x="76614" y="149501"/>
                </a:lnTo>
                <a:cubicBezTo>
                  <a:pt x="79472" y="146644"/>
                  <a:pt x="80300" y="142378"/>
                  <a:pt x="78768" y="138651"/>
                </a:cubicBezTo>
                <a:cubicBezTo>
                  <a:pt x="77235" y="134924"/>
                  <a:pt x="73591" y="132522"/>
                  <a:pt x="69574" y="132522"/>
                </a:cubicBezTo>
                <a:lnTo>
                  <a:pt x="9939" y="132522"/>
                </a:lnTo>
                <a:cubicBezTo>
                  <a:pt x="4431" y="132522"/>
                  <a:pt x="0" y="136953"/>
                  <a:pt x="0" y="142461"/>
                </a:cubicBezTo>
                <a:lnTo>
                  <a:pt x="0" y="202096"/>
                </a:lnTo>
                <a:cubicBezTo>
                  <a:pt x="0" y="206113"/>
                  <a:pt x="2402" y="209757"/>
                  <a:pt x="6129" y="211289"/>
                </a:cubicBezTo>
                <a:cubicBezTo>
                  <a:pt x="9856" y="212822"/>
                  <a:pt x="14122" y="211952"/>
                  <a:pt x="16979" y="209136"/>
                </a:cubicBezTo>
                <a:lnTo>
                  <a:pt x="38431" y="187684"/>
                </a:lnTo>
                <a:cubicBezTo>
                  <a:pt x="56736" y="202883"/>
                  <a:pt x="80341" y="212035"/>
                  <a:pt x="106017" y="212035"/>
                </a:cubicBezTo>
                <a:cubicBezTo>
                  <a:pt x="159440" y="212035"/>
                  <a:pt x="203628" y="172527"/>
                  <a:pt x="210958" y="121133"/>
                </a:cubicBez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50" name="Text 48"/>
          <p:cNvSpPr/>
          <p:nvPr/>
        </p:nvSpPr>
        <p:spPr>
          <a:xfrm>
            <a:off x="6995146" y="4418910"/>
            <a:ext cx="2023165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Feedback Loop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995146" y="4701623"/>
            <a:ext cx="1987826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Improvement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59042" y="5019675"/>
            <a:ext cx="5353878" cy="459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3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integrated "Report Incorrect Result" mechanism continuously refines the model based on user input, improving accuracy over time.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67877" y="5851732"/>
            <a:ext cx="5274365" cy="459409"/>
          </a:xfrm>
          <a:custGeom>
            <a:avLst/>
            <a:gdLst/>
            <a:ahLst/>
            <a:cxnLst/>
            <a:rect l="l" t="t" r="r" b="b"/>
            <a:pathLst>
              <a:path w="5274365" h="459409">
                <a:moveTo>
                  <a:pt x="17670" y="0"/>
                </a:moveTo>
                <a:lnTo>
                  <a:pt x="5239028" y="0"/>
                </a:lnTo>
                <a:cubicBezTo>
                  <a:pt x="5258544" y="0"/>
                  <a:pt x="5274365" y="15821"/>
                  <a:pt x="5274365" y="35338"/>
                </a:cubicBezTo>
                <a:lnTo>
                  <a:pt x="5274365" y="424071"/>
                </a:lnTo>
                <a:cubicBezTo>
                  <a:pt x="5274365" y="443587"/>
                  <a:pt x="5258544" y="459409"/>
                  <a:pt x="5239028" y="459409"/>
                </a:cubicBezTo>
                <a:lnTo>
                  <a:pt x="17670" y="459409"/>
                </a:lnTo>
                <a:cubicBezTo>
                  <a:pt x="7911" y="459409"/>
                  <a:pt x="0" y="451498"/>
                  <a:pt x="0" y="441739"/>
                </a:cubicBezTo>
                <a:lnTo>
                  <a:pt x="0" y="17670"/>
                </a:lnTo>
                <a:cubicBezTo>
                  <a:pt x="0" y="7911"/>
                  <a:pt x="7911" y="0"/>
                  <a:pt x="17670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67877" y="5851732"/>
            <a:ext cx="17670" cy="459409"/>
          </a:xfrm>
          <a:custGeom>
            <a:avLst/>
            <a:gdLst/>
            <a:ahLst/>
            <a:cxnLst/>
            <a:rect l="l" t="t" r="r" b="b"/>
            <a:pathLst>
              <a:path w="17670" h="459409">
                <a:moveTo>
                  <a:pt x="17670" y="0"/>
                </a:moveTo>
                <a:lnTo>
                  <a:pt x="17670" y="0"/>
                </a:lnTo>
                <a:lnTo>
                  <a:pt x="17670" y="459409"/>
                </a:lnTo>
                <a:lnTo>
                  <a:pt x="17670" y="459409"/>
                </a:lnTo>
                <a:cubicBezTo>
                  <a:pt x="7911" y="459409"/>
                  <a:pt x="0" y="451498"/>
                  <a:pt x="0" y="441739"/>
                </a:cubicBezTo>
                <a:lnTo>
                  <a:pt x="0" y="17670"/>
                </a:lnTo>
                <a:cubicBezTo>
                  <a:pt x="0" y="7917"/>
                  <a:pt x="7917" y="0"/>
                  <a:pt x="17670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55" name="Text 53"/>
          <p:cNvSpPr/>
          <p:nvPr/>
        </p:nvSpPr>
        <p:spPr>
          <a:xfrm>
            <a:off x="6482729" y="5887071"/>
            <a:ext cx="5221357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Learning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482729" y="6063767"/>
            <a:ext cx="5230191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feedback automatically incorporated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67877" y="6381819"/>
            <a:ext cx="5274365" cy="459409"/>
          </a:xfrm>
          <a:custGeom>
            <a:avLst/>
            <a:gdLst/>
            <a:ahLst/>
            <a:cxnLst/>
            <a:rect l="l" t="t" r="r" b="b"/>
            <a:pathLst>
              <a:path w="5274365" h="459409">
                <a:moveTo>
                  <a:pt x="17670" y="0"/>
                </a:moveTo>
                <a:lnTo>
                  <a:pt x="5239028" y="0"/>
                </a:lnTo>
                <a:cubicBezTo>
                  <a:pt x="5258544" y="0"/>
                  <a:pt x="5274365" y="15821"/>
                  <a:pt x="5274365" y="35338"/>
                </a:cubicBezTo>
                <a:lnTo>
                  <a:pt x="5274365" y="424071"/>
                </a:lnTo>
                <a:cubicBezTo>
                  <a:pt x="5274365" y="443587"/>
                  <a:pt x="5258544" y="459409"/>
                  <a:pt x="5239028" y="459409"/>
                </a:cubicBezTo>
                <a:lnTo>
                  <a:pt x="17670" y="459409"/>
                </a:lnTo>
                <a:cubicBezTo>
                  <a:pt x="7911" y="459409"/>
                  <a:pt x="0" y="451498"/>
                  <a:pt x="0" y="441739"/>
                </a:cubicBezTo>
                <a:lnTo>
                  <a:pt x="0" y="17670"/>
                </a:lnTo>
                <a:cubicBezTo>
                  <a:pt x="0" y="7911"/>
                  <a:pt x="7911" y="0"/>
                  <a:pt x="17670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367877" y="6381819"/>
            <a:ext cx="17670" cy="459409"/>
          </a:xfrm>
          <a:custGeom>
            <a:avLst/>
            <a:gdLst/>
            <a:ahLst/>
            <a:cxnLst/>
            <a:rect l="l" t="t" r="r" b="b"/>
            <a:pathLst>
              <a:path w="17670" h="459409">
                <a:moveTo>
                  <a:pt x="17670" y="0"/>
                </a:moveTo>
                <a:lnTo>
                  <a:pt x="17670" y="0"/>
                </a:lnTo>
                <a:lnTo>
                  <a:pt x="17670" y="459409"/>
                </a:lnTo>
                <a:lnTo>
                  <a:pt x="17670" y="459409"/>
                </a:lnTo>
                <a:cubicBezTo>
                  <a:pt x="7911" y="459409"/>
                  <a:pt x="0" y="451498"/>
                  <a:pt x="0" y="441739"/>
                </a:cubicBezTo>
                <a:lnTo>
                  <a:pt x="0" y="17670"/>
                </a:lnTo>
                <a:cubicBezTo>
                  <a:pt x="0" y="7917"/>
                  <a:pt x="7917" y="0"/>
                  <a:pt x="17670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59" name="Text 57"/>
          <p:cNvSpPr/>
          <p:nvPr/>
        </p:nvSpPr>
        <p:spPr>
          <a:xfrm>
            <a:off x="6482729" y="6417158"/>
            <a:ext cx="5221357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Refinement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482729" y="6593854"/>
            <a:ext cx="5230191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Weekly retraining with validated feedback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200" kern="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STACK: FRONTEND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Experience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5250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Modern, performant, and user-centric interface design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2700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6" name="Shape 4"/>
          <p:cNvSpPr/>
          <p:nvPr/>
        </p:nvSpPr>
        <p:spPr>
          <a:xfrm>
            <a:off x="333375" y="1492250"/>
            <a:ext cx="5667375" cy="1365250"/>
          </a:xfrm>
          <a:custGeom>
            <a:avLst/>
            <a:gdLst/>
            <a:ahLst/>
            <a:cxnLst/>
            <a:rect l="l" t="t" r="r" b="b"/>
            <a:pathLst>
              <a:path w="5667375" h="1365250">
                <a:moveTo>
                  <a:pt x="31750" y="0"/>
                </a:moveTo>
                <a:lnTo>
                  <a:pt x="5603877" y="0"/>
                </a:lnTo>
                <a:cubicBezTo>
                  <a:pt x="5638946" y="0"/>
                  <a:pt x="5667375" y="28429"/>
                  <a:pt x="5667375" y="63498"/>
                </a:cubicBezTo>
                <a:lnTo>
                  <a:pt x="5667375" y="1301752"/>
                </a:lnTo>
                <a:cubicBezTo>
                  <a:pt x="5667375" y="1336821"/>
                  <a:pt x="5638946" y="1365250"/>
                  <a:pt x="5603877" y="1365250"/>
                </a:cubicBezTo>
                <a:lnTo>
                  <a:pt x="31750" y="1365250"/>
                </a:lnTo>
                <a:cubicBezTo>
                  <a:pt x="14227" y="1365250"/>
                  <a:pt x="0" y="1351023"/>
                  <a:pt x="0" y="1333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33375" y="1492250"/>
            <a:ext cx="31750" cy="1365250"/>
          </a:xfrm>
          <a:custGeom>
            <a:avLst/>
            <a:gdLst/>
            <a:ahLst/>
            <a:cxnLst/>
            <a:rect l="l" t="t" r="r" b="b"/>
            <a:pathLst>
              <a:path w="31750" h="1365250">
                <a:moveTo>
                  <a:pt x="31750" y="0"/>
                </a:moveTo>
                <a:lnTo>
                  <a:pt x="31750" y="0"/>
                </a:lnTo>
                <a:lnTo>
                  <a:pt x="31750" y="1365250"/>
                </a:lnTo>
                <a:lnTo>
                  <a:pt x="31750" y="1365250"/>
                </a:lnTo>
                <a:cubicBezTo>
                  <a:pt x="14227" y="1365250"/>
                  <a:pt x="0" y="1351023"/>
                  <a:pt x="0" y="1333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8" name="Shape 6"/>
          <p:cNvSpPr/>
          <p:nvPr/>
        </p:nvSpPr>
        <p:spPr>
          <a:xfrm>
            <a:off x="531813" y="1666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5600" y="65931"/>
                </a:moveTo>
                <a:cubicBezTo>
                  <a:pt x="153591" y="65261"/>
                  <a:pt x="151581" y="64629"/>
                  <a:pt x="149572" y="64033"/>
                </a:cubicBezTo>
                <a:cubicBezTo>
                  <a:pt x="149907" y="62657"/>
                  <a:pt x="150205" y="61280"/>
                  <a:pt x="150502" y="59903"/>
                </a:cubicBezTo>
                <a:cubicBezTo>
                  <a:pt x="155079" y="37728"/>
                  <a:pt x="152065" y="19906"/>
                  <a:pt x="141908" y="14027"/>
                </a:cubicBezTo>
                <a:cubicBezTo>
                  <a:pt x="132122" y="8409"/>
                  <a:pt x="116160" y="14250"/>
                  <a:pt x="100012" y="28315"/>
                </a:cubicBezTo>
                <a:cubicBezTo>
                  <a:pt x="98413" y="29691"/>
                  <a:pt x="96850" y="31142"/>
                  <a:pt x="95362" y="32593"/>
                </a:cubicBezTo>
                <a:cubicBezTo>
                  <a:pt x="94357" y="31626"/>
                  <a:pt x="93315" y="30659"/>
                  <a:pt x="92273" y="29728"/>
                </a:cubicBezTo>
                <a:cubicBezTo>
                  <a:pt x="75344" y="14697"/>
                  <a:pt x="58378" y="8372"/>
                  <a:pt x="48220" y="14287"/>
                </a:cubicBezTo>
                <a:cubicBezTo>
                  <a:pt x="38472" y="19943"/>
                  <a:pt x="35570" y="36723"/>
                  <a:pt x="39663" y="57708"/>
                </a:cubicBezTo>
                <a:cubicBezTo>
                  <a:pt x="40072" y="59792"/>
                  <a:pt x="40518" y="61838"/>
                  <a:pt x="41039" y="63922"/>
                </a:cubicBezTo>
                <a:cubicBezTo>
                  <a:pt x="38658" y="64591"/>
                  <a:pt x="36314" y="65336"/>
                  <a:pt x="34119" y="66117"/>
                </a:cubicBezTo>
                <a:cubicBezTo>
                  <a:pt x="14250" y="73000"/>
                  <a:pt x="0" y="83865"/>
                  <a:pt x="0" y="95101"/>
                </a:cubicBezTo>
                <a:cubicBezTo>
                  <a:pt x="0" y="106710"/>
                  <a:pt x="15180" y="118356"/>
                  <a:pt x="35830" y="125425"/>
                </a:cubicBezTo>
                <a:cubicBezTo>
                  <a:pt x="37505" y="125983"/>
                  <a:pt x="39179" y="126541"/>
                  <a:pt x="40891" y="127025"/>
                </a:cubicBezTo>
                <a:cubicBezTo>
                  <a:pt x="40332" y="129257"/>
                  <a:pt x="39849" y="131452"/>
                  <a:pt x="39402" y="133722"/>
                </a:cubicBezTo>
                <a:cubicBezTo>
                  <a:pt x="35496" y="154372"/>
                  <a:pt x="38546" y="170743"/>
                  <a:pt x="48295" y="176361"/>
                </a:cubicBezTo>
                <a:cubicBezTo>
                  <a:pt x="58341" y="182166"/>
                  <a:pt x="75233" y="176213"/>
                  <a:pt x="91678" y="161813"/>
                </a:cubicBezTo>
                <a:cubicBezTo>
                  <a:pt x="92980" y="160660"/>
                  <a:pt x="94283" y="159469"/>
                  <a:pt x="95585" y="158204"/>
                </a:cubicBezTo>
                <a:cubicBezTo>
                  <a:pt x="97222" y="159804"/>
                  <a:pt x="98933" y="161330"/>
                  <a:pt x="100645" y="162818"/>
                </a:cubicBezTo>
                <a:cubicBezTo>
                  <a:pt x="116570" y="176510"/>
                  <a:pt x="132308" y="182054"/>
                  <a:pt x="142019" y="176436"/>
                </a:cubicBezTo>
                <a:cubicBezTo>
                  <a:pt x="152065" y="170631"/>
                  <a:pt x="155339" y="153033"/>
                  <a:pt x="151098" y="131601"/>
                </a:cubicBezTo>
                <a:cubicBezTo>
                  <a:pt x="150763" y="129964"/>
                  <a:pt x="150391" y="128290"/>
                  <a:pt x="149982" y="126578"/>
                </a:cubicBezTo>
                <a:cubicBezTo>
                  <a:pt x="151172" y="126243"/>
                  <a:pt x="152326" y="125871"/>
                  <a:pt x="153479" y="125499"/>
                </a:cubicBezTo>
                <a:cubicBezTo>
                  <a:pt x="174947" y="118393"/>
                  <a:pt x="190500" y="106896"/>
                  <a:pt x="190500" y="95101"/>
                </a:cubicBezTo>
                <a:cubicBezTo>
                  <a:pt x="190500" y="83827"/>
                  <a:pt x="175840" y="72889"/>
                  <a:pt x="155600" y="65931"/>
                </a:cubicBezTo>
                <a:close/>
                <a:moveTo>
                  <a:pt x="105259" y="34342"/>
                </a:moveTo>
                <a:cubicBezTo>
                  <a:pt x="119100" y="22287"/>
                  <a:pt x="132011" y="17562"/>
                  <a:pt x="137889" y="20948"/>
                </a:cubicBezTo>
                <a:cubicBezTo>
                  <a:pt x="144177" y="24557"/>
                  <a:pt x="146596" y="39142"/>
                  <a:pt x="142652" y="58303"/>
                </a:cubicBezTo>
                <a:cubicBezTo>
                  <a:pt x="142391" y="59568"/>
                  <a:pt x="142131" y="60796"/>
                  <a:pt x="141796" y="62024"/>
                </a:cubicBezTo>
                <a:cubicBezTo>
                  <a:pt x="133536" y="60164"/>
                  <a:pt x="125164" y="58824"/>
                  <a:pt x="116756" y="58080"/>
                </a:cubicBezTo>
                <a:cubicBezTo>
                  <a:pt x="111919" y="51160"/>
                  <a:pt x="106635" y="44537"/>
                  <a:pt x="100905" y="38323"/>
                </a:cubicBezTo>
                <a:cubicBezTo>
                  <a:pt x="102357" y="36947"/>
                  <a:pt x="103770" y="35644"/>
                  <a:pt x="105259" y="34342"/>
                </a:cubicBezTo>
                <a:close/>
                <a:moveTo>
                  <a:pt x="62210" y="114412"/>
                </a:moveTo>
                <a:cubicBezTo>
                  <a:pt x="64108" y="117649"/>
                  <a:pt x="66042" y="120886"/>
                  <a:pt x="68089" y="124048"/>
                </a:cubicBezTo>
                <a:cubicBezTo>
                  <a:pt x="62285" y="123416"/>
                  <a:pt x="56517" y="122486"/>
                  <a:pt x="50825" y="121258"/>
                </a:cubicBezTo>
                <a:cubicBezTo>
                  <a:pt x="52462" y="115900"/>
                  <a:pt x="54508" y="110356"/>
                  <a:pt x="56890" y="104701"/>
                </a:cubicBezTo>
                <a:cubicBezTo>
                  <a:pt x="58601" y="107975"/>
                  <a:pt x="60350" y="111212"/>
                  <a:pt x="62210" y="114412"/>
                </a:cubicBezTo>
                <a:close/>
                <a:moveTo>
                  <a:pt x="50936" y="69652"/>
                </a:moveTo>
                <a:cubicBezTo>
                  <a:pt x="56294" y="68461"/>
                  <a:pt x="61987" y="67494"/>
                  <a:pt x="67903" y="66749"/>
                </a:cubicBezTo>
                <a:cubicBezTo>
                  <a:pt x="65931" y="69838"/>
                  <a:pt x="63996" y="73000"/>
                  <a:pt x="62173" y="76200"/>
                </a:cubicBezTo>
                <a:cubicBezTo>
                  <a:pt x="60350" y="79363"/>
                  <a:pt x="58564" y="82600"/>
                  <a:pt x="56890" y="85874"/>
                </a:cubicBezTo>
                <a:cubicBezTo>
                  <a:pt x="54546" y="80330"/>
                  <a:pt x="52574" y="74898"/>
                  <a:pt x="50936" y="69652"/>
                </a:cubicBezTo>
                <a:close/>
                <a:moveTo>
                  <a:pt x="61131" y="95287"/>
                </a:moveTo>
                <a:cubicBezTo>
                  <a:pt x="63587" y="90153"/>
                  <a:pt x="66266" y="85130"/>
                  <a:pt x="69093" y="80181"/>
                </a:cubicBezTo>
                <a:cubicBezTo>
                  <a:pt x="71921" y="75233"/>
                  <a:pt x="74972" y="70433"/>
                  <a:pt x="78172" y="65708"/>
                </a:cubicBezTo>
                <a:cubicBezTo>
                  <a:pt x="83753" y="65298"/>
                  <a:pt x="89446" y="65075"/>
                  <a:pt x="95250" y="65075"/>
                </a:cubicBezTo>
                <a:cubicBezTo>
                  <a:pt x="101054" y="65075"/>
                  <a:pt x="106784" y="65298"/>
                  <a:pt x="112328" y="65708"/>
                </a:cubicBezTo>
                <a:cubicBezTo>
                  <a:pt x="115491" y="70396"/>
                  <a:pt x="118504" y="75195"/>
                  <a:pt x="121369" y="80107"/>
                </a:cubicBezTo>
                <a:cubicBezTo>
                  <a:pt x="124234" y="85018"/>
                  <a:pt x="126913" y="90041"/>
                  <a:pt x="129443" y="95138"/>
                </a:cubicBezTo>
                <a:cubicBezTo>
                  <a:pt x="126950" y="100273"/>
                  <a:pt x="124271" y="105333"/>
                  <a:pt x="121407" y="110319"/>
                </a:cubicBezTo>
                <a:cubicBezTo>
                  <a:pt x="118579" y="115267"/>
                  <a:pt x="115565" y="120067"/>
                  <a:pt x="112402" y="124830"/>
                </a:cubicBezTo>
                <a:cubicBezTo>
                  <a:pt x="106859" y="125239"/>
                  <a:pt x="101092" y="125425"/>
                  <a:pt x="95250" y="125425"/>
                </a:cubicBezTo>
                <a:cubicBezTo>
                  <a:pt x="89408" y="125425"/>
                  <a:pt x="83753" y="125239"/>
                  <a:pt x="78284" y="124904"/>
                </a:cubicBezTo>
                <a:cubicBezTo>
                  <a:pt x="75047" y="120179"/>
                  <a:pt x="71996" y="115342"/>
                  <a:pt x="69131" y="110393"/>
                </a:cubicBezTo>
                <a:cubicBezTo>
                  <a:pt x="66266" y="105445"/>
                  <a:pt x="63624" y="100422"/>
                  <a:pt x="61131" y="95287"/>
                </a:cubicBezTo>
                <a:close/>
                <a:moveTo>
                  <a:pt x="128327" y="114337"/>
                </a:moveTo>
                <a:cubicBezTo>
                  <a:pt x="130225" y="111063"/>
                  <a:pt x="132011" y="107752"/>
                  <a:pt x="133759" y="104403"/>
                </a:cubicBezTo>
                <a:cubicBezTo>
                  <a:pt x="136141" y="109798"/>
                  <a:pt x="138224" y="115267"/>
                  <a:pt x="140047" y="120886"/>
                </a:cubicBezTo>
                <a:cubicBezTo>
                  <a:pt x="134280" y="122188"/>
                  <a:pt x="128439" y="123192"/>
                  <a:pt x="122560" y="123862"/>
                </a:cubicBezTo>
                <a:cubicBezTo>
                  <a:pt x="124569" y="120737"/>
                  <a:pt x="126467" y="117537"/>
                  <a:pt x="128327" y="114337"/>
                </a:cubicBezTo>
                <a:close/>
                <a:moveTo>
                  <a:pt x="133685" y="85874"/>
                </a:moveTo>
                <a:cubicBezTo>
                  <a:pt x="131936" y="82600"/>
                  <a:pt x="130150" y="79325"/>
                  <a:pt x="128290" y="76126"/>
                </a:cubicBezTo>
                <a:cubicBezTo>
                  <a:pt x="126467" y="72963"/>
                  <a:pt x="124569" y="69838"/>
                  <a:pt x="122597" y="66749"/>
                </a:cubicBezTo>
                <a:cubicBezTo>
                  <a:pt x="128588" y="67494"/>
                  <a:pt x="134317" y="68498"/>
                  <a:pt x="139675" y="69726"/>
                </a:cubicBezTo>
                <a:cubicBezTo>
                  <a:pt x="137964" y="75233"/>
                  <a:pt x="135954" y="80590"/>
                  <a:pt x="133685" y="85874"/>
                </a:cubicBezTo>
                <a:close/>
                <a:moveTo>
                  <a:pt x="95324" y="44016"/>
                </a:moveTo>
                <a:cubicBezTo>
                  <a:pt x="99231" y="48258"/>
                  <a:pt x="102915" y="52722"/>
                  <a:pt x="106338" y="57336"/>
                </a:cubicBezTo>
                <a:cubicBezTo>
                  <a:pt x="98971" y="57001"/>
                  <a:pt x="91567" y="57001"/>
                  <a:pt x="84200" y="57336"/>
                </a:cubicBezTo>
                <a:cubicBezTo>
                  <a:pt x="87846" y="52536"/>
                  <a:pt x="91604" y="48071"/>
                  <a:pt x="95324" y="44016"/>
                </a:cubicBezTo>
                <a:close/>
                <a:moveTo>
                  <a:pt x="52164" y="21208"/>
                </a:moveTo>
                <a:cubicBezTo>
                  <a:pt x="58415" y="17562"/>
                  <a:pt x="72293" y="22771"/>
                  <a:pt x="86916" y="35719"/>
                </a:cubicBezTo>
                <a:cubicBezTo>
                  <a:pt x="87846" y="36537"/>
                  <a:pt x="88776" y="37430"/>
                  <a:pt x="89743" y="38323"/>
                </a:cubicBezTo>
                <a:cubicBezTo>
                  <a:pt x="83976" y="44537"/>
                  <a:pt x="78656" y="51160"/>
                  <a:pt x="73782" y="58080"/>
                </a:cubicBezTo>
                <a:cubicBezTo>
                  <a:pt x="65373" y="58824"/>
                  <a:pt x="57038" y="60127"/>
                  <a:pt x="48778" y="61950"/>
                </a:cubicBezTo>
                <a:cubicBezTo>
                  <a:pt x="48295" y="60052"/>
                  <a:pt x="47885" y="58117"/>
                  <a:pt x="47476" y="56183"/>
                </a:cubicBezTo>
                <a:cubicBezTo>
                  <a:pt x="43979" y="38174"/>
                  <a:pt x="46286" y="24594"/>
                  <a:pt x="52164" y="21208"/>
                </a:cubicBezTo>
                <a:close/>
                <a:moveTo>
                  <a:pt x="43049" y="119286"/>
                </a:moveTo>
                <a:cubicBezTo>
                  <a:pt x="41486" y="118839"/>
                  <a:pt x="39960" y="118356"/>
                  <a:pt x="38435" y="117835"/>
                </a:cubicBezTo>
                <a:cubicBezTo>
                  <a:pt x="30510" y="115342"/>
                  <a:pt x="21506" y="111398"/>
                  <a:pt x="14994" y="106226"/>
                </a:cubicBezTo>
                <a:cubicBezTo>
                  <a:pt x="11237" y="103622"/>
                  <a:pt x="8706" y="99603"/>
                  <a:pt x="8000" y="95101"/>
                </a:cubicBezTo>
                <a:cubicBezTo>
                  <a:pt x="8000" y="88292"/>
                  <a:pt x="19757" y="79586"/>
                  <a:pt x="36723" y="73670"/>
                </a:cubicBezTo>
                <a:cubicBezTo>
                  <a:pt x="38844" y="72926"/>
                  <a:pt x="41002" y="72256"/>
                  <a:pt x="43160" y="71624"/>
                </a:cubicBezTo>
                <a:cubicBezTo>
                  <a:pt x="45690" y="79697"/>
                  <a:pt x="48741" y="87623"/>
                  <a:pt x="52276" y="95287"/>
                </a:cubicBezTo>
                <a:cubicBezTo>
                  <a:pt x="48704" y="103063"/>
                  <a:pt x="45616" y="111100"/>
                  <a:pt x="43049" y="119286"/>
                </a:cubicBezTo>
                <a:close/>
                <a:moveTo>
                  <a:pt x="86432" y="155749"/>
                </a:moveTo>
                <a:cubicBezTo>
                  <a:pt x="80293" y="161367"/>
                  <a:pt x="73186" y="165832"/>
                  <a:pt x="65447" y="168883"/>
                </a:cubicBezTo>
                <a:cubicBezTo>
                  <a:pt x="61317" y="170855"/>
                  <a:pt x="56555" y="171041"/>
                  <a:pt x="52313" y="169366"/>
                </a:cubicBezTo>
                <a:cubicBezTo>
                  <a:pt x="46397" y="165943"/>
                  <a:pt x="43942" y="152809"/>
                  <a:pt x="47290" y="135136"/>
                </a:cubicBezTo>
                <a:cubicBezTo>
                  <a:pt x="47699" y="133052"/>
                  <a:pt x="48146" y="130969"/>
                  <a:pt x="48667" y="128922"/>
                </a:cubicBezTo>
                <a:cubicBezTo>
                  <a:pt x="57001" y="130708"/>
                  <a:pt x="65410" y="131936"/>
                  <a:pt x="73930" y="132569"/>
                </a:cubicBezTo>
                <a:cubicBezTo>
                  <a:pt x="78842" y="139526"/>
                  <a:pt x="84237" y="146186"/>
                  <a:pt x="90004" y="152437"/>
                </a:cubicBezTo>
                <a:cubicBezTo>
                  <a:pt x="88813" y="153591"/>
                  <a:pt x="87623" y="154707"/>
                  <a:pt x="86432" y="155749"/>
                </a:cubicBezTo>
                <a:close/>
                <a:moveTo>
                  <a:pt x="95548" y="146707"/>
                </a:moveTo>
                <a:cubicBezTo>
                  <a:pt x="91753" y="142615"/>
                  <a:pt x="87957" y="138075"/>
                  <a:pt x="84274" y="133201"/>
                </a:cubicBezTo>
                <a:cubicBezTo>
                  <a:pt x="87846" y="133350"/>
                  <a:pt x="91529" y="133424"/>
                  <a:pt x="95250" y="133424"/>
                </a:cubicBezTo>
                <a:cubicBezTo>
                  <a:pt x="99082" y="133424"/>
                  <a:pt x="102840" y="133350"/>
                  <a:pt x="106561" y="133164"/>
                </a:cubicBezTo>
                <a:cubicBezTo>
                  <a:pt x="103138" y="137889"/>
                  <a:pt x="99454" y="142391"/>
                  <a:pt x="95548" y="146707"/>
                </a:cubicBezTo>
                <a:close/>
                <a:moveTo>
                  <a:pt x="144177" y="157869"/>
                </a:moveTo>
                <a:cubicBezTo>
                  <a:pt x="143842" y="162409"/>
                  <a:pt x="141610" y="166650"/>
                  <a:pt x="138038" y="169515"/>
                </a:cubicBezTo>
                <a:cubicBezTo>
                  <a:pt x="132122" y="172938"/>
                  <a:pt x="119509" y="168473"/>
                  <a:pt x="105891" y="156790"/>
                </a:cubicBezTo>
                <a:cubicBezTo>
                  <a:pt x="104329" y="155451"/>
                  <a:pt x="102766" y="154000"/>
                  <a:pt x="101166" y="152512"/>
                </a:cubicBezTo>
                <a:cubicBezTo>
                  <a:pt x="106859" y="146224"/>
                  <a:pt x="112105" y="139564"/>
                  <a:pt x="116867" y="132569"/>
                </a:cubicBezTo>
                <a:cubicBezTo>
                  <a:pt x="125388" y="131862"/>
                  <a:pt x="133871" y="130559"/>
                  <a:pt x="142242" y="128662"/>
                </a:cubicBezTo>
                <a:cubicBezTo>
                  <a:pt x="142615" y="130187"/>
                  <a:pt x="142949" y="131713"/>
                  <a:pt x="143247" y="133201"/>
                </a:cubicBezTo>
                <a:cubicBezTo>
                  <a:pt x="145070" y="141238"/>
                  <a:pt x="145368" y="149609"/>
                  <a:pt x="144177" y="157869"/>
                </a:cubicBezTo>
                <a:close/>
                <a:moveTo>
                  <a:pt x="150949" y="117872"/>
                </a:moveTo>
                <a:cubicBezTo>
                  <a:pt x="149907" y="118207"/>
                  <a:pt x="148865" y="118542"/>
                  <a:pt x="147786" y="118839"/>
                </a:cubicBezTo>
                <a:cubicBezTo>
                  <a:pt x="145182" y="110728"/>
                  <a:pt x="141982" y="102803"/>
                  <a:pt x="138299" y="95101"/>
                </a:cubicBezTo>
                <a:cubicBezTo>
                  <a:pt x="141870" y="87511"/>
                  <a:pt x="144884" y="79697"/>
                  <a:pt x="147414" y="71698"/>
                </a:cubicBezTo>
                <a:cubicBezTo>
                  <a:pt x="149349" y="72256"/>
                  <a:pt x="151209" y="72851"/>
                  <a:pt x="152995" y="73447"/>
                </a:cubicBezTo>
                <a:cubicBezTo>
                  <a:pt x="170334" y="79400"/>
                  <a:pt x="182500" y="88255"/>
                  <a:pt x="182500" y="95027"/>
                </a:cubicBezTo>
                <a:cubicBezTo>
                  <a:pt x="182500" y="102319"/>
                  <a:pt x="169515" y="111733"/>
                  <a:pt x="150949" y="117872"/>
                </a:cubicBezTo>
                <a:close/>
                <a:moveTo>
                  <a:pt x="95250" y="112291"/>
                </a:moveTo>
                <a:cubicBezTo>
                  <a:pt x="104655" y="112291"/>
                  <a:pt x="112291" y="104655"/>
                  <a:pt x="112291" y="95250"/>
                </a:cubicBezTo>
                <a:cubicBezTo>
                  <a:pt x="112291" y="85845"/>
                  <a:pt x="104655" y="78209"/>
                  <a:pt x="95250" y="78209"/>
                </a:cubicBezTo>
                <a:cubicBezTo>
                  <a:pt x="85845" y="78209"/>
                  <a:pt x="78209" y="85845"/>
                  <a:pt x="78209" y="95250"/>
                </a:cubicBezTo>
                <a:cubicBezTo>
                  <a:pt x="78209" y="104655"/>
                  <a:pt x="85845" y="112291"/>
                  <a:pt x="95250" y="112291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841375" y="1651000"/>
            <a:ext cx="1603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18 + TypeScript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8000" y="1968500"/>
            <a:ext cx="5397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Robust, type-safe UI framework ensuring maintainability and developer productivity. React 18's concurrent features enable smooth, responsive user interactions.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8000" y="2476500"/>
            <a:ext cx="754063" cy="222250"/>
          </a:xfrm>
          <a:custGeom>
            <a:avLst/>
            <a:gdLst/>
            <a:ahLst/>
            <a:cxnLst/>
            <a:rect l="l" t="t" r="r" b="b"/>
            <a:pathLst>
              <a:path w="754063" h="222250">
                <a:moveTo>
                  <a:pt x="111125" y="0"/>
                </a:moveTo>
                <a:lnTo>
                  <a:pt x="642938" y="0"/>
                </a:lnTo>
                <a:cubicBezTo>
                  <a:pt x="704269" y="0"/>
                  <a:pt x="754063" y="49793"/>
                  <a:pt x="754063" y="111125"/>
                </a:cubicBezTo>
                <a:lnTo>
                  <a:pt x="754063" y="111125"/>
                </a:lnTo>
                <a:cubicBezTo>
                  <a:pt x="754063" y="172457"/>
                  <a:pt x="704269" y="222250"/>
                  <a:pt x="642938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8000" y="2476500"/>
            <a:ext cx="80962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 Safety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27113" y="2476500"/>
            <a:ext cx="1039812" cy="222250"/>
          </a:xfrm>
          <a:custGeom>
            <a:avLst/>
            <a:gdLst/>
            <a:ahLst/>
            <a:cxnLst/>
            <a:rect l="l" t="t" r="r" b="b"/>
            <a:pathLst>
              <a:path w="1039812" h="222250">
                <a:moveTo>
                  <a:pt x="111125" y="0"/>
                </a:moveTo>
                <a:lnTo>
                  <a:pt x="928688" y="0"/>
                </a:lnTo>
                <a:cubicBezTo>
                  <a:pt x="990019" y="0"/>
                  <a:pt x="1039812" y="49793"/>
                  <a:pt x="1039812" y="111125"/>
                </a:cubicBezTo>
                <a:lnTo>
                  <a:pt x="1039812" y="111125"/>
                </a:lnTo>
                <a:cubicBezTo>
                  <a:pt x="1039812" y="172457"/>
                  <a:pt x="990019" y="222250"/>
                  <a:pt x="928688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327113" y="2476500"/>
            <a:ext cx="109537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Concurrent Mode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428131" y="2476500"/>
            <a:ext cx="801688" cy="222250"/>
          </a:xfrm>
          <a:custGeom>
            <a:avLst/>
            <a:gdLst/>
            <a:ahLst/>
            <a:cxnLst/>
            <a:rect l="l" t="t" r="r" b="b"/>
            <a:pathLst>
              <a:path w="801688" h="222250">
                <a:moveTo>
                  <a:pt x="111125" y="0"/>
                </a:moveTo>
                <a:lnTo>
                  <a:pt x="690563" y="0"/>
                </a:lnTo>
                <a:cubicBezTo>
                  <a:pt x="751894" y="0"/>
                  <a:pt x="801688" y="49793"/>
                  <a:pt x="801688" y="111125"/>
                </a:cubicBezTo>
                <a:lnTo>
                  <a:pt x="801688" y="111125"/>
                </a:lnTo>
                <a:cubicBezTo>
                  <a:pt x="801688" y="172457"/>
                  <a:pt x="751894" y="222250"/>
                  <a:pt x="690563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428131" y="2476500"/>
            <a:ext cx="85725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Maintainable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3375" y="3016250"/>
            <a:ext cx="5667375" cy="1365250"/>
          </a:xfrm>
          <a:custGeom>
            <a:avLst/>
            <a:gdLst/>
            <a:ahLst/>
            <a:cxnLst/>
            <a:rect l="l" t="t" r="r" b="b"/>
            <a:pathLst>
              <a:path w="5667375" h="1365250">
                <a:moveTo>
                  <a:pt x="31750" y="0"/>
                </a:moveTo>
                <a:lnTo>
                  <a:pt x="5603877" y="0"/>
                </a:lnTo>
                <a:cubicBezTo>
                  <a:pt x="5638946" y="0"/>
                  <a:pt x="5667375" y="28429"/>
                  <a:pt x="5667375" y="63498"/>
                </a:cubicBezTo>
                <a:lnTo>
                  <a:pt x="5667375" y="1301752"/>
                </a:lnTo>
                <a:cubicBezTo>
                  <a:pt x="5667375" y="1336821"/>
                  <a:pt x="5638946" y="1365250"/>
                  <a:pt x="5603877" y="1365250"/>
                </a:cubicBezTo>
                <a:lnTo>
                  <a:pt x="31750" y="1365250"/>
                </a:lnTo>
                <a:cubicBezTo>
                  <a:pt x="14227" y="1365250"/>
                  <a:pt x="0" y="1351023"/>
                  <a:pt x="0" y="1333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3375" y="3016250"/>
            <a:ext cx="31750" cy="1365250"/>
          </a:xfrm>
          <a:custGeom>
            <a:avLst/>
            <a:gdLst/>
            <a:ahLst/>
            <a:cxnLst/>
            <a:rect l="l" t="t" r="r" b="b"/>
            <a:pathLst>
              <a:path w="31750" h="1365250">
                <a:moveTo>
                  <a:pt x="31750" y="0"/>
                </a:moveTo>
                <a:lnTo>
                  <a:pt x="31750" y="0"/>
                </a:lnTo>
                <a:lnTo>
                  <a:pt x="31750" y="1365250"/>
                </a:lnTo>
                <a:lnTo>
                  <a:pt x="31750" y="1365250"/>
                </a:lnTo>
                <a:cubicBezTo>
                  <a:pt x="14227" y="1365250"/>
                  <a:pt x="0" y="1351023"/>
                  <a:pt x="0" y="1333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19" name="Shape 17"/>
          <p:cNvSpPr/>
          <p:nvPr/>
        </p:nvSpPr>
        <p:spPr>
          <a:xfrm>
            <a:off x="543719" y="31908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20" name="Text 18"/>
          <p:cNvSpPr/>
          <p:nvPr/>
        </p:nvSpPr>
        <p:spPr>
          <a:xfrm>
            <a:off x="841375" y="3175000"/>
            <a:ext cx="1087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Vite Build Tool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8000" y="3492500"/>
            <a:ext cx="5397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Lightning-fast Hot Module Replacement (HMR) and optimized production builds. Vite's esbuild-powered bundling ensures rapid development cycles.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8000" y="4000500"/>
            <a:ext cx="650875" cy="222250"/>
          </a:xfrm>
          <a:custGeom>
            <a:avLst/>
            <a:gdLst/>
            <a:ahLst/>
            <a:cxnLst/>
            <a:rect l="l" t="t" r="r" b="b"/>
            <a:pathLst>
              <a:path w="650875" h="222250">
                <a:moveTo>
                  <a:pt x="111125" y="0"/>
                </a:moveTo>
                <a:lnTo>
                  <a:pt x="539750" y="0"/>
                </a:lnTo>
                <a:cubicBezTo>
                  <a:pt x="601082" y="0"/>
                  <a:pt x="650875" y="49793"/>
                  <a:pt x="650875" y="111125"/>
                </a:cubicBezTo>
                <a:lnTo>
                  <a:pt x="650875" y="111125"/>
                </a:lnTo>
                <a:cubicBezTo>
                  <a:pt x="650875" y="172457"/>
                  <a:pt x="601082" y="222250"/>
                  <a:pt x="5397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9CA3AF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8000" y="4000500"/>
            <a:ext cx="7064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HMR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19771" y="4000500"/>
            <a:ext cx="1000125" cy="222250"/>
          </a:xfrm>
          <a:custGeom>
            <a:avLst/>
            <a:gdLst/>
            <a:ahLst/>
            <a:cxnLst/>
            <a:rect l="l" t="t" r="r" b="b"/>
            <a:pathLst>
              <a:path w="1000125" h="222250">
                <a:moveTo>
                  <a:pt x="111125" y="0"/>
                </a:moveTo>
                <a:lnTo>
                  <a:pt x="889000" y="0"/>
                </a:lnTo>
                <a:cubicBezTo>
                  <a:pt x="950332" y="0"/>
                  <a:pt x="1000125" y="49793"/>
                  <a:pt x="1000125" y="111125"/>
                </a:cubicBezTo>
                <a:lnTo>
                  <a:pt x="1000125" y="111125"/>
                </a:lnTo>
                <a:cubicBezTo>
                  <a:pt x="1000125" y="172457"/>
                  <a:pt x="950332" y="222250"/>
                  <a:pt x="88900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9CA3AF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219771" y="4000500"/>
            <a:ext cx="105568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 Builds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284140" y="4000500"/>
            <a:ext cx="754063" cy="222250"/>
          </a:xfrm>
          <a:custGeom>
            <a:avLst/>
            <a:gdLst/>
            <a:ahLst/>
            <a:cxnLst/>
            <a:rect l="l" t="t" r="r" b="b"/>
            <a:pathLst>
              <a:path w="754063" h="222250">
                <a:moveTo>
                  <a:pt x="111125" y="0"/>
                </a:moveTo>
                <a:lnTo>
                  <a:pt x="642938" y="0"/>
                </a:lnTo>
                <a:cubicBezTo>
                  <a:pt x="704269" y="0"/>
                  <a:pt x="754063" y="49793"/>
                  <a:pt x="754063" y="111125"/>
                </a:cubicBezTo>
                <a:lnTo>
                  <a:pt x="754063" y="111125"/>
                </a:lnTo>
                <a:cubicBezTo>
                  <a:pt x="754063" y="172457"/>
                  <a:pt x="704269" y="222250"/>
                  <a:pt x="642938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9CA3AF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284140" y="4000500"/>
            <a:ext cx="80962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 Modules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33375" y="4540250"/>
            <a:ext cx="5667375" cy="1365250"/>
          </a:xfrm>
          <a:custGeom>
            <a:avLst/>
            <a:gdLst/>
            <a:ahLst/>
            <a:cxnLst/>
            <a:rect l="l" t="t" r="r" b="b"/>
            <a:pathLst>
              <a:path w="5667375" h="1365250">
                <a:moveTo>
                  <a:pt x="31750" y="0"/>
                </a:moveTo>
                <a:lnTo>
                  <a:pt x="5603877" y="0"/>
                </a:lnTo>
                <a:cubicBezTo>
                  <a:pt x="5638946" y="0"/>
                  <a:pt x="5667375" y="28429"/>
                  <a:pt x="5667375" y="63498"/>
                </a:cubicBezTo>
                <a:lnTo>
                  <a:pt x="5667375" y="1301752"/>
                </a:lnTo>
                <a:cubicBezTo>
                  <a:pt x="5667375" y="1336821"/>
                  <a:pt x="5638946" y="1365250"/>
                  <a:pt x="5603877" y="1365250"/>
                </a:cubicBezTo>
                <a:lnTo>
                  <a:pt x="31750" y="1365250"/>
                </a:lnTo>
                <a:cubicBezTo>
                  <a:pt x="14227" y="1365250"/>
                  <a:pt x="0" y="1351023"/>
                  <a:pt x="0" y="1333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33375" y="4540250"/>
            <a:ext cx="31750" cy="1365250"/>
          </a:xfrm>
          <a:custGeom>
            <a:avLst/>
            <a:gdLst/>
            <a:ahLst/>
            <a:cxnLst/>
            <a:rect l="l" t="t" r="r" b="b"/>
            <a:pathLst>
              <a:path w="31750" h="1365250">
                <a:moveTo>
                  <a:pt x="31750" y="0"/>
                </a:moveTo>
                <a:lnTo>
                  <a:pt x="31750" y="0"/>
                </a:lnTo>
                <a:lnTo>
                  <a:pt x="31750" y="1365250"/>
                </a:lnTo>
                <a:lnTo>
                  <a:pt x="31750" y="1365250"/>
                </a:lnTo>
                <a:cubicBezTo>
                  <a:pt x="14227" y="1365250"/>
                  <a:pt x="0" y="1351023"/>
                  <a:pt x="0" y="1333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0" name="Shape 28"/>
          <p:cNvSpPr/>
          <p:nvPr/>
        </p:nvSpPr>
        <p:spPr>
          <a:xfrm>
            <a:off x="555625" y="47148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11906"/>
                </a:moveTo>
                <a:lnTo>
                  <a:pt x="12985" y="159172"/>
                </a:lnTo>
                <a:lnTo>
                  <a:pt x="71438" y="178594"/>
                </a:lnTo>
                <a:lnTo>
                  <a:pt x="129890" y="159172"/>
                </a:lnTo>
                <a:lnTo>
                  <a:pt x="142875" y="11906"/>
                </a:lnTo>
                <a:lnTo>
                  <a:pt x="0" y="11906"/>
                </a:lnTo>
                <a:close/>
                <a:moveTo>
                  <a:pt x="116495" y="41672"/>
                </a:moveTo>
                <a:lnTo>
                  <a:pt x="114709" y="59271"/>
                </a:lnTo>
                <a:lnTo>
                  <a:pt x="71810" y="77614"/>
                </a:lnTo>
                <a:lnTo>
                  <a:pt x="71698" y="77651"/>
                </a:lnTo>
                <a:lnTo>
                  <a:pt x="113184" y="77651"/>
                </a:lnTo>
                <a:lnTo>
                  <a:pt x="108421" y="132197"/>
                </a:lnTo>
                <a:lnTo>
                  <a:pt x="71884" y="142875"/>
                </a:lnTo>
                <a:lnTo>
                  <a:pt x="35123" y="132011"/>
                </a:lnTo>
                <a:lnTo>
                  <a:pt x="32742" y="104515"/>
                </a:lnTo>
                <a:lnTo>
                  <a:pt x="50936" y="104515"/>
                </a:lnTo>
                <a:lnTo>
                  <a:pt x="52127" y="118765"/>
                </a:lnTo>
                <a:lnTo>
                  <a:pt x="71698" y="123713"/>
                </a:lnTo>
                <a:lnTo>
                  <a:pt x="92050" y="117983"/>
                </a:lnTo>
                <a:lnTo>
                  <a:pt x="93427" y="95064"/>
                </a:lnTo>
                <a:lnTo>
                  <a:pt x="31552" y="94878"/>
                </a:lnTo>
                <a:lnTo>
                  <a:pt x="31552" y="94841"/>
                </a:lnTo>
                <a:lnTo>
                  <a:pt x="31477" y="94878"/>
                </a:lnTo>
                <a:lnTo>
                  <a:pt x="30138" y="77651"/>
                </a:lnTo>
                <a:lnTo>
                  <a:pt x="71847" y="60275"/>
                </a:lnTo>
                <a:lnTo>
                  <a:pt x="74265" y="59271"/>
                </a:lnTo>
                <a:lnTo>
                  <a:pt x="28538" y="59271"/>
                </a:lnTo>
                <a:lnTo>
                  <a:pt x="26380" y="41672"/>
                </a:lnTo>
                <a:lnTo>
                  <a:pt x="116495" y="41672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1" name="Text 29"/>
          <p:cNvSpPr/>
          <p:nvPr/>
        </p:nvSpPr>
        <p:spPr>
          <a:xfrm>
            <a:off x="841375" y="4699000"/>
            <a:ext cx="1008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8000" y="5016500"/>
            <a:ext cx="5397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Utility-first design system enabling rapid UI development with custom animations. Consistent design tokens across the entire application.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08000" y="5524500"/>
            <a:ext cx="730250" cy="222250"/>
          </a:xfrm>
          <a:custGeom>
            <a:avLst/>
            <a:gdLst/>
            <a:ahLst/>
            <a:cxnLst/>
            <a:rect l="l" t="t" r="r" b="b"/>
            <a:pathLst>
              <a:path w="730250" h="222250">
                <a:moveTo>
                  <a:pt x="111125" y="0"/>
                </a:moveTo>
                <a:lnTo>
                  <a:pt x="619125" y="0"/>
                </a:lnTo>
                <a:cubicBezTo>
                  <a:pt x="680457" y="0"/>
                  <a:pt x="730250" y="49793"/>
                  <a:pt x="730250" y="111125"/>
                </a:cubicBezTo>
                <a:lnTo>
                  <a:pt x="730250" y="111125"/>
                </a:lnTo>
                <a:cubicBezTo>
                  <a:pt x="730250" y="172457"/>
                  <a:pt x="680457" y="222250"/>
                  <a:pt x="61912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08000" y="5524500"/>
            <a:ext cx="78581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Utility-First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298339" y="5524500"/>
            <a:ext cx="1127125" cy="222250"/>
          </a:xfrm>
          <a:custGeom>
            <a:avLst/>
            <a:gdLst/>
            <a:ahLst/>
            <a:cxnLst/>
            <a:rect l="l" t="t" r="r" b="b"/>
            <a:pathLst>
              <a:path w="1127125" h="222250">
                <a:moveTo>
                  <a:pt x="111125" y="0"/>
                </a:moveTo>
                <a:lnTo>
                  <a:pt x="1016000" y="0"/>
                </a:lnTo>
                <a:cubicBezTo>
                  <a:pt x="1077332" y="0"/>
                  <a:pt x="1127125" y="49793"/>
                  <a:pt x="1127125" y="111125"/>
                </a:cubicBezTo>
                <a:lnTo>
                  <a:pt x="1127125" y="111125"/>
                </a:lnTo>
                <a:cubicBezTo>
                  <a:pt x="1127125" y="172457"/>
                  <a:pt x="1077332" y="222250"/>
                  <a:pt x="101600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298339" y="5524500"/>
            <a:ext cx="118268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Animations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492623" y="5524500"/>
            <a:ext cx="738188" cy="222250"/>
          </a:xfrm>
          <a:custGeom>
            <a:avLst/>
            <a:gdLst/>
            <a:ahLst/>
            <a:cxnLst/>
            <a:rect l="l" t="t" r="r" b="b"/>
            <a:pathLst>
              <a:path w="738188" h="222250">
                <a:moveTo>
                  <a:pt x="111125" y="0"/>
                </a:moveTo>
                <a:lnTo>
                  <a:pt x="627063" y="0"/>
                </a:lnTo>
                <a:cubicBezTo>
                  <a:pt x="688394" y="0"/>
                  <a:pt x="738188" y="49793"/>
                  <a:pt x="738188" y="111125"/>
                </a:cubicBezTo>
                <a:lnTo>
                  <a:pt x="738188" y="111125"/>
                </a:lnTo>
                <a:cubicBezTo>
                  <a:pt x="738188" y="172457"/>
                  <a:pt x="688394" y="222250"/>
                  <a:pt x="627063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2492623" y="5524500"/>
            <a:ext cx="79375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07125" y="1492250"/>
            <a:ext cx="5667375" cy="1365250"/>
          </a:xfrm>
          <a:custGeom>
            <a:avLst/>
            <a:gdLst/>
            <a:ahLst/>
            <a:cxnLst/>
            <a:rect l="l" t="t" r="r" b="b"/>
            <a:pathLst>
              <a:path w="5667375" h="1365250">
                <a:moveTo>
                  <a:pt x="31750" y="0"/>
                </a:moveTo>
                <a:lnTo>
                  <a:pt x="5603877" y="0"/>
                </a:lnTo>
                <a:cubicBezTo>
                  <a:pt x="5638946" y="0"/>
                  <a:pt x="5667375" y="28429"/>
                  <a:pt x="5667375" y="63498"/>
                </a:cubicBezTo>
                <a:lnTo>
                  <a:pt x="5667375" y="1301752"/>
                </a:lnTo>
                <a:cubicBezTo>
                  <a:pt x="5667375" y="1336821"/>
                  <a:pt x="5638946" y="1365250"/>
                  <a:pt x="5603877" y="1365250"/>
                </a:cubicBezTo>
                <a:lnTo>
                  <a:pt x="31750" y="1365250"/>
                </a:lnTo>
                <a:cubicBezTo>
                  <a:pt x="14227" y="1365250"/>
                  <a:pt x="0" y="1351023"/>
                  <a:pt x="0" y="1333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207125" y="1492250"/>
            <a:ext cx="31750" cy="1365250"/>
          </a:xfrm>
          <a:custGeom>
            <a:avLst/>
            <a:gdLst/>
            <a:ahLst/>
            <a:cxnLst/>
            <a:rect l="l" t="t" r="r" b="b"/>
            <a:pathLst>
              <a:path w="31750" h="1365250">
                <a:moveTo>
                  <a:pt x="31750" y="0"/>
                </a:moveTo>
                <a:lnTo>
                  <a:pt x="31750" y="0"/>
                </a:lnTo>
                <a:lnTo>
                  <a:pt x="31750" y="1365250"/>
                </a:lnTo>
                <a:lnTo>
                  <a:pt x="31750" y="1365250"/>
                </a:lnTo>
                <a:cubicBezTo>
                  <a:pt x="14227" y="1365250"/>
                  <a:pt x="0" y="1351023"/>
                  <a:pt x="0" y="1333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41" name="Shape 39"/>
          <p:cNvSpPr/>
          <p:nvPr/>
        </p:nvSpPr>
        <p:spPr>
          <a:xfrm>
            <a:off x="6405563" y="1666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0"/>
                </a:moveTo>
                <a:cubicBezTo>
                  <a:pt x="96478" y="0"/>
                  <a:pt x="107156" y="8000"/>
                  <a:pt x="107156" y="17859"/>
                </a:cubicBezTo>
                <a:cubicBezTo>
                  <a:pt x="107156" y="21729"/>
                  <a:pt x="105519" y="25301"/>
                  <a:pt x="102691" y="28240"/>
                </a:cubicBezTo>
                <a:cubicBezTo>
                  <a:pt x="100236" y="30807"/>
                  <a:pt x="98227" y="33933"/>
                  <a:pt x="98227" y="37505"/>
                </a:cubicBezTo>
                <a:cubicBezTo>
                  <a:pt x="98227" y="43086"/>
                  <a:pt x="102766" y="47625"/>
                  <a:pt x="108347" y="47625"/>
                </a:cubicBezTo>
                <a:lnTo>
                  <a:pt x="125016" y="47625"/>
                </a:lnTo>
                <a:cubicBezTo>
                  <a:pt x="134875" y="47625"/>
                  <a:pt x="142875" y="55625"/>
                  <a:pt x="142875" y="65484"/>
                </a:cubicBezTo>
                <a:lnTo>
                  <a:pt x="142875" y="82153"/>
                </a:lnTo>
                <a:cubicBezTo>
                  <a:pt x="142875" y="87734"/>
                  <a:pt x="147414" y="92273"/>
                  <a:pt x="152995" y="92273"/>
                </a:cubicBezTo>
                <a:cubicBezTo>
                  <a:pt x="156530" y="92273"/>
                  <a:pt x="159693" y="90264"/>
                  <a:pt x="162260" y="87809"/>
                </a:cubicBezTo>
                <a:cubicBezTo>
                  <a:pt x="165199" y="85018"/>
                  <a:pt x="168771" y="83344"/>
                  <a:pt x="172641" y="83344"/>
                </a:cubicBezTo>
                <a:cubicBezTo>
                  <a:pt x="182500" y="83344"/>
                  <a:pt x="190500" y="94022"/>
                  <a:pt x="190500" y="107156"/>
                </a:cubicBezTo>
                <a:cubicBezTo>
                  <a:pt x="190500" y="120290"/>
                  <a:pt x="182500" y="130969"/>
                  <a:pt x="172641" y="130969"/>
                </a:cubicBezTo>
                <a:cubicBezTo>
                  <a:pt x="168771" y="130969"/>
                  <a:pt x="165162" y="129332"/>
                  <a:pt x="162260" y="126504"/>
                </a:cubicBezTo>
                <a:cubicBezTo>
                  <a:pt x="159693" y="124048"/>
                  <a:pt x="156567" y="122039"/>
                  <a:pt x="152995" y="122039"/>
                </a:cubicBezTo>
                <a:cubicBezTo>
                  <a:pt x="147414" y="122039"/>
                  <a:pt x="142875" y="126578"/>
                  <a:pt x="142875" y="132159"/>
                </a:cubicBezTo>
                <a:lnTo>
                  <a:pt x="142875" y="172641"/>
                </a:lnTo>
                <a:cubicBezTo>
                  <a:pt x="142875" y="182500"/>
                  <a:pt x="134875" y="190500"/>
                  <a:pt x="125016" y="190500"/>
                </a:cubicBezTo>
                <a:lnTo>
                  <a:pt x="103882" y="190500"/>
                </a:lnTo>
                <a:cubicBezTo>
                  <a:pt x="99120" y="190500"/>
                  <a:pt x="95250" y="186630"/>
                  <a:pt x="95250" y="181868"/>
                </a:cubicBezTo>
                <a:cubicBezTo>
                  <a:pt x="95250" y="178445"/>
                  <a:pt x="97408" y="175431"/>
                  <a:pt x="100161" y="173385"/>
                </a:cubicBezTo>
                <a:cubicBezTo>
                  <a:pt x="104477" y="170148"/>
                  <a:pt x="107156" y="165683"/>
                  <a:pt x="107156" y="160734"/>
                </a:cubicBezTo>
                <a:cubicBezTo>
                  <a:pt x="107156" y="150875"/>
                  <a:pt x="96478" y="142875"/>
                  <a:pt x="83344" y="142875"/>
                </a:cubicBezTo>
                <a:cubicBezTo>
                  <a:pt x="70210" y="142875"/>
                  <a:pt x="59531" y="150875"/>
                  <a:pt x="59531" y="160734"/>
                </a:cubicBezTo>
                <a:cubicBezTo>
                  <a:pt x="59531" y="165683"/>
                  <a:pt x="62210" y="170148"/>
                  <a:pt x="66526" y="173385"/>
                </a:cubicBezTo>
                <a:cubicBezTo>
                  <a:pt x="69279" y="175431"/>
                  <a:pt x="71438" y="178408"/>
                  <a:pt x="71438" y="181868"/>
                </a:cubicBezTo>
                <a:cubicBezTo>
                  <a:pt x="71438" y="186630"/>
                  <a:pt x="67568" y="190500"/>
                  <a:pt x="62805" y="190500"/>
                </a:cubicBezTo>
                <a:lnTo>
                  <a:pt x="17859" y="190500"/>
                </a:lnTo>
                <a:cubicBezTo>
                  <a:pt x="8000" y="190500"/>
                  <a:pt x="0" y="182500"/>
                  <a:pt x="0" y="172641"/>
                </a:cubicBezTo>
                <a:lnTo>
                  <a:pt x="0" y="127695"/>
                </a:lnTo>
                <a:cubicBezTo>
                  <a:pt x="0" y="122932"/>
                  <a:pt x="3870" y="119063"/>
                  <a:pt x="8632" y="119063"/>
                </a:cubicBezTo>
                <a:cubicBezTo>
                  <a:pt x="12055" y="119063"/>
                  <a:pt x="15069" y="121221"/>
                  <a:pt x="17115" y="123974"/>
                </a:cubicBezTo>
                <a:cubicBezTo>
                  <a:pt x="20352" y="128290"/>
                  <a:pt x="24817" y="130969"/>
                  <a:pt x="29766" y="130969"/>
                </a:cubicBezTo>
                <a:cubicBezTo>
                  <a:pt x="39625" y="130969"/>
                  <a:pt x="47625" y="120290"/>
                  <a:pt x="47625" y="107156"/>
                </a:cubicBezTo>
                <a:cubicBezTo>
                  <a:pt x="47625" y="94022"/>
                  <a:pt x="39625" y="83344"/>
                  <a:pt x="29766" y="83344"/>
                </a:cubicBezTo>
                <a:cubicBezTo>
                  <a:pt x="24817" y="83344"/>
                  <a:pt x="20352" y="86023"/>
                  <a:pt x="17115" y="90339"/>
                </a:cubicBezTo>
                <a:cubicBezTo>
                  <a:pt x="15069" y="93092"/>
                  <a:pt x="12092" y="95250"/>
                  <a:pt x="8632" y="95250"/>
                </a:cubicBezTo>
                <a:cubicBezTo>
                  <a:pt x="3870" y="95250"/>
                  <a:pt x="0" y="91380"/>
                  <a:pt x="0" y="86618"/>
                </a:cubicBezTo>
                <a:lnTo>
                  <a:pt x="0" y="65484"/>
                </a:lnTo>
                <a:cubicBezTo>
                  <a:pt x="0" y="55625"/>
                  <a:pt x="8000" y="47625"/>
                  <a:pt x="17859" y="47625"/>
                </a:cubicBezTo>
                <a:lnTo>
                  <a:pt x="58341" y="47625"/>
                </a:lnTo>
                <a:cubicBezTo>
                  <a:pt x="63922" y="47625"/>
                  <a:pt x="68461" y="43086"/>
                  <a:pt x="68461" y="37505"/>
                </a:cubicBezTo>
                <a:cubicBezTo>
                  <a:pt x="68461" y="33970"/>
                  <a:pt x="66452" y="30807"/>
                  <a:pt x="63996" y="28240"/>
                </a:cubicBezTo>
                <a:cubicBezTo>
                  <a:pt x="61206" y="25301"/>
                  <a:pt x="59531" y="21729"/>
                  <a:pt x="59531" y="17859"/>
                </a:cubicBezTo>
                <a:cubicBezTo>
                  <a:pt x="59531" y="8000"/>
                  <a:pt x="70210" y="0"/>
                  <a:pt x="83344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42" name="Text 40"/>
          <p:cNvSpPr/>
          <p:nvPr/>
        </p:nvSpPr>
        <p:spPr>
          <a:xfrm>
            <a:off x="6715125" y="1651000"/>
            <a:ext cx="1357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Shadcn/UI + Radix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81750" y="1968500"/>
            <a:ext cx="5397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Accessible, high-quality UI primitives ensuring excellent user experience. Customizable components with built-in accessibility features.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81750" y="2476500"/>
            <a:ext cx="698500" cy="222250"/>
          </a:xfrm>
          <a:custGeom>
            <a:avLst/>
            <a:gdLst/>
            <a:ahLst/>
            <a:cxnLst/>
            <a:rect l="l" t="t" r="r" b="b"/>
            <a:pathLst>
              <a:path w="698500" h="222250">
                <a:moveTo>
                  <a:pt x="111125" y="0"/>
                </a:moveTo>
                <a:lnTo>
                  <a:pt x="587375" y="0"/>
                </a:lnTo>
                <a:cubicBezTo>
                  <a:pt x="648707" y="0"/>
                  <a:pt x="698500" y="49793"/>
                  <a:pt x="698500" y="111125"/>
                </a:cubicBezTo>
                <a:lnTo>
                  <a:pt x="698500" y="111125"/>
                </a:lnTo>
                <a:cubicBezTo>
                  <a:pt x="698500" y="172457"/>
                  <a:pt x="648707" y="222250"/>
                  <a:pt x="58737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9CA3AF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381750" y="2476500"/>
            <a:ext cx="75406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Accessible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146603" y="2476500"/>
            <a:ext cx="627063" cy="222250"/>
          </a:xfrm>
          <a:custGeom>
            <a:avLst/>
            <a:gdLst/>
            <a:ahLst/>
            <a:cxnLst/>
            <a:rect l="l" t="t" r="r" b="b"/>
            <a:pathLst>
              <a:path w="627063" h="222250">
                <a:moveTo>
                  <a:pt x="111125" y="0"/>
                </a:moveTo>
                <a:lnTo>
                  <a:pt x="515938" y="0"/>
                </a:lnTo>
                <a:cubicBezTo>
                  <a:pt x="577269" y="0"/>
                  <a:pt x="627063" y="49793"/>
                  <a:pt x="627063" y="111125"/>
                </a:cubicBezTo>
                <a:lnTo>
                  <a:pt x="627063" y="111125"/>
                </a:lnTo>
                <a:cubicBezTo>
                  <a:pt x="627063" y="172457"/>
                  <a:pt x="577269" y="222250"/>
                  <a:pt x="515938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9CA3AF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146603" y="2476500"/>
            <a:ext cx="68262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Headless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837475" y="2476500"/>
            <a:ext cx="841375" cy="222250"/>
          </a:xfrm>
          <a:custGeom>
            <a:avLst/>
            <a:gdLst/>
            <a:ahLst/>
            <a:cxnLst/>
            <a:rect l="l" t="t" r="r" b="b"/>
            <a:pathLst>
              <a:path w="841375" h="222250">
                <a:moveTo>
                  <a:pt x="111125" y="0"/>
                </a:moveTo>
                <a:lnTo>
                  <a:pt x="730250" y="0"/>
                </a:lnTo>
                <a:cubicBezTo>
                  <a:pt x="791582" y="0"/>
                  <a:pt x="841375" y="49793"/>
                  <a:pt x="841375" y="111125"/>
                </a:cubicBezTo>
                <a:lnTo>
                  <a:pt x="841375" y="111125"/>
                </a:lnTo>
                <a:cubicBezTo>
                  <a:pt x="841375" y="172457"/>
                  <a:pt x="791582" y="222250"/>
                  <a:pt x="7302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9CA3AF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7837475" y="2476500"/>
            <a:ext cx="8969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Customizable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07125" y="3016250"/>
            <a:ext cx="5667375" cy="1365250"/>
          </a:xfrm>
          <a:custGeom>
            <a:avLst/>
            <a:gdLst/>
            <a:ahLst/>
            <a:cxnLst/>
            <a:rect l="l" t="t" r="r" b="b"/>
            <a:pathLst>
              <a:path w="5667375" h="1365250">
                <a:moveTo>
                  <a:pt x="31750" y="0"/>
                </a:moveTo>
                <a:lnTo>
                  <a:pt x="5603877" y="0"/>
                </a:lnTo>
                <a:cubicBezTo>
                  <a:pt x="5638946" y="0"/>
                  <a:pt x="5667375" y="28429"/>
                  <a:pt x="5667375" y="63498"/>
                </a:cubicBezTo>
                <a:lnTo>
                  <a:pt x="5667375" y="1301752"/>
                </a:lnTo>
                <a:cubicBezTo>
                  <a:pt x="5667375" y="1336821"/>
                  <a:pt x="5638946" y="1365250"/>
                  <a:pt x="5603877" y="1365250"/>
                </a:cubicBezTo>
                <a:lnTo>
                  <a:pt x="31750" y="1365250"/>
                </a:lnTo>
                <a:cubicBezTo>
                  <a:pt x="14227" y="1365250"/>
                  <a:pt x="0" y="1351023"/>
                  <a:pt x="0" y="1333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07125" y="3016250"/>
            <a:ext cx="31750" cy="1365250"/>
          </a:xfrm>
          <a:custGeom>
            <a:avLst/>
            <a:gdLst/>
            <a:ahLst/>
            <a:cxnLst/>
            <a:rect l="l" t="t" r="r" b="b"/>
            <a:pathLst>
              <a:path w="31750" h="1365250">
                <a:moveTo>
                  <a:pt x="31750" y="0"/>
                </a:moveTo>
                <a:lnTo>
                  <a:pt x="31750" y="0"/>
                </a:lnTo>
                <a:lnTo>
                  <a:pt x="31750" y="1365250"/>
                </a:lnTo>
                <a:lnTo>
                  <a:pt x="31750" y="1365250"/>
                </a:lnTo>
                <a:cubicBezTo>
                  <a:pt x="14227" y="1365250"/>
                  <a:pt x="0" y="1351023"/>
                  <a:pt x="0" y="1333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52" name="Shape 50"/>
          <p:cNvSpPr/>
          <p:nvPr/>
        </p:nvSpPr>
        <p:spPr>
          <a:xfrm>
            <a:off x="6393656" y="31908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53" name="Text 51"/>
          <p:cNvSpPr/>
          <p:nvPr/>
        </p:nvSpPr>
        <p:spPr>
          <a:xfrm>
            <a:off x="6715125" y="3175000"/>
            <a:ext cx="611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Chart.js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381750" y="3492500"/>
            <a:ext cx="5397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radar and doughnut charts for anomaly metrics visualization. Real-time data visualization with smooth animations.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81750" y="4000500"/>
            <a:ext cx="698500" cy="222250"/>
          </a:xfrm>
          <a:custGeom>
            <a:avLst/>
            <a:gdLst/>
            <a:ahLst/>
            <a:cxnLst/>
            <a:rect l="l" t="t" r="r" b="b"/>
            <a:pathLst>
              <a:path w="698500" h="222250">
                <a:moveTo>
                  <a:pt x="111125" y="0"/>
                </a:moveTo>
                <a:lnTo>
                  <a:pt x="587375" y="0"/>
                </a:lnTo>
                <a:cubicBezTo>
                  <a:pt x="648707" y="0"/>
                  <a:pt x="698500" y="49793"/>
                  <a:pt x="698500" y="111125"/>
                </a:cubicBezTo>
                <a:lnTo>
                  <a:pt x="698500" y="111125"/>
                </a:lnTo>
                <a:cubicBezTo>
                  <a:pt x="698500" y="172457"/>
                  <a:pt x="648707" y="222250"/>
                  <a:pt x="58737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381750" y="4000500"/>
            <a:ext cx="75406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144742" y="4000500"/>
            <a:ext cx="746125" cy="222250"/>
          </a:xfrm>
          <a:custGeom>
            <a:avLst/>
            <a:gdLst/>
            <a:ahLst/>
            <a:cxnLst/>
            <a:rect l="l" t="t" r="r" b="b"/>
            <a:pathLst>
              <a:path w="746125" h="222250">
                <a:moveTo>
                  <a:pt x="111125" y="0"/>
                </a:moveTo>
                <a:lnTo>
                  <a:pt x="635000" y="0"/>
                </a:lnTo>
                <a:cubicBezTo>
                  <a:pt x="696332" y="0"/>
                  <a:pt x="746125" y="49793"/>
                  <a:pt x="746125" y="111125"/>
                </a:cubicBezTo>
                <a:lnTo>
                  <a:pt x="746125" y="111125"/>
                </a:lnTo>
                <a:cubicBezTo>
                  <a:pt x="746125" y="172457"/>
                  <a:pt x="696332" y="222250"/>
                  <a:pt x="63500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7144742" y="4000500"/>
            <a:ext cx="80168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Lightweight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955421" y="4000500"/>
            <a:ext cx="738188" cy="222250"/>
          </a:xfrm>
          <a:custGeom>
            <a:avLst/>
            <a:gdLst/>
            <a:ahLst/>
            <a:cxnLst/>
            <a:rect l="l" t="t" r="r" b="b"/>
            <a:pathLst>
              <a:path w="738188" h="222250">
                <a:moveTo>
                  <a:pt x="111125" y="0"/>
                </a:moveTo>
                <a:lnTo>
                  <a:pt x="627063" y="0"/>
                </a:lnTo>
                <a:cubicBezTo>
                  <a:pt x="688394" y="0"/>
                  <a:pt x="738188" y="49793"/>
                  <a:pt x="738188" y="111125"/>
                </a:cubicBezTo>
                <a:lnTo>
                  <a:pt x="738188" y="111125"/>
                </a:lnTo>
                <a:cubicBezTo>
                  <a:pt x="738188" y="172457"/>
                  <a:pt x="688394" y="222250"/>
                  <a:pt x="627063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7955421" y="4000500"/>
            <a:ext cx="79375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207125" y="4540250"/>
            <a:ext cx="5667375" cy="1365250"/>
          </a:xfrm>
          <a:custGeom>
            <a:avLst/>
            <a:gdLst/>
            <a:ahLst/>
            <a:cxnLst/>
            <a:rect l="l" t="t" r="r" b="b"/>
            <a:pathLst>
              <a:path w="5667375" h="1365250">
                <a:moveTo>
                  <a:pt x="31750" y="0"/>
                </a:moveTo>
                <a:lnTo>
                  <a:pt x="5603877" y="0"/>
                </a:lnTo>
                <a:cubicBezTo>
                  <a:pt x="5638946" y="0"/>
                  <a:pt x="5667375" y="28429"/>
                  <a:pt x="5667375" y="63498"/>
                </a:cubicBezTo>
                <a:lnTo>
                  <a:pt x="5667375" y="1301752"/>
                </a:lnTo>
                <a:cubicBezTo>
                  <a:pt x="5667375" y="1336821"/>
                  <a:pt x="5638946" y="1365250"/>
                  <a:pt x="5603877" y="1365250"/>
                </a:cubicBezTo>
                <a:lnTo>
                  <a:pt x="31750" y="1365250"/>
                </a:lnTo>
                <a:cubicBezTo>
                  <a:pt x="14227" y="1365250"/>
                  <a:pt x="0" y="1351023"/>
                  <a:pt x="0" y="1333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207125" y="4540250"/>
            <a:ext cx="31750" cy="1365250"/>
          </a:xfrm>
          <a:custGeom>
            <a:avLst/>
            <a:gdLst/>
            <a:ahLst/>
            <a:cxnLst/>
            <a:rect l="l" t="t" r="r" b="b"/>
            <a:pathLst>
              <a:path w="31750" h="1365250">
                <a:moveTo>
                  <a:pt x="31750" y="0"/>
                </a:moveTo>
                <a:lnTo>
                  <a:pt x="31750" y="0"/>
                </a:lnTo>
                <a:lnTo>
                  <a:pt x="31750" y="1365250"/>
                </a:lnTo>
                <a:lnTo>
                  <a:pt x="31750" y="1365250"/>
                </a:lnTo>
                <a:cubicBezTo>
                  <a:pt x="14227" y="1365250"/>
                  <a:pt x="0" y="1351023"/>
                  <a:pt x="0" y="1333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63" name="Shape 61"/>
          <p:cNvSpPr/>
          <p:nvPr/>
        </p:nvSpPr>
        <p:spPr>
          <a:xfrm>
            <a:off x="6405563" y="4714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270" y="4539"/>
                </a:moveTo>
                <a:lnTo>
                  <a:pt x="115453" y="37356"/>
                </a:lnTo>
                <a:lnTo>
                  <a:pt x="153144" y="75047"/>
                </a:lnTo>
                <a:lnTo>
                  <a:pt x="185961" y="42230"/>
                </a:lnTo>
                <a:cubicBezTo>
                  <a:pt x="188863" y="39291"/>
                  <a:pt x="190500" y="35347"/>
                  <a:pt x="190500" y="31254"/>
                </a:cubicBezTo>
                <a:cubicBezTo>
                  <a:pt x="190500" y="27161"/>
                  <a:pt x="188863" y="23217"/>
                  <a:pt x="185961" y="20278"/>
                </a:cubicBezTo>
                <a:lnTo>
                  <a:pt x="170222" y="4539"/>
                </a:lnTo>
                <a:cubicBezTo>
                  <a:pt x="167283" y="1637"/>
                  <a:pt x="163339" y="0"/>
                  <a:pt x="159246" y="0"/>
                </a:cubicBezTo>
                <a:cubicBezTo>
                  <a:pt x="155153" y="0"/>
                  <a:pt x="151209" y="1637"/>
                  <a:pt x="148270" y="4539"/>
                </a:cubicBezTo>
                <a:close/>
                <a:moveTo>
                  <a:pt x="102840" y="49969"/>
                </a:moveTo>
                <a:lnTo>
                  <a:pt x="4539" y="148270"/>
                </a:lnTo>
                <a:cubicBezTo>
                  <a:pt x="1637" y="151209"/>
                  <a:pt x="0" y="155153"/>
                  <a:pt x="0" y="159246"/>
                </a:cubicBezTo>
                <a:cubicBezTo>
                  <a:pt x="0" y="163339"/>
                  <a:pt x="1637" y="167283"/>
                  <a:pt x="4539" y="170222"/>
                </a:cubicBezTo>
                <a:lnTo>
                  <a:pt x="20278" y="185961"/>
                </a:lnTo>
                <a:cubicBezTo>
                  <a:pt x="23217" y="188863"/>
                  <a:pt x="27161" y="190500"/>
                  <a:pt x="31254" y="190500"/>
                </a:cubicBezTo>
                <a:cubicBezTo>
                  <a:pt x="35347" y="190500"/>
                  <a:pt x="39291" y="188863"/>
                  <a:pt x="42230" y="185961"/>
                </a:cubicBezTo>
                <a:lnTo>
                  <a:pt x="140531" y="87660"/>
                </a:lnTo>
                <a:lnTo>
                  <a:pt x="102840" y="49969"/>
                </a:ln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64" name="Text 62"/>
          <p:cNvSpPr/>
          <p:nvPr/>
        </p:nvSpPr>
        <p:spPr>
          <a:xfrm>
            <a:off x="6715125" y="4699000"/>
            <a:ext cx="1111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Framer Motion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381750" y="5016500"/>
            <a:ext cx="5397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Smooth transitions and delightful micro-interactions enhancing user engagement. Production-ready animations with gesture support.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81750" y="5524500"/>
            <a:ext cx="1135063" cy="222250"/>
          </a:xfrm>
          <a:custGeom>
            <a:avLst/>
            <a:gdLst/>
            <a:ahLst/>
            <a:cxnLst/>
            <a:rect l="l" t="t" r="r" b="b"/>
            <a:pathLst>
              <a:path w="1135063" h="222250">
                <a:moveTo>
                  <a:pt x="111125" y="0"/>
                </a:moveTo>
                <a:lnTo>
                  <a:pt x="1023938" y="0"/>
                </a:lnTo>
                <a:cubicBezTo>
                  <a:pt x="1085269" y="0"/>
                  <a:pt x="1135063" y="49793"/>
                  <a:pt x="1135063" y="111125"/>
                </a:cubicBezTo>
                <a:lnTo>
                  <a:pt x="1135063" y="111125"/>
                </a:lnTo>
                <a:cubicBezTo>
                  <a:pt x="1135063" y="172457"/>
                  <a:pt x="1085269" y="222250"/>
                  <a:pt x="1023938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9CA3AF">
              <a:alpha val="2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6381750" y="5524500"/>
            <a:ext cx="119062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Smooth Animations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579320" y="5524500"/>
            <a:ext cx="611188" cy="222250"/>
          </a:xfrm>
          <a:custGeom>
            <a:avLst/>
            <a:gdLst/>
            <a:ahLst/>
            <a:cxnLst/>
            <a:rect l="l" t="t" r="r" b="b"/>
            <a:pathLst>
              <a:path w="611188" h="222250">
                <a:moveTo>
                  <a:pt x="111125" y="0"/>
                </a:moveTo>
                <a:lnTo>
                  <a:pt x="500063" y="0"/>
                </a:lnTo>
                <a:cubicBezTo>
                  <a:pt x="561394" y="0"/>
                  <a:pt x="611188" y="49793"/>
                  <a:pt x="611188" y="111125"/>
                </a:cubicBezTo>
                <a:lnTo>
                  <a:pt x="611188" y="111125"/>
                </a:lnTo>
                <a:cubicBezTo>
                  <a:pt x="611188" y="172457"/>
                  <a:pt x="561394" y="222250"/>
                  <a:pt x="500063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9CA3AF">
              <a:alpha val="2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7579320" y="5524500"/>
            <a:ext cx="66675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Gestures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255868" y="5524500"/>
            <a:ext cx="881063" cy="222250"/>
          </a:xfrm>
          <a:custGeom>
            <a:avLst/>
            <a:gdLst/>
            <a:ahLst/>
            <a:cxnLst/>
            <a:rect l="l" t="t" r="r" b="b"/>
            <a:pathLst>
              <a:path w="881063" h="222250">
                <a:moveTo>
                  <a:pt x="111125" y="0"/>
                </a:moveTo>
                <a:lnTo>
                  <a:pt x="769938" y="0"/>
                </a:lnTo>
                <a:cubicBezTo>
                  <a:pt x="831269" y="0"/>
                  <a:pt x="881063" y="49793"/>
                  <a:pt x="881063" y="111125"/>
                </a:cubicBezTo>
                <a:lnTo>
                  <a:pt x="881063" y="111125"/>
                </a:lnTo>
                <a:cubicBezTo>
                  <a:pt x="881063" y="172457"/>
                  <a:pt x="831269" y="222250"/>
                  <a:pt x="769938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9CA3AF">
              <a:alpha val="2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8255868" y="5524500"/>
            <a:ext cx="93662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Spring Physics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321469" y="7068344"/>
            <a:ext cx="11549063" cy="706438"/>
          </a:xfrm>
          <a:custGeom>
            <a:avLst/>
            <a:gdLst/>
            <a:ahLst/>
            <a:cxnLst/>
            <a:rect l="l" t="t" r="r" b="b"/>
            <a:pathLst>
              <a:path w="11549063" h="706438">
                <a:moveTo>
                  <a:pt x="63502" y="0"/>
                </a:moveTo>
                <a:lnTo>
                  <a:pt x="11485561" y="0"/>
                </a:lnTo>
                <a:cubicBezTo>
                  <a:pt x="11520632" y="0"/>
                  <a:pt x="11549063" y="28431"/>
                  <a:pt x="11549063" y="63502"/>
                </a:cubicBezTo>
                <a:lnTo>
                  <a:pt x="11549063" y="642936"/>
                </a:lnTo>
                <a:cubicBezTo>
                  <a:pt x="11549063" y="678007"/>
                  <a:pt x="11520632" y="706437"/>
                  <a:pt x="11485561" y="706438"/>
                </a:cubicBezTo>
                <a:lnTo>
                  <a:pt x="63502" y="706438"/>
                </a:lnTo>
                <a:cubicBezTo>
                  <a:pt x="28431" y="706438"/>
                  <a:pt x="0" y="678007"/>
                  <a:pt x="0" y="64293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34D399">
              <a:alpha val="10196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76250" y="73263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74" name="Text 72"/>
          <p:cNvSpPr/>
          <p:nvPr/>
        </p:nvSpPr>
        <p:spPr>
          <a:xfrm>
            <a:off x="817563" y="7199313"/>
            <a:ext cx="659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Optimization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817563" y="7453312"/>
            <a:ext cx="658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chunking and code splitting achieve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First Contentful Paint (FCP)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ensuring users see content immediately.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992" y="341992"/>
            <a:ext cx="11576415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spc="215" kern="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STACK: BACKEND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1992" y="615585"/>
            <a:ext cx="11661913" cy="34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24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Intelligence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1992" y="1025975"/>
            <a:ext cx="11593515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6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High-performance AI/ML infrastructure powering detection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1992" y="1367966"/>
            <a:ext cx="683983" cy="34199"/>
          </a:xfrm>
          <a:custGeom>
            <a:avLst/>
            <a:gdLst/>
            <a:ahLst/>
            <a:cxnLst/>
            <a:rect l="l" t="t" r="r" b="b"/>
            <a:pathLst>
              <a:path w="683983" h="34199">
                <a:moveTo>
                  <a:pt x="0" y="0"/>
                </a:moveTo>
                <a:lnTo>
                  <a:pt x="683983" y="0"/>
                </a:lnTo>
                <a:lnTo>
                  <a:pt x="683983" y="34199"/>
                </a:lnTo>
                <a:lnTo>
                  <a:pt x="0" y="34199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6" name="Shape 4"/>
          <p:cNvSpPr/>
          <p:nvPr/>
        </p:nvSpPr>
        <p:spPr>
          <a:xfrm>
            <a:off x="359091" y="1538962"/>
            <a:ext cx="5668511" cy="1333767"/>
          </a:xfrm>
          <a:custGeom>
            <a:avLst/>
            <a:gdLst/>
            <a:ahLst/>
            <a:cxnLst/>
            <a:rect l="l" t="t" r="r" b="b"/>
            <a:pathLst>
              <a:path w="5668511" h="1333767">
                <a:moveTo>
                  <a:pt x="34199" y="0"/>
                </a:moveTo>
                <a:lnTo>
                  <a:pt x="5600115" y="0"/>
                </a:lnTo>
                <a:cubicBezTo>
                  <a:pt x="5637889" y="0"/>
                  <a:pt x="5668511" y="30622"/>
                  <a:pt x="5668511" y="68396"/>
                </a:cubicBezTo>
                <a:lnTo>
                  <a:pt x="5668511" y="1265372"/>
                </a:lnTo>
                <a:cubicBezTo>
                  <a:pt x="5668511" y="1303145"/>
                  <a:pt x="5637889" y="1333767"/>
                  <a:pt x="5600115" y="1333767"/>
                </a:cubicBezTo>
                <a:lnTo>
                  <a:pt x="34199" y="1333767"/>
                </a:lnTo>
                <a:cubicBezTo>
                  <a:pt x="15311" y="1333767"/>
                  <a:pt x="0" y="1318456"/>
                  <a:pt x="0" y="1299568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59091" y="1538962"/>
            <a:ext cx="34199" cy="1333767"/>
          </a:xfrm>
          <a:custGeom>
            <a:avLst/>
            <a:gdLst/>
            <a:ahLst/>
            <a:cxnLst/>
            <a:rect l="l" t="t" r="r" b="b"/>
            <a:pathLst>
              <a:path w="34199" h="1333767">
                <a:moveTo>
                  <a:pt x="34199" y="0"/>
                </a:moveTo>
                <a:lnTo>
                  <a:pt x="34199" y="0"/>
                </a:lnTo>
                <a:lnTo>
                  <a:pt x="34199" y="1333767"/>
                </a:lnTo>
                <a:lnTo>
                  <a:pt x="34199" y="1333767"/>
                </a:lnTo>
                <a:cubicBezTo>
                  <a:pt x="15311" y="1333767"/>
                  <a:pt x="0" y="1318456"/>
                  <a:pt x="0" y="1299568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8" name="Shape 6"/>
          <p:cNvSpPr/>
          <p:nvPr/>
        </p:nvSpPr>
        <p:spPr>
          <a:xfrm>
            <a:off x="538637" y="1692858"/>
            <a:ext cx="205195" cy="205195"/>
          </a:xfrm>
          <a:custGeom>
            <a:avLst/>
            <a:gdLst/>
            <a:ahLst/>
            <a:cxnLst/>
            <a:rect l="l" t="t" r="r" b="b"/>
            <a:pathLst>
              <a:path w="205195" h="205195">
                <a:moveTo>
                  <a:pt x="51299" y="128247"/>
                </a:moveTo>
                <a:lnTo>
                  <a:pt x="9819" y="128247"/>
                </a:lnTo>
                <a:cubicBezTo>
                  <a:pt x="-160" y="128247"/>
                  <a:pt x="-6292" y="117386"/>
                  <a:pt x="-1162" y="108809"/>
                </a:cubicBezTo>
                <a:lnTo>
                  <a:pt x="20039" y="73461"/>
                </a:lnTo>
                <a:cubicBezTo>
                  <a:pt x="23525" y="67650"/>
                  <a:pt x="29777" y="64123"/>
                  <a:pt x="36550" y="64123"/>
                </a:cubicBezTo>
                <a:lnTo>
                  <a:pt x="74624" y="64123"/>
                </a:lnTo>
                <a:cubicBezTo>
                  <a:pt x="105122" y="12464"/>
                  <a:pt x="150610" y="9859"/>
                  <a:pt x="181028" y="14308"/>
                </a:cubicBezTo>
                <a:cubicBezTo>
                  <a:pt x="186158" y="15069"/>
                  <a:pt x="190166" y="19077"/>
                  <a:pt x="190887" y="24167"/>
                </a:cubicBezTo>
                <a:cubicBezTo>
                  <a:pt x="195336" y="54585"/>
                  <a:pt x="192731" y="100073"/>
                  <a:pt x="141072" y="130571"/>
                </a:cubicBezTo>
                <a:lnTo>
                  <a:pt x="141072" y="168645"/>
                </a:lnTo>
                <a:cubicBezTo>
                  <a:pt x="141072" y="175418"/>
                  <a:pt x="137545" y="181670"/>
                  <a:pt x="131734" y="185156"/>
                </a:cubicBezTo>
                <a:lnTo>
                  <a:pt x="96386" y="206357"/>
                </a:lnTo>
                <a:cubicBezTo>
                  <a:pt x="87849" y="211487"/>
                  <a:pt x="76948" y="205315"/>
                  <a:pt x="76948" y="195376"/>
                </a:cubicBezTo>
                <a:lnTo>
                  <a:pt x="76948" y="153896"/>
                </a:lnTo>
                <a:cubicBezTo>
                  <a:pt x="76948" y="139749"/>
                  <a:pt x="65446" y="128247"/>
                  <a:pt x="51299" y="128247"/>
                </a:cubicBezTo>
                <a:lnTo>
                  <a:pt x="51259" y="128247"/>
                </a:lnTo>
                <a:close/>
                <a:moveTo>
                  <a:pt x="160309" y="64123"/>
                </a:moveTo>
                <a:cubicBezTo>
                  <a:pt x="160309" y="53506"/>
                  <a:pt x="151689" y="44886"/>
                  <a:pt x="141072" y="44886"/>
                </a:cubicBezTo>
                <a:cubicBezTo>
                  <a:pt x="130454" y="44886"/>
                  <a:pt x="121835" y="53506"/>
                  <a:pt x="121835" y="64123"/>
                </a:cubicBezTo>
                <a:cubicBezTo>
                  <a:pt x="121835" y="74741"/>
                  <a:pt x="130454" y="83360"/>
                  <a:pt x="141072" y="83360"/>
                </a:cubicBezTo>
                <a:cubicBezTo>
                  <a:pt x="151689" y="83360"/>
                  <a:pt x="160309" y="74741"/>
                  <a:pt x="160309" y="64123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872079" y="1675759"/>
            <a:ext cx="1556062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6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 Framework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987" y="1983551"/>
            <a:ext cx="5446216" cy="44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High-performance, async Python web framework optimized for machine learning workloads. Automatic API documentation and validation.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2987" y="2496539"/>
            <a:ext cx="872079" cy="239394"/>
          </a:xfrm>
          <a:custGeom>
            <a:avLst/>
            <a:gdLst/>
            <a:ahLst/>
            <a:cxnLst/>
            <a:rect l="l" t="t" r="r" b="b"/>
            <a:pathLst>
              <a:path w="872079" h="239394">
                <a:moveTo>
                  <a:pt x="119697" y="0"/>
                </a:moveTo>
                <a:lnTo>
                  <a:pt x="752381" y="0"/>
                </a:lnTo>
                <a:cubicBezTo>
                  <a:pt x="818488" y="0"/>
                  <a:pt x="872079" y="53590"/>
                  <a:pt x="872079" y="119697"/>
                </a:cubicBezTo>
                <a:lnTo>
                  <a:pt x="872079" y="119697"/>
                </a:lnTo>
                <a:cubicBezTo>
                  <a:pt x="872079" y="185804"/>
                  <a:pt x="818488" y="239394"/>
                  <a:pt x="752381" y="239394"/>
                </a:cubicBezTo>
                <a:lnTo>
                  <a:pt x="119697" y="239394"/>
                </a:lnTo>
                <a:cubicBezTo>
                  <a:pt x="53590" y="239394"/>
                  <a:pt x="0" y="185804"/>
                  <a:pt x="0" y="119697"/>
                </a:cubicBezTo>
                <a:lnTo>
                  <a:pt x="0" y="119697"/>
                </a:lnTo>
                <a:cubicBezTo>
                  <a:pt x="0" y="53590"/>
                  <a:pt x="53590" y="0"/>
                  <a:pt x="119697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12987" y="2496539"/>
            <a:ext cx="931927" cy="239394"/>
          </a:xfrm>
          <a:prstGeom prst="rect">
            <a:avLst/>
          </a:prstGeom>
          <a:noFill/>
          <a:ln/>
        </p:spPr>
        <p:txBody>
          <a:bodyPr wrap="square" lIns="102597" tIns="34199" rIns="102597" bIns="34199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Async/Await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53598" y="2496539"/>
            <a:ext cx="743832" cy="239394"/>
          </a:xfrm>
          <a:custGeom>
            <a:avLst/>
            <a:gdLst/>
            <a:ahLst/>
            <a:cxnLst/>
            <a:rect l="l" t="t" r="r" b="b"/>
            <a:pathLst>
              <a:path w="743832" h="239394">
                <a:moveTo>
                  <a:pt x="119697" y="0"/>
                </a:moveTo>
                <a:lnTo>
                  <a:pt x="624135" y="0"/>
                </a:lnTo>
                <a:cubicBezTo>
                  <a:pt x="690242" y="0"/>
                  <a:pt x="743832" y="53590"/>
                  <a:pt x="743832" y="119697"/>
                </a:cubicBezTo>
                <a:lnTo>
                  <a:pt x="743832" y="119697"/>
                </a:lnTo>
                <a:cubicBezTo>
                  <a:pt x="743832" y="185804"/>
                  <a:pt x="690242" y="239394"/>
                  <a:pt x="624135" y="239394"/>
                </a:cubicBezTo>
                <a:lnTo>
                  <a:pt x="119697" y="239394"/>
                </a:lnTo>
                <a:cubicBezTo>
                  <a:pt x="53590" y="239394"/>
                  <a:pt x="0" y="185804"/>
                  <a:pt x="0" y="119697"/>
                </a:cubicBezTo>
                <a:lnTo>
                  <a:pt x="0" y="119697"/>
                </a:lnTo>
                <a:cubicBezTo>
                  <a:pt x="0" y="53590"/>
                  <a:pt x="53590" y="0"/>
                  <a:pt x="119697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453598" y="2496539"/>
            <a:ext cx="803680" cy="239394"/>
          </a:xfrm>
          <a:prstGeom prst="rect">
            <a:avLst/>
          </a:prstGeom>
          <a:noFill/>
          <a:ln/>
        </p:spPr>
        <p:txBody>
          <a:bodyPr wrap="square" lIns="102597" tIns="34199" rIns="102597" bIns="34199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 Docs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267164" y="2496539"/>
            <a:ext cx="760931" cy="239394"/>
          </a:xfrm>
          <a:custGeom>
            <a:avLst/>
            <a:gdLst/>
            <a:ahLst/>
            <a:cxnLst/>
            <a:rect l="l" t="t" r="r" b="b"/>
            <a:pathLst>
              <a:path w="760931" h="239394">
                <a:moveTo>
                  <a:pt x="119697" y="0"/>
                </a:moveTo>
                <a:lnTo>
                  <a:pt x="641234" y="0"/>
                </a:lnTo>
                <a:cubicBezTo>
                  <a:pt x="707341" y="0"/>
                  <a:pt x="760931" y="53590"/>
                  <a:pt x="760931" y="119697"/>
                </a:cubicBezTo>
                <a:lnTo>
                  <a:pt x="760931" y="119697"/>
                </a:lnTo>
                <a:cubicBezTo>
                  <a:pt x="760931" y="185804"/>
                  <a:pt x="707341" y="239394"/>
                  <a:pt x="641234" y="239394"/>
                </a:cubicBezTo>
                <a:lnTo>
                  <a:pt x="119697" y="239394"/>
                </a:lnTo>
                <a:cubicBezTo>
                  <a:pt x="53590" y="239394"/>
                  <a:pt x="0" y="185804"/>
                  <a:pt x="0" y="119697"/>
                </a:cubicBezTo>
                <a:lnTo>
                  <a:pt x="0" y="119697"/>
                </a:lnTo>
                <a:cubicBezTo>
                  <a:pt x="0" y="53590"/>
                  <a:pt x="53590" y="0"/>
                  <a:pt x="119697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267164" y="2496539"/>
            <a:ext cx="820780" cy="239394"/>
          </a:xfrm>
          <a:prstGeom prst="rect">
            <a:avLst/>
          </a:prstGeom>
          <a:noFill/>
          <a:ln/>
        </p:spPr>
        <p:txBody>
          <a:bodyPr wrap="square" lIns="102597" tIns="34199" rIns="102597" bIns="34199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 Hints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59091" y="2975327"/>
            <a:ext cx="5668511" cy="1333767"/>
          </a:xfrm>
          <a:custGeom>
            <a:avLst/>
            <a:gdLst/>
            <a:ahLst/>
            <a:cxnLst/>
            <a:rect l="l" t="t" r="r" b="b"/>
            <a:pathLst>
              <a:path w="5668511" h="1333767">
                <a:moveTo>
                  <a:pt x="34199" y="0"/>
                </a:moveTo>
                <a:lnTo>
                  <a:pt x="5600115" y="0"/>
                </a:lnTo>
                <a:cubicBezTo>
                  <a:pt x="5637889" y="0"/>
                  <a:pt x="5668511" y="30622"/>
                  <a:pt x="5668511" y="68396"/>
                </a:cubicBezTo>
                <a:lnTo>
                  <a:pt x="5668511" y="1265372"/>
                </a:lnTo>
                <a:cubicBezTo>
                  <a:pt x="5668511" y="1303145"/>
                  <a:pt x="5637889" y="1333767"/>
                  <a:pt x="5600115" y="1333767"/>
                </a:cubicBezTo>
                <a:lnTo>
                  <a:pt x="34199" y="1333767"/>
                </a:lnTo>
                <a:cubicBezTo>
                  <a:pt x="15311" y="1333767"/>
                  <a:pt x="0" y="1318456"/>
                  <a:pt x="0" y="1299568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59091" y="2975327"/>
            <a:ext cx="34199" cy="1333767"/>
          </a:xfrm>
          <a:custGeom>
            <a:avLst/>
            <a:gdLst/>
            <a:ahLst/>
            <a:cxnLst/>
            <a:rect l="l" t="t" r="r" b="b"/>
            <a:pathLst>
              <a:path w="34199" h="1333767">
                <a:moveTo>
                  <a:pt x="34199" y="0"/>
                </a:moveTo>
                <a:lnTo>
                  <a:pt x="34199" y="0"/>
                </a:lnTo>
                <a:lnTo>
                  <a:pt x="34199" y="1333767"/>
                </a:lnTo>
                <a:lnTo>
                  <a:pt x="34199" y="1333767"/>
                </a:lnTo>
                <a:cubicBezTo>
                  <a:pt x="15311" y="1333767"/>
                  <a:pt x="0" y="1318456"/>
                  <a:pt x="0" y="1299568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9" name="Shape 17"/>
          <p:cNvSpPr/>
          <p:nvPr/>
        </p:nvSpPr>
        <p:spPr>
          <a:xfrm>
            <a:off x="551461" y="3129223"/>
            <a:ext cx="179546" cy="205195"/>
          </a:xfrm>
          <a:custGeom>
            <a:avLst/>
            <a:gdLst/>
            <a:ahLst/>
            <a:cxnLst/>
            <a:rect l="l" t="t" r="r" b="b"/>
            <a:pathLst>
              <a:path w="179546" h="205195">
                <a:moveTo>
                  <a:pt x="64324" y="-10580"/>
                </a:moveTo>
                <a:cubicBezTo>
                  <a:pt x="68051" y="-13706"/>
                  <a:pt x="73542" y="-13586"/>
                  <a:pt x="77108" y="-10220"/>
                </a:cubicBezTo>
                <a:cubicBezTo>
                  <a:pt x="82038" y="-5571"/>
                  <a:pt x="86446" y="-441"/>
                  <a:pt x="90695" y="4769"/>
                </a:cubicBezTo>
                <a:cubicBezTo>
                  <a:pt x="96105" y="11382"/>
                  <a:pt x="102597" y="20119"/>
                  <a:pt x="108850" y="30499"/>
                </a:cubicBezTo>
                <a:cubicBezTo>
                  <a:pt x="110934" y="27773"/>
                  <a:pt x="112857" y="25369"/>
                  <a:pt x="114540" y="23325"/>
                </a:cubicBezTo>
                <a:cubicBezTo>
                  <a:pt x="114981" y="22804"/>
                  <a:pt x="115422" y="22243"/>
                  <a:pt x="115863" y="21682"/>
                </a:cubicBezTo>
                <a:cubicBezTo>
                  <a:pt x="119029" y="17754"/>
                  <a:pt x="122957" y="12825"/>
                  <a:pt x="128207" y="12825"/>
                </a:cubicBezTo>
                <a:cubicBezTo>
                  <a:pt x="133577" y="12825"/>
                  <a:pt x="137344" y="17594"/>
                  <a:pt x="140551" y="21682"/>
                </a:cubicBezTo>
                <a:cubicBezTo>
                  <a:pt x="141072" y="22363"/>
                  <a:pt x="141593" y="23004"/>
                  <a:pt x="142114" y="23605"/>
                </a:cubicBezTo>
                <a:cubicBezTo>
                  <a:pt x="146241" y="28575"/>
                  <a:pt x="151732" y="35749"/>
                  <a:pt x="157223" y="44606"/>
                </a:cubicBezTo>
                <a:cubicBezTo>
                  <a:pt x="168124" y="62200"/>
                  <a:pt x="179506" y="87248"/>
                  <a:pt x="179506" y="115382"/>
                </a:cubicBezTo>
                <a:cubicBezTo>
                  <a:pt x="179506" y="164958"/>
                  <a:pt x="139308" y="205155"/>
                  <a:pt x="89733" y="205155"/>
                </a:cubicBezTo>
                <a:cubicBezTo>
                  <a:pt x="40157" y="205155"/>
                  <a:pt x="0" y="164998"/>
                  <a:pt x="0" y="115422"/>
                </a:cubicBezTo>
                <a:cubicBezTo>
                  <a:pt x="0" y="78912"/>
                  <a:pt x="16472" y="47291"/>
                  <a:pt x="32262" y="25249"/>
                </a:cubicBezTo>
                <a:cubicBezTo>
                  <a:pt x="40237" y="14147"/>
                  <a:pt x="48173" y="5250"/>
                  <a:pt x="54144" y="-842"/>
                </a:cubicBezTo>
                <a:cubicBezTo>
                  <a:pt x="57431" y="-4208"/>
                  <a:pt x="60757" y="-7535"/>
                  <a:pt x="64364" y="-10540"/>
                </a:cubicBezTo>
                <a:close/>
                <a:moveTo>
                  <a:pt x="90454" y="166721"/>
                </a:moveTo>
                <a:cubicBezTo>
                  <a:pt x="100594" y="166721"/>
                  <a:pt x="109571" y="163915"/>
                  <a:pt x="118027" y="158305"/>
                </a:cubicBezTo>
                <a:cubicBezTo>
                  <a:pt x="134900" y="146522"/>
                  <a:pt x="139428" y="122957"/>
                  <a:pt x="129289" y="104441"/>
                </a:cubicBezTo>
                <a:cubicBezTo>
                  <a:pt x="127485" y="100834"/>
                  <a:pt x="122877" y="100594"/>
                  <a:pt x="120271" y="103639"/>
                </a:cubicBezTo>
                <a:lnTo>
                  <a:pt x="110172" y="115382"/>
                </a:lnTo>
                <a:cubicBezTo>
                  <a:pt x="107527" y="118428"/>
                  <a:pt x="102758" y="118348"/>
                  <a:pt x="100273" y="115182"/>
                </a:cubicBezTo>
                <a:cubicBezTo>
                  <a:pt x="93340" y="106325"/>
                  <a:pt x="80595" y="90174"/>
                  <a:pt x="74103" y="81918"/>
                </a:cubicBezTo>
                <a:cubicBezTo>
                  <a:pt x="71938" y="79152"/>
                  <a:pt x="68011" y="78712"/>
                  <a:pt x="65486" y="81156"/>
                </a:cubicBezTo>
                <a:cubicBezTo>
                  <a:pt x="58152" y="88290"/>
                  <a:pt x="44846" y="103920"/>
                  <a:pt x="44846" y="122957"/>
                </a:cubicBezTo>
                <a:cubicBezTo>
                  <a:pt x="44846" y="150450"/>
                  <a:pt x="65125" y="166721"/>
                  <a:pt x="90414" y="166721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872079" y="3112123"/>
            <a:ext cx="1846755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6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PyTorch Deep Learning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2987" y="3419916"/>
            <a:ext cx="5446216" cy="44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Industry-leading deep learning framework for model execution. Dynamic computational graphs enable flexible model architectures.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2987" y="3932903"/>
            <a:ext cx="1068724" cy="239394"/>
          </a:xfrm>
          <a:custGeom>
            <a:avLst/>
            <a:gdLst/>
            <a:ahLst/>
            <a:cxnLst/>
            <a:rect l="l" t="t" r="r" b="b"/>
            <a:pathLst>
              <a:path w="1068724" h="239394">
                <a:moveTo>
                  <a:pt x="119697" y="0"/>
                </a:moveTo>
                <a:lnTo>
                  <a:pt x="949027" y="0"/>
                </a:lnTo>
                <a:cubicBezTo>
                  <a:pt x="1015134" y="0"/>
                  <a:pt x="1068724" y="53590"/>
                  <a:pt x="1068724" y="119697"/>
                </a:cubicBezTo>
                <a:lnTo>
                  <a:pt x="1068724" y="119697"/>
                </a:lnTo>
                <a:cubicBezTo>
                  <a:pt x="1068724" y="185804"/>
                  <a:pt x="1015134" y="239394"/>
                  <a:pt x="949027" y="239394"/>
                </a:cubicBezTo>
                <a:lnTo>
                  <a:pt x="119697" y="239394"/>
                </a:lnTo>
                <a:cubicBezTo>
                  <a:pt x="53590" y="239394"/>
                  <a:pt x="0" y="185804"/>
                  <a:pt x="0" y="119697"/>
                </a:cubicBezTo>
                <a:lnTo>
                  <a:pt x="0" y="119697"/>
                </a:lnTo>
                <a:cubicBezTo>
                  <a:pt x="0" y="53590"/>
                  <a:pt x="53590" y="0"/>
                  <a:pt x="119697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12987" y="3932903"/>
            <a:ext cx="1128572" cy="239394"/>
          </a:xfrm>
          <a:prstGeom prst="rect">
            <a:avLst/>
          </a:prstGeom>
          <a:noFill/>
          <a:ln/>
        </p:spPr>
        <p:txBody>
          <a:bodyPr wrap="square" lIns="102597" tIns="34199" rIns="102597" bIns="34199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Graphs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646502" y="3932903"/>
            <a:ext cx="1077273" cy="239394"/>
          </a:xfrm>
          <a:custGeom>
            <a:avLst/>
            <a:gdLst/>
            <a:ahLst/>
            <a:cxnLst/>
            <a:rect l="l" t="t" r="r" b="b"/>
            <a:pathLst>
              <a:path w="1077273" h="239394">
                <a:moveTo>
                  <a:pt x="119697" y="0"/>
                </a:moveTo>
                <a:lnTo>
                  <a:pt x="957576" y="0"/>
                </a:lnTo>
                <a:cubicBezTo>
                  <a:pt x="1023683" y="0"/>
                  <a:pt x="1077273" y="53590"/>
                  <a:pt x="1077273" y="119697"/>
                </a:cubicBezTo>
                <a:lnTo>
                  <a:pt x="1077273" y="119697"/>
                </a:lnTo>
                <a:cubicBezTo>
                  <a:pt x="1077273" y="185804"/>
                  <a:pt x="1023683" y="239394"/>
                  <a:pt x="957576" y="239394"/>
                </a:cubicBezTo>
                <a:lnTo>
                  <a:pt x="119697" y="239394"/>
                </a:lnTo>
                <a:cubicBezTo>
                  <a:pt x="53590" y="239394"/>
                  <a:pt x="0" y="185804"/>
                  <a:pt x="0" y="119697"/>
                </a:cubicBezTo>
                <a:lnTo>
                  <a:pt x="0" y="119697"/>
                </a:lnTo>
                <a:cubicBezTo>
                  <a:pt x="0" y="53590"/>
                  <a:pt x="53590" y="0"/>
                  <a:pt x="119697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646502" y="3932903"/>
            <a:ext cx="1137122" cy="239394"/>
          </a:xfrm>
          <a:prstGeom prst="rect">
            <a:avLst/>
          </a:prstGeom>
          <a:noFill/>
          <a:ln/>
        </p:spPr>
        <p:txBody>
          <a:bodyPr wrap="square" lIns="102597" tIns="34199" rIns="102597" bIns="34199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GPU Accelerated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794846" y="3932903"/>
            <a:ext cx="1025975" cy="239394"/>
          </a:xfrm>
          <a:custGeom>
            <a:avLst/>
            <a:gdLst/>
            <a:ahLst/>
            <a:cxnLst/>
            <a:rect l="l" t="t" r="r" b="b"/>
            <a:pathLst>
              <a:path w="1025975" h="239394">
                <a:moveTo>
                  <a:pt x="119697" y="0"/>
                </a:moveTo>
                <a:lnTo>
                  <a:pt x="906278" y="0"/>
                </a:lnTo>
                <a:cubicBezTo>
                  <a:pt x="972385" y="0"/>
                  <a:pt x="1025975" y="53590"/>
                  <a:pt x="1025975" y="119697"/>
                </a:cubicBezTo>
                <a:lnTo>
                  <a:pt x="1025975" y="119697"/>
                </a:lnTo>
                <a:cubicBezTo>
                  <a:pt x="1025975" y="185804"/>
                  <a:pt x="972385" y="239394"/>
                  <a:pt x="906278" y="239394"/>
                </a:cubicBezTo>
                <a:lnTo>
                  <a:pt x="119697" y="239394"/>
                </a:lnTo>
                <a:cubicBezTo>
                  <a:pt x="53590" y="239394"/>
                  <a:pt x="0" y="185804"/>
                  <a:pt x="0" y="119697"/>
                </a:cubicBezTo>
                <a:lnTo>
                  <a:pt x="0" y="119697"/>
                </a:lnTo>
                <a:cubicBezTo>
                  <a:pt x="0" y="53590"/>
                  <a:pt x="53590" y="0"/>
                  <a:pt x="119697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794846" y="3932903"/>
            <a:ext cx="1085823" cy="239394"/>
          </a:xfrm>
          <a:prstGeom prst="rect">
            <a:avLst/>
          </a:prstGeom>
          <a:noFill/>
          <a:ln/>
        </p:spPr>
        <p:txBody>
          <a:bodyPr wrap="square" lIns="102597" tIns="34199" rIns="102597" bIns="34199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Eager Execution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59091" y="4411691"/>
            <a:ext cx="5668511" cy="1333767"/>
          </a:xfrm>
          <a:custGeom>
            <a:avLst/>
            <a:gdLst/>
            <a:ahLst/>
            <a:cxnLst/>
            <a:rect l="l" t="t" r="r" b="b"/>
            <a:pathLst>
              <a:path w="5668511" h="1333767">
                <a:moveTo>
                  <a:pt x="34199" y="0"/>
                </a:moveTo>
                <a:lnTo>
                  <a:pt x="5600115" y="0"/>
                </a:lnTo>
                <a:cubicBezTo>
                  <a:pt x="5637889" y="0"/>
                  <a:pt x="5668511" y="30622"/>
                  <a:pt x="5668511" y="68396"/>
                </a:cubicBezTo>
                <a:lnTo>
                  <a:pt x="5668511" y="1265372"/>
                </a:lnTo>
                <a:cubicBezTo>
                  <a:pt x="5668511" y="1303145"/>
                  <a:pt x="5637889" y="1333767"/>
                  <a:pt x="5600115" y="1333767"/>
                </a:cubicBezTo>
                <a:lnTo>
                  <a:pt x="34199" y="1333767"/>
                </a:lnTo>
                <a:cubicBezTo>
                  <a:pt x="15311" y="1333767"/>
                  <a:pt x="0" y="1318456"/>
                  <a:pt x="0" y="1299568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59091" y="4411691"/>
            <a:ext cx="34199" cy="1333767"/>
          </a:xfrm>
          <a:custGeom>
            <a:avLst/>
            <a:gdLst/>
            <a:ahLst/>
            <a:cxnLst/>
            <a:rect l="l" t="t" r="r" b="b"/>
            <a:pathLst>
              <a:path w="34199" h="1333767">
                <a:moveTo>
                  <a:pt x="34199" y="0"/>
                </a:moveTo>
                <a:lnTo>
                  <a:pt x="34199" y="0"/>
                </a:lnTo>
                <a:lnTo>
                  <a:pt x="34199" y="1333767"/>
                </a:lnTo>
                <a:lnTo>
                  <a:pt x="34199" y="1333767"/>
                </a:lnTo>
                <a:cubicBezTo>
                  <a:pt x="15311" y="1333767"/>
                  <a:pt x="0" y="1318456"/>
                  <a:pt x="0" y="1299568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30" name="Shape 28"/>
          <p:cNvSpPr/>
          <p:nvPr/>
        </p:nvSpPr>
        <p:spPr>
          <a:xfrm>
            <a:off x="538637" y="4565588"/>
            <a:ext cx="205195" cy="205195"/>
          </a:xfrm>
          <a:custGeom>
            <a:avLst/>
            <a:gdLst/>
            <a:ahLst/>
            <a:cxnLst/>
            <a:rect l="l" t="t" r="r" b="b"/>
            <a:pathLst>
              <a:path w="205195" h="205195">
                <a:moveTo>
                  <a:pt x="48093" y="22443"/>
                </a:moveTo>
                <a:cubicBezTo>
                  <a:pt x="48093" y="10059"/>
                  <a:pt x="58152" y="0"/>
                  <a:pt x="70536" y="0"/>
                </a:cubicBezTo>
                <a:lnTo>
                  <a:pt x="80154" y="0"/>
                </a:lnTo>
                <a:cubicBezTo>
                  <a:pt x="87248" y="0"/>
                  <a:pt x="92979" y="5731"/>
                  <a:pt x="92979" y="12825"/>
                </a:cubicBezTo>
                <a:lnTo>
                  <a:pt x="92979" y="192370"/>
                </a:lnTo>
                <a:cubicBezTo>
                  <a:pt x="92979" y="199464"/>
                  <a:pt x="87248" y="205195"/>
                  <a:pt x="80154" y="205195"/>
                </a:cubicBezTo>
                <a:lnTo>
                  <a:pt x="67330" y="205195"/>
                </a:lnTo>
                <a:cubicBezTo>
                  <a:pt x="55387" y="205195"/>
                  <a:pt x="45327" y="197019"/>
                  <a:pt x="42482" y="185958"/>
                </a:cubicBezTo>
                <a:cubicBezTo>
                  <a:pt x="42201" y="185958"/>
                  <a:pt x="41961" y="185958"/>
                  <a:pt x="41680" y="185958"/>
                </a:cubicBezTo>
                <a:cubicBezTo>
                  <a:pt x="23966" y="185958"/>
                  <a:pt x="9619" y="171610"/>
                  <a:pt x="9619" y="153896"/>
                </a:cubicBezTo>
                <a:cubicBezTo>
                  <a:pt x="9619" y="146682"/>
                  <a:pt x="12023" y="140030"/>
                  <a:pt x="16031" y="134659"/>
                </a:cubicBezTo>
                <a:cubicBezTo>
                  <a:pt x="8256" y="128808"/>
                  <a:pt x="3206" y="119510"/>
                  <a:pt x="3206" y="109010"/>
                </a:cubicBezTo>
                <a:cubicBezTo>
                  <a:pt x="3206" y="96626"/>
                  <a:pt x="10260" y="85845"/>
                  <a:pt x="20519" y="80515"/>
                </a:cubicBezTo>
                <a:cubicBezTo>
                  <a:pt x="17674" y="75706"/>
                  <a:pt x="16031" y="70095"/>
                  <a:pt x="16031" y="64123"/>
                </a:cubicBezTo>
                <a:cubicBezTo>
                  <a:pt x="16031" y="46409"/>
                  <a:pt x="30378" y="32062"/>
                  <a:pt x="48093" y="32062"/>
                </a:cubicBezTo>
                <a:lnTo>
                  <a:pt x="48093" y="22443"/>
                </a:lnTo>
                <a:close/>
                <a:moveTo>
                  <a:pt x="157102" y="22443"/>
                </a:moveTo>
                <a:lnTo>
                  <a:pt x="157102" y="32062"/>
                </a:lnTo>
                <a:cubicBezTo>
                  <a:pt x="174816" y="32062"/>
                  <a:pt x="189164" y="46409"/>
                  <a:pt x="189164" y="64123"/>
                </a:cubicBezTo>
                <a:cubicBezTo>
                  <a:pt x="189164" y="70135"/>
                  <a:pt x="187521" y="75746"/>
                  <a:pt x="184675" y="80515"/>
                </a:cubicBezTo>
                <a:cubicBezTo>
                  <a:pt x="194975" y="85845"/>
                  <a:pt x="201989" y="96586"/>
                  <a:pt x="201989" y="109010"/>
                </a:cubicBezTo>
                <a:cubicBezTo>
                  <a:pt x="201989" y="119510"/>
                  <a:pt x="196939" y="128808"/>
                  <a:pt x="189164" y="134659"/>
                </a:cubicBezTo>
                <a:cubicBezTo>
                  <a:pt x="193172" y="140030"/>
                  <a:pt x="195576" y="146682"/>
                  <a:pt x="195576" y="153896"/>
                </a:cubicBezTo>
                <a:cubicBezTo>
                  <a:pt x="195576" y="171610"/>
                  <a:pt x="181229" y="185958"/>
                  <a:pt x="163515" y="185958"/>
                </a:cubicBezTo>
                <a:cubicBezTo>
                  <a:pt x="163234" y="185958"/>
                  <a:pt x="162994" y="185958"/>
                  <a:pt x="162713" y="185958"/>
                </a:cubicBezTo>
                <a:cubicBezTo>
                  <a:pt x="159868" y="197019"/>
                  <a:pt x="149808" y="205195"/>
                  <a:pt x="137865" y="205195"/>
                </a:cubicBezTo>
                <a:lnTo>
                  <a:pt x="125041" y="205195"/>
                </a:lnTo>
                <a:cubicBezTo>
                  <a:pt x="117947" y="205195"/>
                  <a:pt x="112216" y="199464"/>
                  <a:pt x="112216" y="192370"/>
                </a:cubicBezTo>
                <a:lnTo>
                  <a:pt x="112216" y="12825"/>
                </a:lnTo>
                <a:cubicBezTo>
                  <a:pt x="112216" y="5731"/>
                  <a:pt x="117947" y="0"/>
                  <a:pt x="125041" y="0"/>
                </a:cubicBezTo>
                <a:lnTo>
                  <a:pt x="134659" y="0"/>
                </a:lnTo>
                <a:cubicBezTo>
                  <a:pt x="147043" y="0"/>
                  <a:pt x="157102" y="10059"/>
                  <a:pt x="157102" y="22443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31" name="Text 29"/>
          <p:cNvSpPr/>
          <p:nvPr/>
        </p:nvSpPr>
        <p:spPr>
          <a:xfrm>
            <a:off x="872079" y="4548488"/>
            <a:ext cx="2188746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6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Hugging Face Transformers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2987" y="4856281"/>
            <a:ext cx="5446216" cy="44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State-of-the-art pre-trained models and pipelines for image classification. Access to cutting-edge vision transformers.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2987" y="5369268"/>
            <a:ext cx="795130" cy="239394"/>
          </a:xfrm>
          <a:custGeom>
            <a:avLst/>
            <a:gdLst/>
            <a:ahLst/>
            <a:cxnLst/>
            <a:rect l="l" t="t" r="r" b="b"/>
            <a:pathLst>
              <a:path w="795130" h="239394">
                <a:moveTo>
                  <a:pt x="119697" y="0"/>
                </a:moveTo>
                <a:lnTo>
                  <a:pt x="675433" y="0"/>
                </a:lnTo>
                <a:cubicBezTo>
                  <a:pt x="741540" y="0"/>
                  <a:pt x="795130" y="53590"/>
                  <a:pt x="795130" y="119697"/>
                </a:cubicBezTo>
                <a:lnTo>
                  <a:pt x="795130" y="119697"/>
                </a:lnTo>
                <a:cubicBezTo>
                  <a:pt x="795130" y="185804"/>
                  <a:pt x="741540" y="239394"/>
                  <a:pt x="675433" y="239394"/>
                </a:cubicBezTo>
                <a:lnTo>
                  <a:pt x="119697" y="239394"/>
                </a:lnTo>
                <a:cubicBezTo>
                  <a:pt x="53590" y="239394"/>
                  <a:pt x="0" y="185804"/>
                  <a:pt x="0" y="119697"/>
                </a:cubicBezTo>
                <a:lnTo>
                  <a:pt x="0" y="119697"/>
                </a:lnTo>
                <a:cubicBezTo>
                  <a:pt x="0" y="53590"/>
                  <a:pt x="53590" y="0"/>
                  <a:pt x="119697" y="0"/>
                </a:cubicBezTo>
                <a:close/>
              </a:path>
            </a:pathLst>
          </a:custGeom>
          <a:solidFill>
            <a:srgbClr val="9CA3AF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12987" y="5369268"/>
            <a:ext cx="854979" cy="239394"/>
          </a:xfrm>
          <a:prstGeom prst="rect">
            <a:avLst/>
          </a:prstGeom>
          <a:noFill/>
          <a:ln/>
        </p:spPr>
        <p:txBody>
          <a:bodyPr wrap="square" lIns="102597" tIns="34199" rIns="102597" bIns="34199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Pre-trained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375514" y="5369268"/>
            <a:ext cx="1239719" cy="239394"/>
          </a:xfrm>
          <a:custGeom>
            <a:avLst/>
            <a:gdLst/>
            <a:ahLst/>
            <a:cxnLst/>
            <a:rect l="l" t="t" r="r" b="b"/>
            <a:pathLst>
              <a:path w="1239719" h="239394">
                <a:moveTo>
                  <a:pt x="119697" y="0"/>
                </a:moveTo>
                <a:lnTo>
                  <a:pt x="1120022" y="0"/>
                </a:lnTo>
                <a:cubicBezTo>
                  <a:pt x="1186129" y="0"/>
                  <a:pt x="1239719" y="53590"/>
                  <a:pt x="1239719" y="119697"/>
                </a:cubicBezTo>
                <a:lnTo>
                  <a:pt x="1239719" y="119697"/>
                </a:lnTo>
                <a:cubicBezTo>
                  <a:pt x="1239719" y="185804"/>
                  <a:pt x="1186129" y="239394"/>
                  <a:pt x="1120022" y="239394"/>
                </a:cubicBezTo>
                <a:lnTo>
                  <a:pt x="119697" y="239394"/>
                </a:lnTo>
                <a:cubicBezTo>
                  <a:pt x="53590" y="239394"/>
                  <a:pt x="0" y="185804"/>
                  <a:pt x="0" y="119697"/>
                </a:cubicBezTo>
                <a:lnTo>
                  <a:pt x="0" y="119697"/>
                </a:lnTo>
                <a:cubicBezTo>
                  <a:pt x="0" y="53590"/>
                  <a:pt x="53590" y="0"/>
                  <a:pt x="119697" y="0"/>
                </a:cubicBezTo>
                <a:close/>
              </a:path>
            </a:pathLst>
          </a:custGeom>
          <a:solidFill>
            <a:srgbClr val="9CA3AF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375514" y="5369268"/>
            <a:ext cx="1299568" cy="239394"/>
          </a:xfrm>
          <a:prstGeom prst="rect">
            <a:avLst/>
          </a:prstGeom>
          <a:noFill/>
          <a:ln/>
        </p:spPr>
        <p:txBody>
          <a:bodyPr wrap="square" lIns="102597" tIns="34199" rIns="102597" bIns="34199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Vision Transformers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684768" y="5369268"/>
            <a:ext cx="1025975" cy="239394"/>
          </a:xfrm>
          <a:custGeom>
            <a:avLst/>
            <a:gdLst/>
            <a:ahLst/>
            <a:cxnLst/>
            <a:rect l="l" t="t" r="r" b="b"/>
            <a:pathLst>
              <a:path w="1025975" h="239394">
                <a:moveTo>
                  <a:pt x="119697" y="0"/>
                </a:moveTo>
                <a:lnTo>
                  <a:pt x="906278" y="0"/>
                </a:lnTo>
                <a:cubicBezTo>
                  <a:pt x="972385" y="0"/>
                  <a:pt x="1025975" y="53590"/>
                  <a:pt x="1025975" y="119697"/>
                </a:cubicBezTo>
                <a:lnTo>
                  <a:pt x="1025975" y="119697"/>
                </a:lnTo>
                <a:cubicBezTo>
                  <a:pt x="1025975" y="185804"/>
                  <a:pt x="972385" y="239394"/>
                  <a:pt x="906278" y="239394"/>
                </a:cubicBezTo>
                <a:lnTo>
                  <a:pt x="119697" y="239394"/>
                </a:lnTo>
                <a:cubicBezTo>
                  <a:pt x="53590" y="239394"/>
                  <a:pt x="0" y="185804"/>
                  <a:pt x="0" y="119697"/>
                </a:cubicBezTo>
                <a:lnTo>
                  <a:pt x="0" y="119697"/>
                </a:lnTo>
                <a:cubicBezTo>
                  <a:pt x="0" y="53590"/>
                  <a:pt x="53590" y="0"/>
                  <a:pt x="119697" y="0"/>
                </a:cubicBezTo>
                <a:close/>
              </a:path>
            </a:pathLst>
          </a:custGeom>
          <a:solidFill>
            <a:srgbClr val="9CA3AF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2684768" y="5369268"/>
            <a:ext cx="1085823" cy="239394"/>
          </a:xfrm>
          <a:prstGeom prst="rect">
            <a:avLst/>
          </a:prstGeom>
          <a:noFill/>
          <a:ln/>
        </p:spPr>
        <p:txBody>
          <a:bodyPr wrap="square" lIns="102597" tIns="34199" rIns="102597" bIns="34199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Integration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80496" y="1538962"/>
            <a:ext cx="5668511" cy="1333767"/>
          </a:xfrm>
          <a:custGeom>
            <a:avLst/>
            <a:gdLst/>
            <a:ahLst/>
            <a:cxnLst/>
            <a:rect l="l" t="t" r="r" b="b"/>
            <a:pathLst>
              <a:path w="5668511" h="1333767">
                <a:moveTo>
                  <a:pt x="34199" y="0"/>
                </a:moveTo>
                <a:lnTo>
                  <a:pt x="5600115" y="0"/>
                </a:lnTo>
                <a:cubicBezTo>
                  <a:pt x="5637889" y="0"/>
                  <a:pt x="5668511" y="30622"/>
                  <a:pt x="5668511" y="68396"/>
                </a:cubicBezTo>
                <a:lnTo>
                  <a:pt x="5668511" y="1265372"/>
                </a:lnTo>
                <a:cubicBezTo>
                  <a:pt x="5668511" y="1303145"/>
                  <a:pt x="5637889" y="1333767"/>
                  <a:pt x="5600115" y="1333767"/>
                </a:cubicBezTo>
                <a:lnTo>
                  <a:pt x="34199" y="1333767"/>
                </a:lnTo>
                <a:cubicBezTo>
                  <a:pt x="15311" y="1333767"/>
                  <a:pt x="0" y="1318456"/>
                  <a:pt x="0" y="1299568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180496" y="1538962"/>
            <a:ext cx="34199" cy="1333767"/>
          </a:xfrm>
          <a:custGeom>
            <a:avLst/>
            <a:gdLst/>
            <a:ahLst/>
            <a:cxnLst/>
            <a:rect l="l" t="t" r="r" b="b"/>
            <a:pathLst>
              <a:path w="34199" h="1333767">
                <a:moveTo>
                  <a:pt x="34199" y="0"/>
                </a:moveTo>
                <a:lnTo>
                  <a:pt x="34199" y="0"/>
                </a:lnTo>
                <a:lnTo>
                  <a:pt x="34199" y="1333767"/>
                </a:lnTo>
                <a:lnTo>
                  <a:pt x="34199" y="1333767"/>
                </a:lnTo>
                <a:cubicBezTo>
                  <a:pt x="15311" y="1333767"/>
                  <a:pt x="0" y="1318456"/>
                  <a:pt x="0" y="1299568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41" name="Shape 39"/>
          <p:cNvSpPr/>
          <p:nvPr/>
        </p:nvSpPr>
        <p:spPr>
          <a:xfrm>
            <a:off x="6347217" y="1692858"/>
            <a:ext cx="230844" cy="205195"/>
          </a:xfrm>
          <a:custGeom>
            <a:avLst/>
            <a:gdLst/>
            <a:ahLst/>
            <a:cxnLst/>
            <a:rect l="l" t="t" r="r" b="b"/>
            <a:pathLst>
              <a:path w="230844" h="205195">
                <a:moveTo>
                  <a:pt x="38474" y="25649"/>
                </a:moveTo>
                <a:cubicBezTo>
                  <a:pt x="24327" y="25649"/>
                  <a:pt x="12825" y="37152"/>
                  <a:pt x="12825" y="51299"/>
                </a:cubicBezTo>
                <a:lnTo>
                  <a:pt x="12825" y="153896"/>
                </a:lnTo>
                <a:cubicBezTo>
                  <a:pt x="12825" y="168043"/>
                  <a:pt x="24327" y="179546"/>
                  <a:pt x="38474" y="179546"/>
                </a:cubicBezTo>
                <a:lnTo>
                  <a:pt x="141072" y="179546"/>
                </a:lnTo>
                <a:cubicBezTo>
                  <a:pt x="155219" y="179546"/>
                  <a:pt x="166721" y="168043"/>
                  <a:pt x="166721" y="153896"/>
                </a:cubicBezTo>
                <a:lnTo>
                  <a:pt x="166721" y="51299"/>
                </a:lnTo>
                <a:cubicBezTo>
                  <a:pt x="166721" y="37152"/>
                  <a:pt x="155219" y="25649"/>
                  <a:pt x="141072" y="25649"/>
                </a:cubicBezTo>
                <a:lnTo>
                  <a:pt x="38474" y="25649"/>
                </a:lnTo>
                <a:close/>
                <a:moveTo>
                  <a:pt x="185958" y="134659"/>
                </a:moveTo>
                <a:lnTo>
                  <a:pt x="215415" y="158225"/>
                </a:lnTo>
                <a:cubicBezTo>
                  <a:pt x="217098" y="159587"/>
                  <a:pt x="219182" y="160309"/>
                  <a:pt x="221346" y="160309"/>
                </a:cubicBezTo>
                <a:cubicBezTo>
                  <a:pt x="226596" y="160309"/>
                  <a:pt x="230844" y="156060"/>
                  <a:pt x="230844" y="150810"/>
                </a:cubicBezTo>
                <a:lnTo>
                  <a:pt x="230844" y="54385"/>
                </a:lnTo>
                <a:cubicBezTo>
                  <a:pt x="230844" y="49135"/>
                  <a:pt x="226596" y="44886"/>
                  <a:pt x="221346" y="44886"/>
                </a:cubicBezTo>
                <a:cubicBezTo>
                  <a:pt x="219182" y="44886"/>
                  <a:pt x="217098" y="45608"/>
                  <a:pt x="215415" y="46970"/>
                </a:cubicBezTo>
                <a:lnTo>
                  <a:pt x="185958" y="70536"/>
                </a:lnTo>
                <a:lnTo>
                  <a:pt x="185958" y="134659"/>
                </a:ln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42" name="Text 40"/>
          <p:cNvSpPr/>
          <p:nvPr/>
        </p:nvSpPr>
        <p:spPr>
          <a:xfrm>
            <a:off x="6693483" y="1675759"/>
            <a:ext cx="2077599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6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OpenCV Video Processing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34392" y="1983551"/>
            <a:ext cx="5446216" cy="44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Industry-standard computer vision library for video frame extraction and pre-processing. Optimized for real-time performance.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34392" y="2496539"/>
            <a:ext cx="1077273" cy="239394"/>
          </a:xfrm>
          <a:custGeom>
            <a:avLst/>
            <a:gdLst/>
            <a:ahLst/>
            <a:cxnLst/>
            <a:rect l="l" t="t" r="r" b="b"/>
            <a:pathLst>
              <a:path w="1077273" h="239394">
                <a:moveTo>
                  <a:pt x="119697" y="0"/>
                </a:moveTo>
                <a:lnTo>
                  <a:pt x="957576" y="0"/>
                </a:lnTo>
                <a:cubicBezTo>
                  <a:pt x="1023683" y="0"/>
                  <a:pt x="1077273" y="53590"/>
                  <a:pt x="1077273" y="119697"/>
                </a:cubicBezTo>
                <a:lnTo>
                  <a:pt x="1077273" y="119697"/>
                </a:lnTo>
                <a:cubicBezTo>
                  <a:pt x="1077273" y="185804"/>
                  <a:pt x="1023683" y="239394"/>
                  <a:pt x="957576" y="239394"/>
                </a:cubicBezTo>
                <a:lnTo>
                  <a:pt x="119697" y="239394"/>
                </a:lnTo>
                <a:cubicBezTo>
                  <a:pt x="53590" y="239394"/>
                  <a:pt x="0" y="185804"/>
                  <a:pt x="0" y="119697"/>
                </a:cubicBezTo>
                <a:lnTo>
                  <a:pt x="0" y="119697"/>
                </a:lnTo>
                <a:cubicBezTo>
                  <a:pt x="0" y="53590"/>
                  <a:pt x="53590" y="0"/>
                  <a:pt x="119697" y="0"/>
                </a:cubicBezTo>
                <a:close/>
              </a:path>
            </a:pathLst>
          </a:custGeom>
          <a:solidFill>
            <a:srgbClr val="9CA3AF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334392" y="2496539"/>
            <a:ext cx="1137122" cy="239394"/>
          </a:xfrm>
          <a:prstGeom prst="rect">
            <a:avLst/>
          </a:prstGeom>
          <a:noFill/>
          <a:ln/>
        </p:spPr>
        <p:txBody>
          <a:bodyPr wrap="square" lIns="102597" tIns="34199" rIns="102597" bIns="34199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 Extraction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482736" y="2496539"/>
            <a:ext cx="880628" cy="239394"/>
          </a:xfrm>
          <a:custGeom>
            <a:avLst/>
            <a:gdLst/>
            <a:ahLst/>
            <a:cxnLst/>
            <a:rect l="l" t="t" r="r" b="b"/>
            <a:pathLst>
              <a:path w="880628" h="239394">
                <a:moveTo>
                  <a:pt x="119697" y="0"/>
                </a:moveTo>
                <a:lnTo>
                  <a:pt x="760931" y="0"/>
                </a:lnTo>
                <a:cubicBezTo>
                  <a:pt x="827038" y="0"/>
                  <a:pt x="880628" y="53590"/>
                  <a:pt x="880628" y="119697"/>
                </a:cubicBezTo>
                <a:lnTo>
                  <a:pt x="880628" y="119697"/>
                </a:lnTo>
                <a:cubicBezTo>
                  <a:pt x="880628" y="185804"/>
                  <a:pt x="827038" y="239394"/>
                  <a:pt x="760931" y="239394"/>
                </a:cubicBezTo>
                <a:lnTo>
                  <a:pt x="119697" y="239394"/>
                </a:lnTo>
                <a:cubicBezTo>
                  <a:pt x="53590" y="239394"/>
                  <a:pt x="0" y="185804"/>
                  <a:pt x="0" y="119697"/>
                </a:cubicBezTo>
                <a:lnTo>
                  <a:pt x="0" y="119697"/>
                </a:lnTo>
                <a:cubicBezTo>
                  <a:pt x="0" y="53590"/>
                  <a:pt x="53590" y="0"/>
                  <a:pt x="119697" y="0"/>
                </a:cubicBezTo>
                <a:close/>
              </a:path>
            </a:pathLst>
          </a:custGeom>
          <a:solidFill>
            <a:srgbClr val="9CA3AF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482736" y="2496539"/>
            <a:ext cx="940477" cy="239394"/>
          </a:xfrm>
          <a:prstGeom prst="rect">
            <a:avLst/>
          </a:prstGeom>
          <a:noFill/>
          <a:ln/>
        </p:spPr>
        <p:txBody>
          <a:bodyPr wrap="square" lIns="102597" tIns="34199" rIns="102597" bIns="34199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GPU Support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427888" y="2496539"/>
            <a:ext cx="709633" cy="239394"/>
          </a:xfrm>
          <a:custGeom>
            <a:avLst/>
            <a:gdLst/>
            <a:ahLst/>
            <a:cxnLst/>
            <a:rect l="l" t="t" r="r" b="b"/>
            <a:pathLst>
              <a:path w="709633" h="239394">
                <a:moveTo>
                  <a:pt x="119697" y="0"/>
                </a:moveTo>
                <a:lnTo>
                  <a:pt x="589935" y="0"/>
                </a:lnTo>
                <a:cubicBezTo>
                  <a:pt x="656042" y="0"/>
                  <a:pt x="709633" y="53590"/>
                  <a:pt x="709633" y="119697"/>
                </a:cubicBezTo>
                <a:lnTo>
                  <a:pt x="709633" y="119697"/>
                </a:lnTo>
                <a:cubicBezTo>
                  <a:pt x="709633" y="185804"/>
                  <a:pt x="656042" y="239394"/>
                  <a:pt x="589935" y="239394"/>
                </a:cubicBezTo>
                <a:lnTo>
                  <a:pt x="119697" y="239394"/>
                </a:lnTo>
                <a:cubicBezTo>
                  <a:pt x="53590" y="239394"/>
                  <a:pt x="0" y="185804"/>
                  <a:pt x="0" y="119697"/>
                </a:cubicBezTo>
                <a:lnTo>
                  <a:pt x="0" y="119697"/>
                </a:lnTo>
                <a:cubicBezTo>
                  <a:pt x="0" y="53590"/>
                  <a:pt x="53590" y="0"/>
                  <a:pt x="119697" y="0"/>
                </a:cubicBezTo>
                <a:close/>
              </a:path>
            </a:pathLst>
          </a:custGeom>
          <a:solidFill>
            <a:srgbClr val="9CA3AF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427888" y="2496539"/>
            <a:ext cx="769481" cy="239394"/>
          </a:xfrm>
          <a:prstGeom prst="rect">
            <a:avLst/>
          </a:prstGeom>
          <a:noFill/>
          <a:ln/>
        </p:spPr>
        <p:txBody>
          <a:bodyPr wrap="square" lIns="102597" tIns="34199" rIns="102597" bIns="34199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80496" y="2975327"/>
            <a:ext cx="5668511" cy="1333767"/>
          </a:xfrm>
          <a:custGeom>
            <a:avLst/>
            <a:gdLst/>
            <a:ahLst/>
            <a:cxnLst/>
            <a:rect l="l" t="t" r="r" b="b"/>
            <a:pathLst>
              <a:path w="5668511" h="1333767">
                <a:moveTo>
                  <a:pt x="34199" y="0"/>
                </a:moveTo>
                <a:lnTo>
                  <a:pt x="5600115" y="0"/>
                </a:lnTo>
                <a:cubicBezTo>
                  <a:pt x="5637889" y="0"/>
                  <a:pt x="5668511" y="30622"/>
                  <a:pt x="5668511" y="68396"/>
                </a:cubicBezTo>
                <a:lnTo>
                  <a:pt x="5668511" y="1265372"/>
                </a:lnTo>
                <a:cubicBezTo>
                  <a:pt x="5668511" y="1303145"/>
                  <a:pt x="5637889" y="1333767"/>
                  <a:pt x="5600115" y="1333767"/>
                </a:cubicBezTo>
                <a:lnTo>
                  <a:pt x="34199" y="1333767"/>
                </a:lnTo>
                <a:cubicBezTo>
                  <a:pt x="15311" y="1333767"/>
                  <a:pt x="0" y="1318456"/>
                  <a:pt x="0" y="1299568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180496" y="2975327"/>
            <a:ext cx="34199" cy="1333767"/>
          </a:xfrm>
          <a:custGeom>
            <a:avLst/>
            <a:gdLst/>
            <a:ahLst/>
            <a:cxnLst/>
            <a:rect l="l" t="t" r="r" b="b"/>
            <a:pathLst>
              <a:path w="34199" h="1333767">
                <a:moveTo>
                  <a:pt x="34199" y="0"/>
                </a:moveTo>
                <a:lnTo>
                  <a:pt x="34199" y="0"/>
                </a:lnTo>
                <a:lnTo>
                  <a:pt x="34199" y="1333767"/>
                </a:lnTo>
                <a:lnTo>
                  <a:pt x="34199" y="1333767"/>
                </a:lnTo>
                <a:cubicBezTo>
                  <a:pt x="15311" y="1333767"/>
                  <a:pt x="0" y="1318456"/>
                  <a:pt x="0" y="1299568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52" name="Shape 50"/>
          <p:cNvSpPr/>
          <p:nvPr/>
        </p:nvSpPr>
        <p:spPr>
          <a:xfrm>
            <a:off x="6360042" y="3129223"/>
            <a:ext cx="205195" cy="205195"/>
          </a:xfrm>
          <a:custGeom>
            <a:avLst/>
            <a:gdLst/>
            <a:ahLst/>
            <a:cxnLst/>
            <a:rect l="l" t="t" r="r" b="b"/>
            <a:pathLst>
              <a:path w="205195" h="205195">
                <a:moveTo>
                  <a:pt x="25649" y="38474"/>
                </a:moveTo>
                <a:cubicBezTo>
                  <a:pt x="25649" y="31380"/>
                  <a:pt x="31380" y="25649"/>
                  <a:pt x="38474" y="25649"/>
                </a:cubicBezTo>
                <a:lnTo>
                  <a:pt x="102597" y="25649"/>
                </a:lnTo>
                <a:cubicBezTo>
                  <a:pt x="109691" y="25649"/>
                  <a:pt x="115422" y="31380"/>
                  <a:pt x="115422" y="38474"/>
                </a:cubicBezTo>
                <a:lnTo>
                  <a:pt x="115422" y="153896"/>
                </a:lnTo>
                <a:lnTo>
                  <a:pt x="153896" y="153896"/>
                </a:lnTo>
                <a:lnTo>
                  <a:pt x="153896" y="102597"/>
                </a:lnTo>
                <a:cubicBezTo>
                  <a:pt x="153896" y="95504"/>
                  <a:pt x="159627" y="89773"/>
                  <a:pt x="166721" y="89773"/>
                </a:cubicBezTo>
                <a:lnTo>
                  <a:pt x="192370" y="89773"/>
                </a:lnTo>
                <a:cubicBezTo>
                  <a:pt x="199464" y="89773"/>
                  <a:pt x="205195" y="95504"/>
                  <a:pt x="205195" y="102597"/>
                </a:cubicBezTo>
                <a:cubicBezTo>
                  <a:pt x="205195" y="109691"/>
                  <a:pt x="199464" y="115422"/>
                  <a:pt x="192370" y="115422"/>
                </a:cubicBezTo>
                <a:lnTo>
                  <a:pt x="179546" y="115422"/>
                </a:lnTo>
                <a:lnTo>
                  <a:pt x="179546" y="166721"/>
                </a:lnTo>
                <a:cubicBezTo>
                  <a:pt x="179546" y="173815"/>
                  <a:pt x="173815" y="179546"/>
                  <a:pt x="166721" y="179546"/>
                </a:cubicBezTo>
                <a:lnTo>
                  <a:pt x="102597" y="179546"/>
                </a:lnTo>
                <a:cubicBezTo>
                  <a:pt x="95504" y="179546"/>
                  <a:pt x="89773" y="173815"/>
                  <a:pt x="89773" y="166721"/>
                </a:cubicBezTo>
                <a:lnTo>
                  <a:pt x="89773" y="51299"/>
                </a:lnTo>
                <a:lnTo>
                  <a:pt x="51299" y="51299"/>
                </a:lnTo>
                <a:lnTo>
                  <a:pt x="51299" y="102597"/>
                </a:lnTo>
                <a:cubicBezTo>
                  <a:pt x="51299" y="109691"/>
                  <a:pt x="45568" y="115422"/>
                  <a:pt x="38474" y="115422"/>
                </a:cubicBezTo>
                <a:lnTo>
                  <a:pt x="12825" y="115422"/>
                </a:lnTo>
                <a:cubicBezTo>
                  <a:pt x="5731" y="115422"/>
                  <a:pt x="0" y="109691"/>
                  <a:pt x="0" y="102597"/>
                </a:cubicBezTo>
                <a:cubicBezTo>
                  <a:pt x="0" y="95504"/>
                  <a:pt x="5731" y="89773"/>
                  <a:pt x="12825" y="89773"/>
                </a:cubicBezTo>
                <a:lnTo>
                  <a:pt x="25649" y="89773"/>
                </a:lnTo>
                <a:lnTo>
                  <a:pt x="25649" y="38474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53" name="Text 51"/>
          <p:cNvSpPr/>
          <p:nvPr/>
        </p:nvSpPr>
        <p:spPr>
          <a:xfrm>
            <a:off x="6693483" y="3112123"/>
            <a:ext cx="2128898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6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NumPy/SciPy FFT Analysis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334392" y="3419916"/>
            <a:ext cx="5446216" cy="44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frequency domain analysis using Fast Fourier Transform. Detects unnatural frequency patterns indicative of AI generation.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34392" y="3932903"/>
            <a:ext cx="837879" cy="239394"/>
          </a:xfrm>
          <a:custGeom>
            <a:avLst/>
            <a:gdLst/>
            <a:ahLst/>
            <a:cxnLst/>
            <a:rect l="l" t="t" r="r" b="b"/>
            <a:pathLst>
              <a:path w="837879" h="239394">
                <a:moveTo>
                  <a:pt x="119697" y="0"/>
                </a:moveTo>
                <a:lnTo>
                  <a:pt x="718182" y="0"/>
                </a:lnTo>
                <a:cubicBezTo>
                  <a:pt x="784289" y="0"/>
                  <a:pt x="837879" y="53590"/>
                  <a:pt x="837879" y="119697"/>
                </a:cubicBezTo>
                <a:lnTo>
                  <a:pt x="837879" y="119697"/>
                </a:lnTo>
                <a:cubicBezTo>
                  <a:pt x="837879" y="185804"/>
                  <a:pt x="784289" y="239394"/>
                  <a:pt x="718182" y="239394"/>
                </a:cubicBezTo>
                <a:lnTo>
                  <a:pt x="119697" y="239394"/>
                </a:lnTo>
                <a:cubicBezTo>
                  <a:pt x="53590" y="239394"/>
                  <a:pt x="0" y="185804"/>
                  <a:pt x="0" y="119697"/>
                </a:cubicBezTo>
                <a:lnTo>
                  <a:pt x="0" y="119697"/>
                </a:lnTo>
                <a:cubicBezTo>
                  <a:pt x="0" y="53590"/>
                  <a:pt x="53590" y="0"/>
                  <a:pt x="119697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334392" y="3932903"/>
            <a:ext cx="897728" cy="239394"/>
          </a:xfrm>
          <a:prstGeom prst="rect">
            <a:avLst/>
          </a:prstGeom>
          <a:noFill/>
          <a:ln/>
        </p:spPr>
        <p:txBody>
          <a:bodyPr wrap="square" lIns="102597" tIns="34199" rIns="102597" bIns="34199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FFT Analysis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241004" y="3932903"/>
            <a:ext cx="1094373" cy="239394"/>
          </a:xfrm>
          <a:custGeom>
            <a:avLst/>
            <a:gdLst/>
            <a:ahLst/>
            <a:cxnLst/>
            <a:rect l="l" t="t" r="r" b="b"/>
            <a:pathLst>
              <a:path w="1094373" h="239394">
                <a:moveTo>
                  <a:pt x="119697" y="0"/>
                </a:moveTo>
                <a:lnTo>
                  <a:pt x="974676" y="0"/>
                </a:lnTo>
                <a:cubicBezTo>
                  <a:pt x="1040783" y="0"/>
                  <a:pt x="1094373" y="53590"/>
                  <a:pt x="1094373" y="119697"/>
                </a:cubicBezTo>
                <a:lnTo>
                  <a:pt x="1094373" y="119697"/>
                </a:lnTo>
                <a:cubicBezTo>
                  <a:pt x="1094373" y="185804"/>
                  <a:pt x="1040783" y="239394"/>
                  <a:pt x="974676" y="239394"/>
                </a:cubicBezTo>
                <a:lnTo>
                  <a:pt x="119697" y="239394"/>
                </a:lnTo>
                <a:cubicBezTo>
                  <a:pt x="53590" y="239394"/>
                  <a:pt x="0" y="185804"/>
                  <a:pt x="0" y="119697"/>
                </a:cubicBezTo>
                <a:lnTo>
                  <a:pt x="0" y="119697"/>
                </a:lnTo>
                <a:cubicBezTo>
                  <a:pt x="0" y="53590"/>
                  <a:pt x="53590" y="0"/>
                  <a:pt x="119697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7241004" y="3932903"/>
            <a:ext cx="1154222" cy="239394"/>
          </a:xfrm>
          <a:prstGeom prst="rect">
            <a:avLst/>
          </a:prstGeom>
          <a:noFill/>
          <a:ln/>
        </p:spPr>
        <p:txBody>
          <a:bodyPr wrap="square" lIns="102597" tIns="34199" rIns="102597" bIns="34199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Signal Processing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404710" y="3932903"/>
            <a:ext cx="760931" cy="239394"/>
          </a:xfrm>
          <a:custGeom>
            <a:avLst/>
            <a:gdLst/>
            <a:ahLst/>
            <a:cxnLst/>
            <a:rect l="l" t="t" r="r" b="b"/>
            <a:pathLst>
              <a:path w="760931" h="239394">
                <a:moveTo>
                  <a:pt x="119697" y="0"/>
                </a:moveTo>
                <a:lnTo>
                  <a:pt x="641234" y="0"/>
                </a:lnTo>
                <a:cubicBezTo>
                  <a:pt x="707341" y="0"/>
                  <a:pt x="760931" y="53590"/>
                  <a:pt x="760931" y="119697"/>
                </a:cubicBezTo>
                <a:lnTo>
                  <a:pt x="760931" y="119697"/>
                </a:lnTo>
                <a:cubicBezTo>
                  <a:pt x="760931" y="185804"/>
                  <a:pt x="707341" y="239394"/>
                  <a:pt x="641234" y="239394"/>
                </a:cubicBezTo>
                <a:lnTo>
                  <a:pt x="119697" y="239394"/>
                </a:lnTo>
                <a:cubicBezTo>
                  <a:pt x="53590" y="239394"/>
                  <a:pt x="0" y="185804"/>
                  <a:pt x="0" y="119697"/>
                </a:cubicBezTo>
                <a:lnTo>
                  <a:pt x="0" y="119697"/>
                </a:lnTo>
                <a:cubicBezTo>
                  <a:pt x="0" y="53590"/>
                  <a:pt x="53590" y="0"/>
                  <a:pt x="119697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8404710" y="3932903"/>
            <a:ext cx="820780" cy="239394"/>
          </a:xfrm>
          <a:prstGeom prst="rect">
            <a:avLst/>
          </a:prstGeom>
          <a:noFill/>
          <a:ln/>
        </p:spPr>
        <p:txBody>
          <a:bodyPr wrap="square" lIns="102597" tIns="34199" rIns="102597" bIns="34199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Vectorized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180496" y="4411691"/>
            <a:ext cx="5668511" cy="1333767"/>
          </a:xfrm>
          <a:custGeom>
            <a:avLst/>
            <a:gdLst/>
            <a:ahLst/>
            <a:cxnLst/>
            <a:rect l="l" t="t" r="r" b="b"/>
            <a:pathLst>
              <a:path w="5668511" h="1333767">
                <a:moveTo>
                  <a:pt x="34199" y="0"/>
                </a:moveTo>
                <a:lnTo>
                  <a:pt x="5600115" y="0"/>
                </a:lnTo>
                <a:cubicBezTo>
                  <a:pt x="5637889" y="0"/>
                  <a:pt x="5668511" y="30622"/>
                  <a:pt x="5668511" y="68396"/>
                </a:cubicBezTo>
                <a:lnTo>
                  <a:pt x="5668511" y="1265372"/>
                </a:lnTo>
                <a:cubicBezTo>
                  <a:pt x="5668511" y="1303145"/>
                  <a:pt x="5637889" y="1333767"/>
                  <a:pt x="5600115" y="1333767"/>
                </a:cubicBezTo>
                <a:lnTo>
                  <a:pt x="34199" y="1333767"/>
                </a:lnTo>
                <a:cubicBezTo>
                  <a:pt x="15311" y="1333767"/>
                  <a:pt x="0" y="1318456"/>
                  <a:pt x="0" y="1299568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180496" y="4411691"/>
            <a:ext cx="34199" cy="1333767"/>
          </a:xfrm>
          <a:custGeom>
            <a:avLst/>
            <a:gdLst/>
            <a:ahLst/>
            <a:cxnLst/>
            <a:rect l="l" t="t" r="r" b="b"/>
            <a:pathLst>
              <a:path w="34199" h="1333767">
                <a:moveTo>
                  <a:pt x="34199" y="0"/>
                </a:moveTo>
                <a:lnTo>
                  <a:pt x="34199" y="0"/>
                </a:lnTo>
                <a:lnTo>
                  <a:pt x="34199" y="1333767"/>
                </a:lnTo>
                <a:lnTo>
                  <a:pt x="34199" y="1333767"/>
                </a:lnTo>
                <a:cubicBezTo>
                  <a:pt x="15311" y="1333767"/>
                  <a:pt x="0" y="1318456"/>
                  <a:pt x="0" y="1299568"/>
                </a:cubicBezTo>
                <a:lnTo>
                  <a:pt x="0" y="34199"/>
                </a:lnTo>
                <a:cubicBezTo>
                  <a:pt x="0" y="15324"/>
                  <a:pt x="15324" y="0"/>
                  <a:pt x="34199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63" name="Shape 61"/>
          <p:cNvSpPr/>
          <p:nvPr/>
        </p:nvSpPr>
        <p:spPr>
          <a:xfrm>
            <a:off x="6360042" y="4565588"/>
            <a:ext cx="205195" cy="205195"/>
          </a:xfrm>
          <a:custGeom>
            <a:avLst/>
            <a:gdLst/>
            <a:ahLst/>
            <a:cxnLst/>
            <a:rect l="l" t="t" r="r" b="b"/>
            <a:pathLst>
              <a:path w="205195" h="205195">
                <a:moveTo>
                  <a:pt x="26411" y="91576"/>
                </a:moveTo>
                <a:cubicBezTo>
                  <a:pt x="31741" y="54305"/>
                  <a:pt x="63843" y="25649"/>
                  <a:pt x="102597" y="25649"/>
                </a:cubicBezTo>
                <a:cubicBezTo>
                  <a:pt x="123838" y="25649"/>
                  <a:pt x="143075" y="34266"/>
                  <a:pt x="157022" y="48173"/>
                </a:cubicBezTo>
                <a:cubicBezTo>
                  <a:pt x="157102" y="48253"/>
                  <a:pt x="157183" y="48333"/>
                  <a:pt x="157263" y="48413"/>
                </a:cubicBezTo>
                <a:lnTo>
                  <a:pt x="160309" y="51299"/>
                </a:lnTo>
                <a:lnTo>
                  <a:pt x="141112" y="51299"/>
                </a:lnTo>
                <a:cubicBezTo>
                  <a:pt x="134018" y="51299"/>
                  <a:pt x="128287" y="57030"/>
                  <a:pt x="128287" y="64123"/>
                </a:cubicBezTo>
                <a:cubicBezTo>
                  <a:pt x="128287" y="71217"/>
                  <a:pt x="134018" y="76948"/>
                  <a:pt x="141112" y="76948"/>
                </a:cubicBezTo>
                <a:lnTo>
                  <a:pt x="192410" y="76948"/>
                </a:lnTo>
                <a:cubicBezTo>
                  <a:pt x="199504" y="76948"/>
                  <a:pt x="205235" y="71217"/>
                  <a:pt x="205235" y="64123"/>
                </a:cubicBezTo>
                <a:lnTo>
                  <a:pt x="205235" y="12825"/>
                </a:lnTo>
                <a:cubicBezTo>
                  <a:pt x="205235" y="5731"/>
                  <a:pt x="199504" y="0"/>
                  <a:pt x="192410" y="0"/>
                </a:cubicBezTo>
                <a:cubicBezTo>
                  <a:pt x="185317" y="0"/>
                  <a:pt x="179586" y="5731"/>
                  <a:pt x="179586" y="12825"/>
                </a:cubicBezTo>
                <a:lnTo>
                  <a:pt x="179586" y="34226"/>
                </a:lnTo>
                <a:lnTo>
                  <a:pt x="175057" y="29938"/>
                </a:lnTo>
                <a:cubicBezTo>
                  <a:pt x="156501" y="11462"/>
                  <a:pt x="130852" y="0"/>
                  <a:pt x="102597" y="0"/>
                </a:cubicBezTo>
                <a:cubicBezTo>
                  <a:pt x="50898" y="0"/>
                  <a:pt x="8136" y="38234"/>
                  <a:pt x="1042" y="87969"/>
                </a:cubicBezTo>
                <a:cubicBezTo>
                  <a:pt x="40" y="94983"/>
                  <a:pt x="4889" y="101475"/>
                  <a:pt x="11903" y="102477"/>
                </a:cubicBezTo>
                <a:cubicBezTo>
                  <a:pt x="18916" y="103479"/>
                  <a:pt x="25409" y="98590"/>
                  <a:pt x="26411" y="91616"/>
                </a:cubicBezTo>
                <a:close/>
                <a:moveTo>
                  <a:pt x="204153" y="117226"/>
                </a:moveTo>
                <a:cubicBezTo>
                  <a:pt x="205155" y="110212"/>
                  <a:pt x="200265" y="103720"/>
                  <a:pt x="193292" y="102718"/>
                </a:cubicBezTo>
                <a:cubicBezTo>
                  <a:pt x="186319" y="101716"/>
                  <a:pt x="179786" y="106605"/>
                  <a:pt x="178784" y="113579"/>
                </a:cubicBezTo>
                <a:cubicBezTo>
                  <a:pt x="173454" y="150850"/>
                  <a:pt x="141352" y="179506"/>
                  <a:pt x="102597" y="179506"/>
                </a:cubicBezTo>
                <a:cubicBezTo>
                  <a:pt x="81357" y="179506"/>
                  <a:pt x="62120" y="170889"/>
                  <a:pt x="48173" y="156982"/>
                </a:cubicBezTo>
                <a:cubicBezTo>
                  <a:pt x="48093" y="156902"/>
                  <a:pt x="48012" y="156822"/>
                  <a:pt x="47932" y="156742"/>
                </a:cubicBezTo>
                <a:lnTo>
                  <a:pt x="44886" y="153856"/>
                </a:lnTo>
                <a:lnTo>
                  <a:pt x="64083" y="153856"/>
                </a:lnTo>
                <a:cubicBezTo>
                  <a:pt x="71177" y="153856"/>
                  <a:pt x="76908" y="148125"/>
                  <a:pt x="76908" y="141031"/>
                </a:cubicBezTo>
                <a:cubicBezTo>
                  <a:pt x="76908" y="133938"/>
                  <a:pt x="71177" y="128207"/>
                  <a:pt x="64083" y="128207"/>
                </a:cubicBezTo>
                <a:lnTo>
                  <a:pt x="12825" y="128247"/>
                </a:lnTo>
                <a:cubicBezTo>
                  <a:pt x="9418" y="128247"/>
                  <a:pt x="6132" y="129609"/>
                  <a:pt x="3727" y="132054"/>
                </a:cubicBezTo>
                <a:cubicBezTo>
                  <a:pt x="1323" y="134499"/>
                  <a:pt x="-40" y="137745"/>
                  <a:pt x="0" y="141192"/>
                </a:cubicBezTo>
                <a:lnTo>
                  <a:pt x="401" y="192090"/>
                </a:lnTo>
                <a:cubicBezTo>
                  <a:pt x="441" y="199183"/>
                  <a:pt x="6252" y="204874"/>
                  <a:pt x="13346" y="204794"/>
                </a:cubicBezTo>
                <a:cubicBezTo>
                  <a:pt x="20439" y="204714"/>
                  <a:pt x="26130" y="198943"/>
                  <a:pt x="26050" y="191849"/>
                </a:cubicBezTo>
                <a:lnTo>
                  <a:pt x="25890" y="171210"/>
                </a:lnTo>
                <a:lnTo>
                  <a:pt x="30178" y="175257"/>
                </a:lnTo>
                <a:cubicBezTo>
                  <a:pt x="48734" y="193733"/>
                  <a:pt x="74343" y="205195"/>
                  <a:pt x="102597" y="205195"/>
                </a:cubicBezTo>
                <a:cubicBezTo>
                  <a:pt x="154297" y="205195"/>
                  <a:pt x="197059" y="166961"/>
                  <a:pt x="204153" y="117226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64" name="Text 62"/>
          <p:cNvSpPr/>
          <p:nvPr/>
        </p:nvSpPr>
        <p:spPr>
          <a:xfrm>
            <a:off x="6693483" y="4548488"/>
            <a:ext cx="1538962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6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Pydantic Validation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334392" y="4856281"/>
            <a:ext cx="5446216" cy="44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Rigorous data validation using Python type annotations. Ensures data integrity and prevents security vulnerabilities.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34392" y="5369268"/>
            <a:ext cx="812230" cy="239394"/>
          </a:xfrm>
          <a:custGeom>
            <a:avLst/>
            <a:gdLst/>
            <a:ahLst/>
            <a:cxnLst/>
            <a:rect l="l" t="t" r="r" b="b"/>
            <a:pathLst>
              <a:path w="812230" h="239394">
                <a:moveTo>
                  <a:pt x="119697" y="0"/>
                </a:moveTo>
                <a:lnTo>
                  <a:pt x="692533" y="0"/>
                </a:lnTo>
                <a:cubicBezTo>
                  <a:pt x="758640" y="0"/>
                  <a:pt x="812230" y="53590"/>
                  <a:pt x="812230" y="119697"/>
                </a:cubicBezTo>
                <a:lnTo>
                  <a:pt x="812230" y="119697"/>
                </a:lnTo>
                <a:cubicBezTo>
                  <a:pt x="812230" y="185804"/>
                  <a:pt x="758640" y="239394"/>
                  <a:pt x="692533" y="239394"/>
                </a:cubicBezTo>
                <a:lnTo>
                  <a:pt x="119697" y="239394"/>
                </a:lnTo>
                <a:cubicBezTo>
                  <a:pt x="53590" y="239394"/>
                  <a:pt x="0" y="185804"/>
                  <a:pt x="0" y="119697"/>
                </a:cubicBezTo>
                <a:lnTo>
                  <a:pt x="0" y="119697"/>
                </a:lnTo>
                <a:cubicBezTo>
                  <a:pt x="0" y="53590"/>
                  <a:pt x="53590" y="0"/>
                  <a:pt x="119697" y="0"/>
                </a:cubicBezTo>
                <a:close/>
              </a:path>
            </a:pathLst>
          </a:custGeom>
          <a:solidFill>
            <a:srgbClr val="9CA3AF">
              <a:alpha val="2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6334392" y="5369268"/>
            <a:ext cx="872079" cy="239394"/>
          </a:xfrm>
          <a:prstGeom prst="rect">
            <a:avLst/>
          </a:prstGeom>
          <a:noFill/>
          <a:ln/>
        </p:spPr>
        <p:txBody>
          <a:bodyPr wrap="square" lIns="102597" tIns="34199" rIns="102597" bIns="34199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 Safety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216690" y="5369268"/>
            <a:ext cx="1000325" cy="239394"/>
          </a:xfrm>
          <a:custGeom>
            <a:avLst/>
            <a:gdLst/>
            <a:ahLst/>
            <a:cxnLst/>
            <a:rect l="l" t="t" r="r" b="b"/>
            <a:pathLst>
              <a:path w="1000325" h="239394">
                <a:moveTo>
                  <a:pt x="119697" y="0"/>
                </a:moveTo>
                <a:lnTo>
                  <a:pt x="880628" y="0"/>
                </a:lnTo>
                <a:cubicBezTo>
                  <a:pt x="946735" y="0"/>
                  <a:pt x="1000325" y="53590"/>
                  <a:pt x="1000325" y="119697"/>
                </a:cubicBezTo>
                <a:lnTo>
                  <a:pt x="1000325" y="119697"/>
                </a:lnTo>
                <a:cubicBezTo>
                  <a:pt x="1000325" y="185804"/>
                  <a:pt x="946735" y="239394"/>
                  <a:pt x="880628" y="239394"/>
                </a:cubicBezTo>
                <a:lnTo>
                  <a:pt x="119697" y="239394"/>
                </a:lnTo>
                <a:cubicBezTo>
                  <a:pt x="53590" y="239394"/>
                  <a:pt x="0" y="185804"/>
                  <a:pt x="0" y="119697"/>
                </a:cubicBezTo>
                <a:lnTo>
                  <a:pt x="0" y="119697"/>
                </a:lnTo>
                <a:cubicBezTo>
                  <a:pt x="0" y="53590"/>
                  <a:pt x="53590" y="0"/>
                  <a:pt x="119697" y="0"/>
                </a:cubicBezTo>
                <a:close/>
              </a:path>
            </a:pathLst>
          </a:custGeom>
          <a:solidFill>
            <a:srgbClr val="9CA3AF">
              <a:alpha val="2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7216690" y="5369268"/>
            <a:ext cx="1060174" cy="239394"/>
          </a:xfrm>
          <a:prstGeom prst="rect">
            <a:avLst/>
          </a:prstGeom>
          <a:noFill/>
          <a:ln/>
        </p:spPr>
        <p:txBody>
          <a:bodyPr wrap="square" lIns="102597" tIns="34199" rIns="102597" bIns="34199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 Validation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283811" y="5369268"/>
            <a:ext cx="923377" cy="239394"/>
          </a:xfrm>
          <a:custGeom>
            <a:avLst/>
            <a:gdLst/>
            <a:ahLst/>
            <a:cxnLst/>
            <a:rect l="l" t="t" r="r" b="b"/>
            <a:pathLst>
              <a:path w="923377" h="239394">
                <a:moveTo>
                  <a:pt x="119697" y="0"/>
                </a:moveTo>
                <a:lnTo>
                  <a:pt x="803680" y="0"/>
                </a:lnTo>
                <a:cubicBezTo>
                  <a:pt x="869787" y="0"/>
                  <a:pt x="923377" y="53590"/>
                  <a:pt x="923377" y="119697"/>
                </a:cubicBezTo>
                <a:lnTo>
                  <a:pt x="923377" y="119697"/>
                </a:lnTo>
                <a:cubicBezTo>
                  <a:pt x="923377" y="185804"/>
                  <a:pt x="869787" y="239394"/>
                  <a:pt x="803680" y="239394"/>
                </a:cubicBezTo>
                <a:lnTo>
                  <a:pt x="119697" y="239394"/>
                </a:lnTo>
                <a:cubicBezTo>
                  <a:pt x="53590" y="239394"/>
                  <a:pt x="0" y="185804"/>
                  <a:pt x="0" y="119697"/>
                </a:cubicBezTo>
                <a:lnTo>
                  <a:pt x="0" y="119697"/>
                </a:lnTo>
                <a:cubicBezTo>
                  <a:pt x="0" y="53590"/>
                  <a:pt x="53590" y="0"/>
                  <a:pt x="119697" y="0"/>
                </a:cubicBezTo>
                <a:close/>
              </a:path>
            </a:pathLst>
          </a:custGeom>
          <a:solidFill>
            <a:srgbClr val="9CA3AF">
              <a:alpha val="2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8283811" y="5369268"/>
            <a:ext cx="983226" cy="239394"/>
          </a:xfrm>
          <a:prstGeom prst="rect">
            <a:avLst/>
          </a:prstGeom>
          <a:noFill/>
          <a:ln/>
        </p:spPr>
        <p:txBody>
          <a:bodyPr wrap="square" lIns="102597" tIns="34199" rIns="102597" bIns="34199" rtlCol="0" anchor="ctr"/>
          <a:lstStyle/>
          <a:p>
            <a:pPr>
              <a:lnSpc>
                <a:spcPct val="120000"/>
              </a:lnSpc>
            </a:pPr>
            <a:r>
              <a:rPr lang="en-US" sz="942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 Schema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346266" y="6325442"/>
            <a:ext cx="5677060" cy="966126"/>
          </a:xfrm>
          <a:custGeom>
            <a:avLst/>
            <a:gdLst/>
            <a:ahLst/>
            <a:cxnLst/>
            <a:rect l="l" t="t" r="r" b="b"/>
            <a:pathLst>
              <a:path w="5677060" h="966126">
                <a:moveTo>
                  <a:pt x="68402" y="0"/>
                </a:moveTo>
                <a:lnTo>
                  <a:pt x="5608659" y="0"/>
                </a:lnTo>
                <a:cubicBezTo>
                  <a:pt x="5646436" y="0"/>
                  <a:pt x="5677060" y="30625"/>
                  <a:pt x="5677060" y="68402"/>
                </a:cubicBezTo>
                <a:lnTo>
                  <a:pt x="5677060" y="897724"/>
                </a:lnTo>
                <a:cubicBezTo>
                  <a:pt x="5677060" y="935502"/>
                  <a:pt x="5646436" y="966126"/>
                  <a:pt x="5608659" y="966126"/>
                </a:cubicBezTo>
                <a:lnTo>
                  <a:pt x="68402" y="966126"/>
                </a:lnTo>
                <a:cubicBezTo>
                  <a:pt x="30625" y="966126"/>
                  <a:pt x="0" y="935502"/>
                  <a:pt x="0" y="897724"/>
                </a:cubicBezTo>
                <a:lnTo>
                  <a:pt x="0" y="68402"/>
                </a:lnTo>
                <a:cubicBezTo>
                  <a:pt x="0" y="30650"/>
                  <a:pt x="30650" y="0"/>
                  <a:pt x="68402" y="0"/>
                </a:cubicBezTo>
                <a:close/>
              </a:path>
            </a:pathLst>
          </a:custGeom>
          <a:solidFill>
            <a:srgbClr val="34D399">
              <a:alpha val="10196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00163" y="6705907"/>
            <a:ext cx="205195" cy="205195"/>
          </a:xfrm>
          <a:custGeom>
            <a:avLst/>
            <a:gdLst/>
            <a:ahLst/>
            <a:cxnLst/>
            <a:rect l="l" t="t" r="r" b="b"/>
            <a:pathLst>
              <a:path w="205195" h="205195">
                <a:moveTo>
                  <a:pt x="0" y="102597"/>
                </a:moveTo>
                <a:cubicBezTo>
                  <a:pt x="0" y="45972"/>
                  <a:pt x="45972" y="0"/>
                  <a:pt x="102597" y="0"/>
                </a:cubicBezTo>
                <a:cubicBezTo>
                  <a:pt x="159223" y="0"/>
                  <a:pt x="205195" y="45972"/>
                  <a:pt x="205195" y="102597"/>
                </a:cubicBezTo>
                <a:cubicBezTo>
                  <a:pt x="205195" y="159223"/>
                  <a:pt x="159223" y="205195"/>
                  <a:pt x="102597" y="205195"/>
                </a:cubicBezTo>
                <a:cubicBezTo>
                  <a:pt x="45972" y="205195"/>
                  <a:pt x="0" y="159223"/>
                  <a:pt x="0" y="102597"/>
                </a:cubicBezTo>
                <a:close/>
                <a:moveTo>
                  <a:pt x="115422" y="38474"/>
                </a:moveTo>
                <a:cubicBezTo>
                  <a:pt x="115422" y="31396"/>
                  <a:pt x="109676" y="25649"/>
                  <a:pt x="102597" y="25649"/>
                </a:cubicBezTo>
                <a:cubicBezTo>
                  <a:pt x="95519" y="25649"/>
                  <a:pt x="89773" y="31396"/>
                  <a:pt x="89773" y="38474"/>
                </a:cubicBezTo>
                <a:cubicBezTo>
                  <a:pt x="89773" y="45552"/>
                  <a:pt x="95519" y="51299"/>
                  <a:pt x="102597" y="51299"/>
                </a:cubicBezTo>
                <a:cubicBezTo>
                  <a:pt x="109676" y="51299"/>
                  <a:pt x="115422" y="45552"/>
                  <a:pt x="115422" y="38474"/>
                </a:cubicBezTo>
                <a:close/>
                <a:moveTo>
                  <a:pt x="102597" y="166721"/>
                </a:moveTo>
                <a:cubicBezTo>
                  <a:pt x="116745" y="166721"/>
                  <a:pt x="128247" y="155219"/>
                  <a:pt x="128247" y="141072"/>
                </a:cubicBezTo>
                <a:cubicBezTo>
                  <a:pt x="128247" y="134579"/>
                  <a:pt x="125842" y="128608"/>
                  <a:pt x="121835" y="124119"/>
                </a:cubicBezTo>
                <a:lnTo>
                  <a:pt x="149688" y="68452"/>
                </a:lnTo>
                <a:cubicBezTo>
                  <a:pt x="152053" y="63683"/>
                  <a:pt x="150129" y="57911"/>
                  <a:pt x="145400" y="55547"/>
                </a:cubicBezTo>
                <a:cubicBezTo>
                  <a:pt x="140671" y="53182"/>
                  <a:pt x="134860" y="55106"/>
                  <a:pt x="132495" y="59835"/>
                </a:cubicBezTo>
                <a:lnTo>
                  <a:pt x="104641" y="115502"/>
                </a:lnTo>
                <a:cubicBezTo>
                  <a:pt x="103960" y="115462"/>
                  <a:pt x="103279" y="115422"/>
                  <a:pt x="102597" y="115422"/>
                </a:cubicBezTo>
                <a:cubicBezTo>
                  <a:pt x="88450" y="115422"/>
                  <a:pt x="76948" y="126924"/>
                  <a:pt x="76948" y="141072"/>
                </a:cubicBezTo>
                <a:cubicBezTo>
                  <a:pt x="76948" y="155219"/>
                  <a:pt x="88450" y="166721"/>
                  <a:pt x="102597" y="166721"/>
                </a:cubicBezTo>
                <a:close/>
                <a:moveTo>
                  <a:pt x="70536" y="57711"/>
                </a:moveTo>
                <a:cubicBezTo>
                  <a:pt x="70536" y="50633"/>
                  <a:pt x="64789" y="44886"/>
                  <a:pt x="57711" y="44886"/>
                </a:cubicBezTo>
                <a:cubicBezTo>
                  <a:pt x="50633" y="44886"/>
                  <a:pt x="44886" y="50633"/>
                  <a:pt x="44886" y="57711"/>
                </a:cubicBezTo>
                <a:cubicBezTo>
                  <a:pt x="44886" y="64789"/>
                  <a:pt x="50633" y="70536"/>
                  <a:pt x="57711" y="70536"/>
                </a:cubicBezTo>
                <a:cubicBezTo>
                  <a:pt x="64789" y="70536"/>
                  <a:pt x="70536" y="64789"/>
                  <a:pt x="70536" y="57711"/>
                </a:cubicBezTo>
                <a:close/>
                <a:moveTo>
                  <a:pt x="38474" y="115422"/>
                </a:moveTo>
                <a:cubicBezTo>
                  <a:pt x="45552" y="115422"/>
                  <a:pt x="51299" y="109676"/>
                  <a:pt x="51299" y="102597"/>
                </a:cubicBezTo>
                <a:cubicBezTo>
                  <a:pt x="51299" y="95519"/>
                  <a:pt x="45552" y="89773"/>
                  <a:pt x="38474" y="89773"/>
                </a:cubicBezTo>
                <a:cubicBezTo>
                  <a:pt x="31396" y="89773"/>
                  <a:pt x="25649" y="95519"/>
                  <a:pt x="25649" y="102597"/>
                </a:cubicBezTo>
                <a:cubicBezTo>
                  <a:pt x="25649" y="109676"/>
                  <a:pt x="31396" y="115422"/>
                  <a:pt x="38474" y="115422"/>
                </a:cubicBezTo>
                <a:close/>
                <a:moveTo>
                  <a:pt x="179546" y="102597"/>
                </a:moveTo>
                <a:cubicBezTo>
                  <a:pt x="179546" y="95519"/>
                  <a:pt x="173799" y="89773"/>
                  <a:pt x="166721" y="89773"/>
                </a:cubicBezTo>
                <a:cubicBezTo>
                  <a:pt x="159643" y="89773"/>
                  <a:pt x="153896" y="95519"/>
                  <a:pt x="153896" y="102597"/>
                </a:cubicBezTo>
                <a:cubicBezTo>
                  <a:pt x="153896" y="109676"/>
                  <a:pt x="159643" y="115422"/>
                  <a:pt x="166721" y="115422"/>
                </a:cubicBezTo>
                <a:cubicBezTo>
                  <a:pt x="173799" y="115422"/>
                  <a:pt x="179546" y="109676"/>
                  <a:pt x="179546" y="102597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74" name="Text 72"/>
          <p:cNvSpPr/>
          <p:nvPr/>
        </p:nvSpPr>
        <p:spPr>
          <a:xfrm>
            <a:off x="855847" y="6466513"/>
            <a:ext cx="5104224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2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Optimization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855847" y="6740106"/>
            <a:ext cx="5095675" cy="41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60-frame skip strategy achieves </a:t>
            </a:r>
            <a:pPr>
              <a:lnSpc>
                <a:spcPct val="130000"/>
              </a:lnSpc>
            </a:pPr>
            <a:r>
              <a:rPr lang="en-US" sz="1077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2x faster video analysis</a:t>
            </a:r>
            <a:pPr>
              <a:lnSpc>
                <a:spcPct val="130000"/>
              </a:lnSpc>
            </a:pPr>
            <a:r>
              <a:rPr lang="en-US" sz="1077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while maintaining detection accuracy.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6167671" y="6325442"/>
            <a:ext cx="5677060" cy="966126"/>
          </a:xfrm>
          <a:custGeom>
            <a:avLst/>
            <a:gdLst/>
            <a:ahLst/>
            <a:cxnLst/>
            <a:rect l="l" t="t" r="r" b="b"/>
            <a:pathLst>
              <a:path w="5677060" h="966126">
                <a:moveTo>
                  <a:pt x="68402" y="0"/>
                </a:moveTo>
                <a:lnTo>
                  <a:pt x="5608659" y="0"/>
                </a:lnTo>
                <a:cubicBezTo>
                  <a:pt x="5646436" y="0"/>
                  <a:pt x="5677060" y="30625"/>
                  <a:pt x="5677060" y="68402"/>
                </a:cubicBezTo>
                <a:lnTo>
                  <a:pt x="5677060" y="897724"/>
                </a:lnTo>
                <a:cubicBezTo>
                  <a:pt x="5677060" y="935502"/>
                  <a:pt x="5646436" y="966126"/>
                  <a:pt x="5608659" y="966126"/>
                </a:cubicBezTo>
                <a:lnTo>
                  <a:pt x="68402" y="966126"/>
                </a:lnTo>
                <a:cubicBezTo>
                  <a:pt x="30625" y="966126"/>
                  <a:pt x="0" y="935502"/>
                  <a:pt x="0" y="897724"/>
                </a:cubicBezTo>
                <a:lnTo>
                  <a:pt x="0" y="68402"/>
                </a:lnTo>
                <a:cubicBezTo>
                  <a:pt x="0" y="30650"/>
                  <a:pt x="30650" y="0"/>
                  <a:pt x="68402" y="0"/>
                </a:cubicBezTo>
                <a:close/>
              </a:path>
            </a:pathLst>
          </a:custGeom>
          <a:solidFill>
            <a:srgbClr val="34D399">
              <a:alpha val="10196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317293" y="6705907"/>
            <a:ext cx="205195" cy="205195"/>
          </a:xfrm>
          <a:custGeom>
            <a:avLst/>
            <a:gdLst/>
            <a:ahLst/>
            <a:cxnLst/>
            <a:rect l="l" t="t" r="r" b="b"/>
            <a:pathLst>
              <a:path w="205195" h="205195">
                <a:moveTo>
                  <a:pt x="25649" y="25649"/>
                </a:moveTo>
                <a:cubicBezTo>
                  <a:pt x="11502" y="25649"/>
                  <a:pt x="0" y="37152"/>
                  <a:pt x="0" y="51299"/>
                </a:cubicBezTo>
                <a:lnTo>
                  <a:pt x="0" y="54264"/>
                </a:lnTo>
                <a:cubicBezTo>
                  <a:pt x="0" y="56990"/>
                  <a:pt x="1763" y="59314"/>
                  <a:pt x="4048" y="60797"/>
                </a:cubicBezTo>
                <a:cubicBezTo>
                  <a:pt x="9338" y="64244"/>
                  <a:pt x="12825" y="70175"/>
                  <a:pt x="12825" y="76948"/>
                </a:cubicBezTo>
                <a:cubicBezTo>
                  <a:pt x="12825" y="83721"/>
                  <a:pt x="9338" y="89653"/>
                  <a:pt x="4048" y="93099"/>
                </a:cubicBezTo>
                <a:cubicBezTo>
                  <a:pt x="1763" y="94582"/>
                  <a:pt x="0" y="96907"/>
                  <a:pt x="0" y="99632"/>
                </a:cubicBezTo>
                <a:lnTo>
                  <a:pt x="0" y="121835"/>
                </a:lnTo>
                <a:lnTo>
                  <a:pt x="205195" y="121835"/>
                </a:lnTo>
                <a:lnTo>
                  <a:pt x="205195" y="99632"/>
                </a:lnTo>
                <a:cubicBezTo>
                  <a:pt x="205195" y="96907"/>
                  <a:pt x="203432" y="94582"/>
                  <a:pt x="201147" y="93099"/>
                </a:cubicBezTo>
                <a:cubicBezTo>
                  <a:pt x="195857" y="89653"/>
                  <a:pt x="192370" y="83721"/>
                  <a:pt x="192370" y="76948"/>
                </a:cubicBezTo>
                <a:cubicBezTo>
                  <a:pt x="192370" y="70175"/>
                  <a:pt x="195857" y="64244"/>
                  <a:pt x="201147" y="60797"/>
                </a:cubicBezTo>
                <a:cubicBezTo>
                  <a:pt x="203432" y="59314"/>
                  <a:pt x="205195" y="56990"/>
                  <a:pt x="205195" y="54264"/>
                </a:cubicBezTo>
                <a:lnTo>
                  <a:pt x="205195" y="51299"/>
                </a:lnTo>
                <a:cubicBezTo>
                  <a:pt x="205195" y="37152"/>
                  <a:pt x="193693" y="25649"/>
                  <a:pt x="179546" y="25649"/>
                </a:cubicBezTo>
                <a:lnTo>
                  <a:pt x="25649" y="25649"/>
                </a:lnTo>
                <a:close/>
                <a:moveTo>
                  <a:pt x="205195" y="166721"/>
                </a:moveTo>
                <a:lnTo>
                  <a:pt x="205195" y="141072"/>
                </a:lnTo>
                <a:lnTo>
                  <a:pt x="0" y="141072"/>
                </a:lnTo>
                <a:lnTo>
                  <a:pt x="0" y="166721"/>
                </a:lnTo>
                <a:cubicBezTo>
                  <a:pt x="0" y="173815"/>
                  <a:pt x="5731" y="179546"/>
                  <a:pt x="12825" y="179546"/>
                </a:cubicBezTo>
                <a:lnTo>
                  <a:pt x="38474" y="179546"/>
                </a:lnTo>
                <a:lnTo>
                  <a:pt x="38474" y="169927"/>
                </a:lnTo>
                <a:cubicBezTo>
                  <a:pt x="38474" y="164597"/>
                  <a:pt x="42762" y="160309"/>
                  <a:pt x="48093" y="160309"/>
                </a:cubicBezTo>
                <a:cubicBezTo>
                  <a:pt x="53423" y="160309"/>
                  <a:pt x="57711" y="164597"/>
                  <a:pt x="57711" y="169927"/>
                </a:cubicBezTo>
                <a:lnTo>
                  <a:pt x="57711" y="179546"/>
                </a:lnTo>
                <a:lnTo>
                  <a:pt x="92979" y="179546"/>
                </a:lnTo>
                <a:lnTo>
                  <a:pt x="92979" y="169927"/>
                </a:lnTo>
                <a:cubicBezTo>
                  <a:pt x="92979" y="164597"/>
                  <a:pt x="97267" y="160309"/>
                  <a:pt x="102597" y="160309"/>
                </a:cubicBezTo>
                <a:cubicBezTo>
                  <a:pt x="107928" y="160309"/>
                  <a:pt x="112216" y="164597"/>
                  <a:pt x="112216" y="169927"/>
                </a:cubicBezTo>
                <a:lnTo>
                  <a:pt x="112216" y="179546"/>
                </a:lnTo>
                <a:lnTo>
                  <a:pt x="147484" y="179546"/>
                </a:lnTo>
                <a:lnTo>
                  <a:pt x="147484" y="169927"/>
                </a:lnTo>
                <a:cubicBezTo>
                  <a:pt x="147484" y="164597"/>
                  <a:pt x="151772" y="160309"/>
                  <a:pt x="157102" y="160309"/>
                </a:cubicBezTo>
                <a:cubicBezTo>
                  <a:pt x="162433" y="160309"/>
                  <a:pt x="166721" y="164597"/>
                  <a:pt x="166721" y="169927"/>
                </a:cubicBezTo>
                <a:lnTo>
                  <a:pt x="166721" y="179546"/>
                </a:lnTo>
                <a:lnTo>
                  <a:pt x="192370" y="179546"/>
                </a:lnTo>
                <a:cubicBezTo>
                  <a:pt x="199464" y="179546"/>
                  <a:pt x="205195" y="173815"/>
                  <a:pt x="205195" y="166721"/>
                </a:cubicBezTo>
                <a:close/>
                <a:moveTo>
                  <a:pt x="64123" y="64123"/>
                </a:moveTo>
                <a:lnTo>
                  <a:pt x="64123" y="89773"/>
                </a:lnTo>
                <a:cubicBezTo>
                  <a:pt x="64123" y="96866"/>
                  <a:pt x="58392" y="102597"/>
                  <a:pt x="51299" y="102597"/>
                </a:cubicBezTo>
                <a:cubicBezTo>
                  <a:pt x="44205" y="102597"/>
                  <a:pt x="38474" y="96866"/>
                  <a:pt x="38474" y="89773"/>
                </a:cubicBezTo>
                <a:lnTo>
                  <a:pt x="38474" y="64123"/>
                </a:lnTo>
                <a:cubicBezTo>
                  <a:pt x="38474" y="57030"/>
                  <a:pt x="44205" y="51299"/>
                  <a:pt x="51299" y="51299"/>
                </a:cubicBezTo>
                <a:cubicBezTo>
                  <a:pt x="58392" y="51299"/>
                  <a:pt x="64123" y="57030"/>
                  <a:pt x="64123" y="64123"/>
                </a:cubicBezTo>
                <a:close/>
                <a:moveTo>
                  <a:pt x="115422" y="64123"/>
                </a:moveTo>
                <a:lnTo>
                  <a:pt x="115422" y="89773"/>
                </a:lnTo>
                <a:cubicBezTo>
                  <a:pt x="115422" y="96866"/>
                  <a:pt x="109691" y="102597"/>
                  <a:pt x="102597" y="102597"/>
                </a:cubicBezTo>
                <a:cubicBezTo>
                  <a:pt x="95504" y="102597"/>
                  <a:pt x="89773" y="96866"/>
                  <a:pt x="89773" y="89773"/>
                </a:cubicBezTo>
                <a:lnTo>
                  <a:pt x="89773" y="64123"/>
                </a:lnTo>
                <a:cubicBezTo>
                  <a:pt x="89773" y="57030"/>
                  <a:pt x="95504" y="51299"/>
                  <a:pt x="102597" y="51299"/>
                </a:cubicBezTo>
                <a:cubicBezTo>
                  <a:pt x="109691" y="51299"/>
                  <a:pt x="115422" y="57030"/>
                  <a:pt x="115422" y="64123"/>
                </a:cubicBezTo>
                <a:close/>
                <a:moveTo>
                  <a:pt x="166721" y="64123"/>
                </a:moveTo>
                <a:lnTo>
                  <a:pt x="166721" y="89773"/>
                </a:lnTo>
                <a:cubicBezTo>
                  <a:pt x="166721" y="96866"/>
                  <a:pt x="160990" y="102597"/>
                  <a:pt x="153896" y="102597"/>
                </a:cubicBezTo>
                <a:cubicBezTo>
                  <a:pt x="146803" y="102597"/>
                  <a:pt x="141072" y="96866"/>
                  <a:pt x="141072" y="89773"/>
                </a:cubicBezTo>
                <a:lnTo>
                  <a:pt x="141072" y="64123"/>
                </a:lnTo>
                <a:cubicBezTo>
                  <a:pt x="141072" y="57030"/>
                  <a:pt x="146803" y="51299"/>
                  <a:pt x="153896" y="51299"/>
                </a:cubicBezTo>
                <a:cubicBezTo>
                  <a:pt x="160990" y="51299"/>
                  <a:pt x="166721" y="57030"/>
                  <a:pt x="166721" y="64123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78" name="Text 76"/>
          <p:cNvSpPr/>
          <p:nvPr/>
        </p:nvSpPr>
        <p:spPr>
          <a:xfrm>
            <a:off x="6665830" y="6466513"/>
            <a:ext cx="5112774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2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Efficiency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665830" y="6740106"/>
            <a:ext cx="5104224" cy="41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 frame sampling reduces memory usage by </a:t>
            </a:r>
            <a:pPr>
              <a:lnSpc>
                <a:spcPct val="130000"/>
              </a:lnSpc>
            </a:pPr>
            <a:r>
              <a:rPr lang="en-US" sz="1077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75%</a:t>
            </a:r>
            <a:pPr>
              <a:lnSpc>
                <a:spcPct val="130000"/>
              </a:lnSpc>
            </a:pPr>
            <a:r>
              <a:rPr lang="en-US" sz="1077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compromising detection quality.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200" kern="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DEVOPS &amp; INFRASTRUCTURE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Engine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5250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Scalable, portable, and resilient infrastructure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2700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6" name="Shape 4"/>
          <p:cNvSpPr/>
          <p:nvPr/>
        </p:nvSpPr>
        <p:spPr>
          <a:xfrm>
            <a:off x="325438" y="1404938"/>
            <a:ext cx="8397875" cy="2460625"/>
          </a:xfrm>
          <a:custGeom>
            <a:avLst/>
            <a:gdLst/>
            <a:ahLst/>
            <a:cxnLst/>
            <a:rect l="l" t="t" r="r" b="b"/>
            <a:pathLst>
              <a:path w="8397875" h="2460625">
                <a:moveTo>
                  <a:pt x="63509" y="0"/>
                </a:moveTo>
                <a:lnTo>
                  <a:pt x="8334366" y="0"/>
                </a:lnTo>
                <a:cubicBezTo>
                  <a:pt x="8369441" y="0"/>
                  <a:pt x="8397875" y="28434"/>
                  <a:pt x="8397875" y="63509"/>
                </a:cubicBezTo>
                <a:lnTo>
                  <a:pt x="8397875" y="2397116"/>
                </a:lnTo>
                <a:cubicBezTo>
                  <a:pt x="8397875" y="2432191"/>
                  <a:pt x="8369441" y="2460625"/>
                  <a:pt x="8334366" y="2460625"/>
                </a:cubicBezTo>
                <a:lnTo>
                  <a:pt x="63509" y="2460625"/>
                </a:lnTo>
                <a:cubicBezTo>
                  <a:pt x="28434" y="2460625"/>
                  <a:pt x="0" y="2432191"/>
                  <a:pt x="0" y="2397116"/>
                </a:cubicBezTo>
                <a:lnTo>
                  <a:pt x="0" y="63509"/>
                </a:lnTo>
                <a:cubicBezTo>
                  <a:pt x="0" y="28457"/>
                  <a:pt x="28457" y="0"/>
                  <a:pt x="63509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0375" y="153987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8" name="Shape 6"/>
          <p:cNvSpPr/>
          <p:nvPr/>
        </p:nvSpPr>
        <p:spPr>
          <a:xfrm>
            <a:off x="563563" y="16668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187" y="87920"/>
                </a:moveTo>
                <a:lnTo>
                  <a:pt x="105594" y="87920"/>
                </a:lnTo>
                <a:lnTo>
                  <a:pt x="105594" y="65819"/>
                </a:lnTo>
                <a:lnTo>
                  <a:pt x="130187" y="65819"/>
                </a:lnTo>
                <a:lnTo>
                  <a:pt x="130187" y="87920"/>
                </a:lnTo>
                <a:close/>
                <a:moveTo>
                  <a:pt x="130187" y="11906"/>
                </a:moveTo>
                <a:lnTo>
                  <a:pt x="105594" y="11906"/>
                </a:lnTo>
                <a:lnTo>
                  <a:pt x="105594" y="34491"/>
                </a:lnTo>
                <a:lnTo>
                  <a:pt x="130187" y="34491"/>
                </a:lnTo>
                <a:lnTo>
                  <a:pt x="130187" y="11906"/>
                </a:lnTo>
                <a:close/>
                <a:moveTo>
                  <a:pt x="159283" y="65782"/>
                </a:moveTo>
                <a:lnTo>
                  <a:pt x="134689" y="65782"/>
                </a:lnTo>
                <a:lnTo>
                  <a:pt x="134689" y="87883"/>
                </a:lnTo>
                <a:lnTo>
                  <a:pt x="159283" y="87883"/>
                </a:lnTo>
                <a:lnTo>
                  <a:pt x="159283" y="65782"/>
                </a:lnTo>
                <a:close/>
                <a:moveTo>
                  <a:pt x="101129" y="38956"/>
                </a:moveTo>
                <a:lnTo>
                  <a:pt x="76535" y="38956"/>
                </a:lnTo>
                <a:lnTo>
                  <a:pt x="76535" y="61317"/>
                </a:lnTo>
                <a:lnTo>
                  <a:pt x="101129" y="61317"/>
                </a:lnTo>
                <a:lnTo>
                  <a:pt x="101129" y="38956"/>
                </a:lnTo>
                <a:close/>
                <a:moveTo>
                  <a:pt x="130187" y="38956"/>
                </a:moveTo>
                <a:lnTo>
                  <a:pt x="105594" y="38956"/>
                </a:lnTo>
                <a:lnTo>
                  <a:pt x="105594" y="61317"/>
                </a:lnTo>
                <a:lnTo>
                  <a:pt x="130187" y="61317"/>
                </a:lnTo>
                <a:lnTo>
                  <a:pt x="130187" y="38956"/>
                </a:lnTo>
                <a:close/>
                <a:moveTo>
                  <a:pt x="233176" y="76163"/>
                </a:moveTo>
                <a:cubicBezTo>
                  <a:pt x="227819" y="72554"/>
                  <a:pt x="215466" y="71251"/>
                  <a:pt x="205978" y="73037"/>
                </a:cubicBezTo>
                <a:cubicBezTo>
                  <a:pt x="204750" y="64108"/>
                  <a:pt x="199765" y="56331"/>
                  <a:pt x="190686" y="49337"/>
                </a:cubicBezTo>
                <a:lnTo>
                  <a:pt x="185477" y="45876"/>
                </a:lnTo>
                <a:lnTo>
                  <a:pt x="182017" y="51085"/>
                </a:lnTo>
                <a:cubicBezTo>
                  <a:pt x="175171" y="61429"/>
                  <a:pt x="173310" y="78470"/>
                  <a:pt x="180640" y="89706"/>
                </a:cubicBezTo>
                <a:cubicBezTo>
                  <a:pt x="177403" y="91455"/>
                  <a:pt x="171041" y="93836"/>
                  <a:pt x="162632" y="93687"/>
                </a:cubicBezTo>
                <a:lnTo>
                  <a:pt x="893" y="93687"/>
                </a:lnTo>
                <a:cubicBezTo>
                  <a:pt x="-2344" y="112588"/>
                  <a:pt x="3051" y="137145"/>
                  <a:pt x="17264" y="154000"/>
                </a:cubicBezTo>
                <a:cubicBezTo>
                  <a:pt x="31068" y="170334"/>
                  <a:pt x="51755" y="178631"/>
                  <a:pt x="78804" y="178631"/>
                </a:cubicBezTo>
                <a:cubicBezTo>
                  <a:pt x="137368" y="178631"/>
                  <a:pt x="180715" y="151656"/>
                  <a:pt x="200992" y="102654"/>
                </a:cubicBezTo>
                <a:cubicBezTo>
                  <a:pt x="208955" y="102803"/>
                  <a:pt x="226144" y="102691"/>
                  <a:pt x="234962" y="85837"/>
                </a:cubicBezTo>
                <a:cubicBezTo>
                  <a:pt x="235521" y="84906"/>
                  <a:pt x="237418" y="80925"/>
                  <a:pt x="238125" y="79474"/>
                </a:cubicBezTo>
                <a:lnTo>
                  <a:pt x="233176" y="76163"/>
                </a:lnTo>
                <a:close/>
                <a:moveTo>
                  <a:pt x="43011" y="65782"/>
                </a:moveTo>
                <a:lnTo>
                  <a:pt x="18455" y="65782"/>
                </a:lnTo>
                <a:lnTo>
                  <a:pt x="18455" y="87883"/>
                </a:lnTo>
                <a:lnTo>
                  <a:pt x="43049" y="87883"/>
                </a:lnTo>
                <a:lnTo>
                  <a:pt x="43049" y="65782"/>
                </a:lnTo>
                <a:lnTo>
                  <a:pt x="43011" y="65782"/>
                </a:lnTo>
                <a:close/>
                <a:moveTo>
                  <a:pt x="72070" y="65782"/>
                </a:moveTo>
                <a:lnTo>
                  <a:pt x="47476" y="65782"/>
                </a:lnTo>
                <a:lnTo>
                  <a:pt x="47476" y="87883"/>
                </a:lnTo>
                <a:lnTo>
                  <a:pt x="72070" y="87883"/>
                </a:lnTo>
                <a:lnTo>
                  <a:pt x="72070" y="65782"/>
                </a:lnTo>
                <a:close/>
                <a:moveTo>
                  <a:pt x="101129" y="65782"/>
                </a:moveTo>
                <a:lnTo>
                  <a:pt x="76535" y="65782"/>
                </a:lnTo>
                <a:lnTo>
                  <a:pt x="76535" y="87883"/>
                </a:lnTo>
                <a:lnTo>
                  <a:pt x="101129" y="87883"/>
                </a:lnTo>
                <a:lnTo>
                  <a:pt x="101129" y="65782"/>
                </a:lnTo>
                <a:close/>
                <a:moveTo>
                  <a:pt x="72070" y="38956"/>
                </a:moveTo>
                <a:lnTo>
                  <a:pt x="47476" y="38956"/>
                </a:lnTo>
                <a:lnTo>
                  <a:pt x="47476" y="61317"/>
                </a:lnTo>
                <a:lnTo>
                  <a:pt x="72070" y="61317"/>
                </a:lnTo>
                <a:lnTo>
                  <a:pt x="72070" y="38956"/>
                </a:ln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9" name="Text 7"/>
          <p:cNvSpPr/>
          <p:nvPr/>
        </p:nvSpPr>
        <p:spPr>
          <a:xfrm>
            <a:off x="1031875" y="1539875"/>
            <a:ext cx="2111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Docker Containerization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1875" y="1793875"/>
            <a:ext cx="207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Stack Containerized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0375" y="2047875"/>
            <a:ext cx="8191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application containerization ensures consistent environments from development to production. Each service runs in isolated containers with defined resource limits and networking.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8313" y="2555875"/>
            <a:ext cx="8120063" cy="1174750"/>
          </a:xfrm>
          <a:custGeom>
            <a:avLst/>
            <a:gdLst/>
            <a:ahLst/>
            <a:cxnLst/>
            <a:rect l="l" t="t" r="r" b="b"/>
            <a:pathLst>
              <a:path w="8120063" h="1174750">
                <a:moveTo>
                  <a:pt x="15875" y="0"/>
                </a:moveTo>
                <a:lnTo>
                  <a:pt x="8088309" y="0"/>
                </a:lnTo>
                <a:cubicBezTo>
                  <a:pt x="8105846" y="0"/>
                  <a:pt x="8120063" y="14217"/>
                  <a:pt x="8120063" y="31753"/>
                </a:cubicBezTo>
                <a:lnTo>
                  <a:pt x="8120063" y="1142997"/>
                </a:lnTo>
                <a:cubicBezTo>
                  <a:pt x="8120063" y="1160533"/>
                  <a:pt x="8105846" y="1174750"/>
                  <a:pt x="8088309" y="1174750"/>
                </a:cubicBezTo>
                <a:lnTo>
                  <a:pt x="15875" y="1174750"/>
                </a:lnTo>
                <a:cubicBezTo>
                  <a:pt x="7107" y="1174750"/>
                  <a:pt x="0" y="1167643"/>
                  <a:pt x="0" y="1158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68313" y="2555875"/>
            <a:ext cx="15875" cy="1174750"/>
          </a:xfrm>
          <a:custGeom>
            <a:avLst/>
            <a:gdLst/>
            <a:ahLst/>
            <a:cxnLst/>
            <a:rect l="l" t="t" r="r" b="b"/>
            <a:pathLst>
              <a:path w="15875" h="1174750">
                <a:moveTo>
                  <a:pt x="15875" y="0"/>
                </a:moveTo>
                <a:lnTo>
                  <a:pt x="15875" y="0"/>
                </a:lnTo>
                <a:lnTo>
                  <a:pt x="15875" y="1174750"/>
                </a:lnTo>
                <a:lnTo>
                  <a:pt x="15875" y="1174750"/>
                </a:lnTo>
                <a:cubicBezTo>
                  <a:pt x="7113" y="1174750"/>
                  <a:pt x="0" y="1167637"/>
                  <a:pt x="0" y="1158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603250" y="2619375"/>
            <a:ext cx="8040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250" y="2809875"/>
            <a:ext cx="804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Environment consistency across dev/staging/prod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250" y="3032125"/>
            <a:ext cx="804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Isolated dependencies prevent conflicts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250" y="3254375"/>
            <a:ext cx="804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Version control for entire environment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250" y="3476625"/>
            <a:ext cx="804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Rapid scaling and rollback capabilities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5438" y="3976687"/>
            <a:ext cx="8397875" cy="2460625"/>
          </a:xfrm>
          <a:custGeom>
            <a:avLst/>
            <a:gdLst/>
            <a:ahLst/>
            <a:cxnLst/>
            <a:rect l="l" t="t" r="r" b="b"/>
            <a:pathLst>
              <a:path w="8397875" h="2460625">
                <a:moveTo>
                  <a:pt x="63509" y="0"/>
                </a:moveTo>
                <a:lnTo>
                  <a:pt x="8334366" y="0"/>
                </a:lnTo>
                <a:cubicBezTo>
                  <a:pt x="8369441" y="0"/>
                  <a:pt x="8397875" y="28434"/>
                  <a:pt x="8397875" y="63509"/>
                </a:cubicBezTo>
                <a:lnTo>
                  <a:pt x="8397875" y="2397116"/>
                </a:lnTo>
                <a:cubicBezTo>
                  <a:pt x="8397875" y="2432191"/>
                  <a:pt x="8369441" y="2460625"/>
                  <a:pt x="8334366" y="2460625"/>
                </a:cubicBezTo>
                <a:lnTo>
                  <a:pt x="63509" y="2460625"/>
                </a:lnTo>
                <a:cubicBezTo>
                  <a:pt x="28434" y="2460625"/>
                  <a:pt x="0" y="2432191"/>
                  <a:pt x="0" y="2397116"/>
                </a:cubicBezTo>
                <a:lnTo>
                  <a:pt x="0" y="63509"/>
                </a:lnTo>
                <a:cubicBezTo>
                  <a:pt x="0" y="28457"/>
                  <a:pt x="28457" y="0"/>
                  <a:pt x="63509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 w="25400">
            <a:solidFill>
              <a:srgbClr val="9CA3A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375" y="41116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21" name="Shape 19"/>
          <p:cNvSpPr/>
          <p:nvPr/>
        </p:nvSpPr>
        <p:spPr>
          <a:xfrm>
            <a:off x="599281" y="42386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22" name="Text 20"/>
          <p:cNvSpPr/>
          <p:nvPr/>
        </p:nvSpPr>
        <p:spPr>
          <a:xfrm>
            <a:off x="1031875" y="4111625"/>
            <a:ext cx="1801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Nginx Web Server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31875" y="4365625"/>
            <a:ext cx="1770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Reverse Proxy &amp; Load Balancer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0375" y="4619625"/>
            <a:ext cx="8191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High-performance web server serving as reverse proxy and load balancer. Handles SSL termination, compression, and static file serving with exceptional efficiency.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8313" y="5127625"/>
            <a:ext cx="8120063" cy="1174750"/>
          </a:xfrm>
          <a:custGeom>
            <a:avLst/>
            <a:gdLst/>
            <a:ahLst/>
            <a:cxnLst/>
            <a:rect l="l" t="t" r="r" b="b"/>
            <a:pathLst>
              <a:path w="8120063" h="1174750">
                <a:moveTo>
                  <a:pt x="15875" y="0"/>
                </a:moveTo>
                <a:lnTo>
                  <a:pt x="8088309" y="0"/>
                </a:lnTo>
                <a:cubicBezTo>
                  <a:pt x="8105846" y="0"/>
                  <a:pt x="8120063" y="14217"/>
                  <a:pt x="8120063" y="31753"/>
                </a:cubicBezTo>
                <a:lnTo>
                  <a:pt x="8120063" y="1142997"/>
                </a:lnTo>
                <a:cubicBezTo>
                  <a:pt x="8120063" y="1160533"/>
                  <a:pt x="8105846" y="1174750"/>
                  <a:pt x="8088309" y="1174750"/>
                </a:cubicBezTo>
                <a:lnTo>
                  <a:pt x="15875" y="1174750"/>
                </a:lnTo>
                <a:cubicBezTo>
                  <a:pt x="7107" y="1174750"/>
                  <a:pt x="0" y="1167643"/>
                  <a:pt x="0" y="1158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68313" y="5127625"/>
            <a:ext cx="15875" cy="1174750"/>
          </a:xfrm>
          <a:custGeom>
            <a:avLst/>
            <a:gdLst/>
            <a:ahLst/>
            <a:cxnLst/>
            <a:rect l="l" t="t" r="r" b="b"/>
            <a:pathLst>
              <a:path w="15875" h="1174750">
                <a:moveTo>
                  <a:pt x="15875" y="0"/>
                </a:moveTo>
                <a:lnTo>
                  <a:pt x="15875" y="0"/>
                </a:lnTo>
                <a:lnTo>
                  <a:pt x="15875" y="1174750"/>
                </a:lnTo>
                <a:lnTo>
                  <a:pt x="15875" y="1174750"/>
                </a:lnTo>
                <a:cubicBezTo>
                  <a:pt x="7113" y="1174750"/>
                  <a:pt x="0" y="1167637"/>
                  <a:pt x="0" y="1158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27" name="Text 25"/>
          <p:cNvSpPr/>
          <p:nvPr/>
        </p:nvSpPr>
        <p:spPr>
          <a:xfrm>
            <a:off x="603250" y="5191125"/>
            <a:ext cx="8040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Functions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3250" y="5381625"/>
            <a:ext cx="804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Reverse proxy to backend services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3250" y="5603875"/>
            <a:ext cx="804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SSL/TLS termination and encryption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3250" y="5826125"/>
            <a:ext cx="804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Gzip compression for faster transfers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3250" y="6048375"/>
            <a:ext cx="804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Rate limiting and DDoS protection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834438" y="1404938"/>
            <a:ext cx="3032125" cy="2825750"/>
          </a:xfrm>
          <a:custGeom>
            <a:avLst/>
            <a:gdLst/>
            <a:ahLst/>
            <a:cxnLst/>
            <a:rect l="l" t="t" r="r" b="b"/>
            <a:pathLst>
              <a:path w="3032125" h="2825750">
                <a:moveTo>
                  <a:pt x="63495" y="0"/>
                </a:moveTo>
                <a:lnTo>
                  <a:pt x="2968630" y="0"/>
                </a:lnTo>
                <a:cubicBezTo>
                  <a:pt x="3003697" y="0"/>
                  <a:pt x="3032125" y="28428"/>
                  <a:pt x="3032125" y="63495"/>
                </a:cubicBezTo>
                <a:lnTo>
                  <a:pt x="3032125" y="2762255"/>
                </a:lnTo>
                <a:cubicBezTo>
                  <a:pt x="3032125" y="2797322"/>
                  <a:pt x="3003697" y="2825750"/>
                  <a:pt x="2968630" y="2825750"/>
                </a:cubicBezTo>
                <a:lnTo>
                  <a:pt x="63495" y="2825750"/>
                </a:lnTo>
                <a:cubicBezTo>
                  <a:pt x="28428" y="2825750"/>
                  <a:pt x="0" y="2797322"/>
                  <a:pt x="0" y="2762255"/>
                </a:cubicBezTo>
                <a:lnTo>
                  <a:pt x="0" y="63495"/>
                </a:lnTo>
                <a:cubicBezTo>
                  <a:pt x="0" y="28428"/>
                  <a:pt x="28428" y="0"/>
                  <a:pt x="63495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93188" y="1555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5668" y="-484"/>
                </a:moveTo>
                <a:cubicBezTo>
                  <a:pt x="99231" y="-4204"/>
                  <a:pt x="91269" y="-4204"/>
                  <a:pt x="84832" y="-484"/>
                </a:cubicBezTo>
                <a:lnTo>
                  <a:pt x="53504" y="17599"/>
                </a:lnTo>
                <a:cubicBezTo>
                  <a:pt x="47067" y="21320"/>
                  <a:pt x="43086" y="28203"/>
                  <a:pt x="43086" y="35644"/>
                </a:cubicBezTo>
                <a:lnTo>
                  <a:pt x="43086" y="73558"/>
                </a:lnTo>
                <a:lnTo>
                  <a:pt x="10232" y="92534"/>
                </a:lnTo>
                <a:cubicBezTo>
                  <a:pt x="3795" y="96255"/>
                  <a:pt x="-186" y="103138"/>
                  <a:pt x="-186" y="110579"/>
                </a:cubicBezTo>
                <a:lnTo>
                  <a:pt x="-186" y="146782"/>
                </a:lnTo>
                <a:cubicBezTo>
                  <a:pt x="-186" y="154223"/>
                  <a:pt x="3795" y="161106"/>
                  <a:pt x="10232" y="164827"/>
                </a:cubicBezTo>
                <a:lnTo>
                  <a:pt x="41597" y="182910"/>
                </a:lnTo>
                <a:cubicBezTo>
                  <a:pt x="48034" y="186630"/>
                  <a:pt x="55997" y="186630"/>
                  <a:pt x="62433" y="182910"/>
                </a:cubicBezTo>
                <a:lnTo>
                  <a:pt x="95287" y="163934"/>
                </a:lnTo>
                <a:lnTo>
                  <a:pt x="128141" y="182910"/>
                </a:lnTo>
                <a:cubicBezTo>
                  <a:pt x="134578" y="186630"/>
                  <a:pt x="142540" y="186630"/>
                  <a:pt x="148977" y="182910"/>
                </a:cubicBezTo>
                <a:lnTo>
                  <a:pt x="180268" y="164827"/>
                </a:lnTo>
                <a:cubicBezTo>
                  <a:pt x="186705" y="161106"/>
                  <a:pt x="190686" y="154223"/>
                  <a:pt x="190686" y="146782"/>
                </a:cubicBezTo>
                <a:lnTo>
                  <a:pt x="190686" y="110579"/>
                </a:lnTo>
                <a:cubicBezTo>
                  <a:pt x="190686" y="103138"/>
                  <a:pt x="186705" y="96255"/>
                  <a:pt x="180268" y="92534"/>
                </a:cubicBezTo>
                <a:lnTo>
                  <a:pt x="147414" y="73558"/>
                </a:lnTo>
                <a:lnTo>
                  <a:pt x="147414" y="35644"/>
                </a:lnTo>
                <a:cubicBezTo>
                  <a:pt x="147414" y="28203"/>
                  <a:pt x="143433" y="21320"/>
                  <a:pt x="136996" y="17599"/>
                </a:cubicBezTo>
                <a:lnTo>
                  <a:pt x="105668" y="-484"/>
                </a:lnTo>
                <a:close/>
                <a:moveTo>
                  <a:pt x="86320" y="108868"/>
                </a:moveTo>
                <a:lnTo>
                  <a:pt x="86320" y="148493"/>
                </a:lnTo>
                <a:lnTo>
                  <a:pt x="53467" y="167469"/>
                </a:lnTo>
                <a:cubicBezTo>
                  <a:pt x="53020" y="167729"/>
                  <a:pt x="52499" y="167878"/>
                  <a:pt x="51978" y="167878"/>
                </a:cubicBezTo>
                <a:lnTo>
                  <a:pt x="51978" y="128699"/>
                </a:lnTo>
                <a:lnTo>
                  <a:pt x="86320" y="108868"/>
                </a:lnTo>
                <a:close/>
                <a:moveTo>
                  <a:pt x="172417" y="109091"/>
                </a:moveTo>
                <a:cubicBezTo>
                  <a:pt x="172678" y="109538"/>
                  <a:pt x="172827" y="110058"/>
                  <a:pt x="172827" y="110579"/>
                </a:cubicBezTo>
                <a:lnTo>
                  <a:pt x="172827" y="146782"/>
                </a:lnTo>
                <a:cubicBezTo>
                  <a:pt x="172827" y="147861"/>
                  <a:pt x="172269" y="148828"/>
                  <a:pt x="171338" y="149349"/>
                </a:cubicBezTo>
                <a:lnTo>
                  <a:pt x="139973" y="167432"/>
                </a:lnTo>
                <a:cubicBezTo>
                  <a:pt x="139526" y="167692"/>
                  <a:pt x="139005" y="167841"/>
                  <a:pt x="138485" y="167841"/>
                </a:cubicBezTo>
                <a:lnTo>
                  <a:pt x="138485" y="128662"/>
                </a:lnTo>
                <a:lnTo>
                  <a:pt x="172417" y="109091"/>
                </a:lnTo>
                <a:close/>
                <a:moveTo>
                  <a:pt x="129592" y="35644"/>
                </a:moveTo>
                <a:lnTo>
                  <a:pt x="129592" y="73558"/>
                </a:lnTo>
                <a:lnTo>
                  <a:pt x="95250" y="93390"/>
                </a:lnTo>
                <a:lnTo>
                  <a:pt x="95250" y="53764"/>
                </a:lnTo>
                <a:lnTo>
                  <a:pt x="129183" y="34193"/>
                </a:lnTo>
                <a:cubicBezTo>
                  <a:pt x="129443" y="34640"/>
                  <a:pt x="129592" y="35161"/>
                  <a:pt x="129592" y="35682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4" name="Text 32"/>
          <p:cNvSpPr/>
          <p:nvPr/>
        </p:nvSpPr>
        <p:spPr>
          <a:xfrm>
            <a:off x="9302750" y="1539875"/>
            <a:ext cx="1285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Docker Compose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969375" y="1825625"/>
            <a:ext cx="282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service management and orchestration. Defines and runs multi-container applications with a single configuration file.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977313" y="2540000"/>
            <a:ext cx="2754313" cy="476250"/>
          </a:xfrm>
          <a:custGeom>
            <a:avLst/>
            <a:gdLst/>
            <a:ahLst/>
            <a:cxnLst/>
            <a:rect l="l" t="t" r="r" b="b"/>
            <a:pathLst>
              <a:path w="2754313" h="476250">
                <a:moveTo>
                  <a:pt x="15875" y="0"/>
                </a:moveTo>
                <a:lnTo>
                  <a:pt x="2722561" y="0"/>
                </a:lnTo>
                <a:cubicBezTo>
                  <a:pt x="2740097" y="0"/>
                  <a:pt x="2754312" y="14216"/>
                  <a:pt x="2754312" y="31752"/>
                </a:cubicBezTo>
                <a:lnTo>
                  <a:pt x="2754313" y="444498"/>
                </a:lnTo>
                <a:cubicBezTo>
                  <a:pt x="2754312" y="462034"/>
                  <a:pt x="2740097" y="476250"/>
                  <a:pt x="2722561" y="476250"/>
                </a:cubicBezTo>
                <a:lnTo>
                  <a:pt x="15875" y="476250"/>
                </a:lnTo>
                <a:cubicBezTo>
                  <a:pt x="7113" y="476250"/>
                  <a:pt x="0" y="469137"/>
                  <a:pt x="0" y="4603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977313" y="2540000"/>
            <a:ext cx="15875" cy="476250"/>
          </a:xfrm>
          <a:custGeom>
            <a:avLst/>
            <a:gdLst/>
            <a:ahLst/>
            <a:cxnLst/>
            <a:rect l="l" t="t" r="r" b="b"/>
            <a:pathLst>
              <a:path w="15875" h="476250">
                <a:moveTo>
                  <a:pt x="15875" y="0"/>
                </a:moveTo>
                <a:lnTo>
                  <a:pt x="15875" y="0"/>
                </a:lnTo>
                <a:lnTo>
                  <a:pt x="15875" y="476250"/>
                </a:lnTo>
                <a:lnTo>
                  <a:pt x="15875" y="476250"/>
                </a:lnTo>
                <a:cubicBezTo>
                  <a:pt x="7113" y="476250"/>
                  <a:pt x="0" y="469137"/>
                  <a:pt x="0" y="4603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8" name="Text 36"/>
          <p:cNvSpPr/>
          <p:nvPr/>
        </p:nvSpPr>
        <p:spPr>
          <a:xfrm>
            <a:off x="9080500" y="2603500"/>
            <a:ext cx="270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 Discovery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080500" y="2762250"/>
            <a:ext cx="271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container networking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977313" y="3079750"/>
            <a:ext cx="2754313" cy="476250"/>
          </a:xfrm>
          <a:custGeom>
            <a:avLst/>
            <a:gdLst/>
            <a:ahLst/>
            <a:cxnLst/>
            <a:rect l="l" t="t" r="r" b="b"/>
            <a:pathLst>
              <a:path w="2754313" h="476250">
                <a:moveTo>
                  <a:pt x="15875" y="0"/>
                </a:moveTo>
                <a:lnTo>
                  <a:pt x="2722561" y="0"/>
                </a:lnTo>
                <a:cubicBezTo>
                  <a:pt x="2740097" y="0"/>
                  <a:pt x="2754312" y="14216"/>
                  <a:pt x="2754312" y="31752"/>
                </a:cubicBezTo>
                <a:lnTo>
                  <a:pt x="2754313" y="444498"/>
                </a:lnTo>
                <a:cubicBezTo>
                  <a:pt x="2754312" y="462034"/>
                  <a:pt x="2740097" y="476250"/>
                  <a:pt x="2722561" y="476250"/>
                </a:cubicBezTo>
                <a:lnTo>
                  <a:pt x="15875" y="476250"/>
                </a:lnTo>
                <a:cubicBezTo>
                  <a:pt x="7113" y="476250"/>
                  <a:pt x="0" y="469137"/>
                  <a:pt x="0" y="4603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977313" y="3079750"/>
            <a:ext cx="15875" cy="476250"/>
          </a:xfrm>
          <a:custGeom>
            <a:avLst/>
            <a:gdLst/>
            <a:ahLst/>
            <a:cxnLst/>
            <a:rect l="l" t="t" r="r" b="b"/>
            <a:pathLst>
              <a:path w="15875" h="476250">
                <a:moveTo>
                  <a:pt x="15875" y="0"/>
                </a:moveTo>
                <a:lnTo>
                  <a:pt x="15875" y="0"/>
                </a:lnTo>
                <a:lnTo>
                  <a:pt x="15875" y="476250"/>
                </a:lnTo>
                <a:lnTo>
                  <a:pt x="15875" y="476250"/>
                </a:lnTo>
                <a:cubicBezTo>
                  <a:pt x="7113" y="476250"/>
                  <a:pt x="0" y="469137"/>
                  <a:pt x="0" y="4603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42" name="Text 40"/>
          <p:cNvSpPr/>
          <p:nvPr/>
        </p:nvSpPr>
        <p:spPr>
          <a:xfrm>
            <a:off x="9080500" y="3143250"/>
            <a:ext cx="270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 Management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080500" y="3302000"/>
            <a:ext cx="271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configuration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977313" y="3619500"/>
            <a:ext cx="2754313" cy="476250"/>
          </a:xfrm>
          <a:custGeom>
            <a:avLst/>
            <a:gdLst/>
            <a:ahLst/>
            <a:cxnLst/>
            <a:rect l="l" t="t" r="r" b="b"/>
            <a:pathLst>
              <a:path w="2754313" h="476250">
                <a:moveTo>
                  <a:pt x="15875" y="0"/>
                </a:moveTo>
                <a:lnTo>
                  <a:pt x="2722561" y="0"/>
                </a:lnTo>
                <a:cubicBezTo>
                  <a:pt x="2740097" y="0"/>
                  <a:pt x="2754312" y="14216"/>
                  <a:pt x="2754312" y="31752"/>
                </a:cubicBezTo>
                <a:lnTo>
                  <a:pt x="2754313" y="444498"/>
                </a:lnTo>
                <a:cubicBezTo>
                  <a:pt x="2754312" y="462034"/>
                  <a:pt x="2740097" y="476250"/>
                  <a:pt x="2722561" y="476250"/>
                </a:cubicBezTo>
                <a:lnTo>
                  <a:pt x="15875" y="476250"/>
                </a:lnTo>
                <a:cubicBezTo>
                  <a:pt x="7113" y="476250"/>
                  <a:pt x="0" y="469137"/>
                  <a:pt x="0" y="4603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977313" y="3619500"/>
            <a:ext cx="15875" cy="476250"/>
          </a:xfrm>
          <a:custGeom>
            <a:avLst/>
            <a:gdLst/>
            <a:ahLst/>
            <a:cxnLst/>
            <a:rect l="l" t="t" r="r" b="b"/>
            <a:pathLst>
              <a:path w="15875" h="476250">
                <a:moveTo>
                  <a:pt x="15875" y="0"/>
                </a:moveTo>
                <a:lnTo>
                  <a:pt x="15875" y="0"/>
                </a:lnTo>
                <a:lnTo>
                  <a:pt x="15875" y="476250"/>
                </a:lnTo>
                <a:lnTo>
                  <a:pt x="15875" y="476250"/>
                </a:lnTo>
                <a:cubicBezTo>
                  <a:pt x="7113" y="476250"/>
                  <a:pt x="0" y="469137"/>
                  <a:pt x="0" y="4603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46" name="Text 44"/>
          <p:cNvSpPr/>
          <p:nvPr/>
        </p:nvSpPr>
        <p:spPr>
          <a:xfrm>
            <a:off x="9080500" y="3683000"/>
            <a:ext cx="270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 Mounting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080500" y="3841750"/>
            <a:ext cx="271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Persistent data storage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830469" y="4337844"/>
            <a:ext cx="3040063" cy="1198563"/>
          </a:xfrm>
          <a:custGeom>
            <a:avLst/>
            <a:gdLst/>
            <a:ahLst/>
            <a:cxnLst/>
            <a:rect l="l" t="t" r="r" b="b"/>
            <a:pathLst>
              <a:path w="3040063" h="1198563">
                <a:moveTo>
                  <a:pt x="63500" y="0"/>
                </a:moveTo>
                <a:lnTo>
                  <a:pt x="2976563" y="0"/>
                </a:lnTo>
                <a:cubicBezTo>
                  <a:pt x="3011633" y="0"/>
                  <a:pt x="3040063" y="28430"/>
                  <a:pt x="3040063" y="63500"/>
                </a:cubicBezTo>
                <a:lnTo>
                  <a:pt x="3040063" y="1135063"/>
                </a:lnTo>
                <a:cubicBezTo>
                  <a:pt x="3040063" y="1170133"/>
                  <a:pt x="3011633" y="1198563"/>
                  <a:pt x="2976563" y="1198563"/>
                </a:cubicBezTo>
                <a:lnTo>
                  <a:pt x="63500" y="1198563"/>
                </a:lnTo>
                <a:cubicBezTo>
                  <a:pt x="28430" y="1198563"/>
                  <a:pt x="0" y="1170133"/>
                  <a:pt x="0" y="1135063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34D399">
              <a:alpha val="10196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85250" y="44846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50" name="Text 48"/>
          <p:cNvSpPr/>
          <p:nvPr/>
        </p:nvSpPr>
        <p:spPr>
          <a:xfrm>
            <a:off x="9294813" y="4468813"/>
            <a:ext cx="140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Portability Promise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961438" y="4786313"/>
            <a:ext cx="28416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"Write once, run anywhere"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philosophy ensures deployment consistency across cloud providers, on-premises servers, and developer machines.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826500" y="5635625"/>
            <a:ext cx="3048000" cy="2587625"/>
          </a:xfrm>
          <a:custGeom>
            <a:avLst/>
            <a:gdLst/>
            <a:ahLst/>
            <a:cxnLst/>
            <a:rect l="l" t="t" r="r" b="b"/>
            <a:pathLst>
              <a:path w="3048000" h="2587625">
                <a:moveTo>
                  <a:pt x="63500" y="0"/>
                </a:moveTo>
                <a:lnTo>
                  <a:pt x="2984500" y="0"/>
                </a:lnTo>
                <a:cubicBezTo>
                  <a:pt x="3019570" y="0"/>
                  <a:pt x="3048000" y="28430"/>
                  <a:pt x="3048000" y="63500"/>
                </a:cubicBezTo>
                <a:lnTo>
                  <a:pt x="3048000" y="2524125"/>
                </a:lnTo>
                <a:cubicBezTo>
                  <a:pt x="3048000" y="2559195"/>
                  <a:pt x="3019570" y="2587625"/>
                  <a:pt x="2984500" y="2587625"/>
                </a:cubicBezTo>
                <a:lnTo>
                  <a:pt x="63500" y="2587625"/>
                </a:lnTo>
                <a:cubicBezTo>
                  <a:pt x="28430" y="2587625"/>
                  <a:pt x="0" y="2559195"/>
                  <a:pt x="0" y="2524125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solidFill>
            <a:srgbClr val="4B5563">
              <a:alpha val="3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8917781" y="5762625"/>
            <a:ext cx="2865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Stack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957469" y="6084094"/>
            <a:ext cx="2786063" cy="484187"/>
          </a:xfrm>
          <a:custGeom>
            <a:avLst/>
            <a:gdLst/>
            <a:ahLst/>
            <a:cxnLst/>
            <a:rect l="l" t="t" r="r" b="b"/>
            <a:pathLst>
              <a:path w="2786063" h="484187">
                <a:moveTo>
                  <a:pt x="63501" y="0"/>
                </a:moveTo>
                <a:lnTo>
                  <a:pt x="2722561" y="0"/>
                </a:lnTo>
                <a:cubicBezTo>
                  <a:pt x="2757632" y="0"/>
                  <a:pt x="2786062" y="28430"/>
                  <a:pt x="2786062" y="63501"/>
                </a:cubicBezTo>
                <a:lnTo>
                  <a:pt x="2786063" y="420686"/>
                </a:lnTo>
                <a:cubicBezTo>
                  <a:pt x="2786062" y="455757"/>
                  <a:pt x="2757632" y="484188"/>
                  <a:pt x="2722561" y="484187"/>
                </a:cubicBezTo>
                <a:lnTo>
                  <a:pt x="63501" y="484187"/>
                </a:lnTo>
                <a:cubicBezTo>
                  <a:pt x="28430" y="484187"/>
                  <a:pt x="0" y="455757"/>
                  <a:pt x="0" y="420686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 w="12700">
            <a:solidFill>
              <a:srgbClr val="9CA3AF">
                <a:alpha val="30196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93188" y="6151563"/>
            <a:ext cx="271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Frontend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997156" y="6342063"/>
            <a:ext cx="270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3000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0298906" y="6635750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47272" y="140252"/>
                </a:moveTo>
                <a:cubicBezTo>
                  <a:pt x="50760" y="143740"/>
                  <a:pt x="56424" y="143740"/>
                  <a:pt x="59913" y="140252"/>
                </a:cubicBezTo>
                <a:lnTo>
                  <a:pt x="104561" y="95603"/>
                </a:lnTo>
                <a:cubicBezTo>
                  <a:pt x="108049" y="92115"/>
                  <a:pt x="108049" y="86451"/>
                  <a:pt x="104561" y="82962"/>
                </a:cubicBezTo>
                <a:cubicBezTo>
                  <a:pt x="101073" y="79474"/>
                  <a:pt x="95408" y="79474"/>
                  <a:pt x="91920" y="82962"/>
                </a:cubicBezTo>
                <a:lnTo>
                  <a:pt x="62508" y="112375"/>
                </a:lnTo>
                <a:lnTo>
                  <a:pt x="62508" y="8930"/>
                </a:lnTo>
                <a:cubicBezTo>
                  <a:pt x="62508" y="3990"/>
                  <a:pt x="58517" y="0"/>
                  <a:pt x="53578" y="0"/>
                </a:cubicBezTo>
                <a:cubicBezTo>
                  <a:pt x="48639" y="0"/>
                  <a:pt x="44648" y="3990"/>
                  <a:pt x="44648" y="8930"/>
                </a:cubicBezTo>
                <a:lnTo>
                  <a:pt x="44648" y="112375"/>
                </a:lnTo>
                <a:lnTo>
                  <a:pt x="15236" y="82962"/>
                </a:lnTo>
                <a:cubicBezTo>
                  <a:pt x="11748" y="79474"/>
                  <a:pt x="6083" y="79474"/>
                  <a:pt x="2595" y="82962"/>
                </a:cubicBezTo>
                <a:cubicBezTo>
                  <a:pt x="-893" y="86451"/>
                  <a:pt x="-893" y="92115"/>
                  <a:pt x="2595" y="95603"/>
                </a:cubicBezTo>
                <a:lnTo>
                  <a:pt x="47244" y="140252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58" name="Shape 56"/>
          <p:cNvSpPr/>
          <p:nvPr/>
        </p:nvSpPr>
        <p:spPr>
          <a:xfrm>
            <a:off x="8957469" y="6846094"/>
            <a:ext cx="2786063" cy="484187"/>
          </a:xfrm>
          <a:custGeom>
            <a:avLst/>
            <a:gdLst/>
            <a:ahLst/>
            <a:cxnLst/>
            <a:rect l="l" t="t" r="r" b="b"/>
            <a:pathLst>
              <a:path w="2786063" h="484187">
                <a:moveTo>
                  <a:pt x="63501" y="0"/>
                </a:moveTo>
                <a:lnTo>
                  <a:pt x="2722561" y="0"/>
                </a:lnTo>
                <a:cubicBezTo>
                  <a:pt x="2757632" y="0"/>
                  <a:pt x="2786062" y="28430"/>
                  <a:pt x="2786062" y="63501"/>
                </a:cubicBezTo>
                <a:lnTo>
                  <a:pt x="2786063" y="420686"/>
                </a:lnTo>
                <a:cubicBezTo>
                  <a:pt x="2786062" y="455757"/>
                  <a:pt x="2757632" y="484188"/>
                  <a:pt x="2722561" y="484187"/>
                </a:cubicBezTo>
                <a:lnTo>
                  <a:pt x="63501" y="484187"/>
                </a:lnTo>
                <a:cubicBezTo>
                  <a:pt x="28430" y="484187"/>
                  <a:pt x="0" y="455757"/>
                  <a:pt x="0" y="420686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 w="12700">
            <a:solidFill>
              <a:srgbClr val="9CA3AF">
                <a:alpha val="30196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93188" y="6913563"/>
            <a:ext cx="271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Nginx Proxy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997156" y="7104063"/>
            <a:ext cx="270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80/443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0298906" y="7397750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47272" y="140252"/>
                </a:moveTo>
                <a:cubicBezTo>
                  <a:pt x="50760" y="143740"/>
                  <a:pt x="56424" y="143740"/>
                  <a:pt x="59913" y="140252"/>
                </a:cubicBezTo>
                <a:lnTo>
                  <a:pt x="104561" y="95603"/>
                </a:lnTo>
                <a:cubicBezTo>
                  <a:pt x="108049" y="92115"/>
                  <a:pt x="108049" y="86451"/>
                  <a:pt x="104561" y="82962"/>
                </a:cubicBezTo>
                <a:cubicBezTo>
                  <a:pt x="101073" y="79474"/>
                  <a:pt x="95408" y="79474"/>
                  <a:pt x="91920" y="82962"/>
                </a:cubicBezTo>
                <a:lnTo>
                  <a:pt x="62508" y="112375"/>
                </a:lnTo>
                <a:lnTo>
                  <a:pt x="62508" y="8930"/>
                </a:lnTo>
                <a:cubicBezTo>
                  <a:pt x="62508" y="3990"/>
                  <a:pt x="58517" y="0"/>
                  <a:pt x="53578" y="0"/>
                </a:cubicBezTo>
                <a:cubicBezTo>
                  <a:pt x="48639" y="0"/>
                  <a:pt x="44648" y="3990"/>
                  <a:pt x="44648" y="8930"/>
                </a:cubicBezTo>
                <a:lnTo>
                  <a:pt x="44648" y="112375"/>
                </a:lnTo>
                <a:lnTo>
                  <a:pt x="15236" y="82962"/>
                </a:lnTo>
                <a:cubicBezTo>
                  <a:pt x="11748" y="79474"/>
                  <a:pt x="6083" y="79474"/>
                  <a:pt x="2595" y="82962"/>
                </a:cubicBezTo>
                <a:cubicBezTo>
                  <a:pt x="-893" y="86451"/>
                  <a:pt x="-893" y="92115"/>
                  <a:pt x="2595" y="95603"/>
                </a:cubicBezTo>
                <a:lnTo>
                  <a:pt x="47244" y="140252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62" name="Shape 60"/>
          <p:cNvSpPr/>
          <p:nvPr/>
        </p:nvSpPr>
        <p:spPr>
          <a:xfrm>
            <a:off x="8957469" y="7608094"/>
            <a:ext cx="2786063" cy="484187"/>
          </a:xfrm>
          <a:custGeom>
            <a:avLst/>
            <a:gdLst/>
            <a:ahLst/>
            <a:cxnLst/>
            <a:rect l="l" t="t" r="r" b="b"/>
            <a:pathLst>
              <a:path w="2786063" h="484187">
                <a:moveTo>
                  <a:pt x="63501" y="0"/>
                </a:moveTo>
                <a:lnTo>
                  <a:pt x="2722561" y="0"/>
                </a:lnTo>
                <a:cubicBezTo>
                  <a:pt x="2757632" y="0"/>
                  <a:pt x="2786062" y="28430"/>
                  <a:pt x="2786062" y="63501"/>
                </a:cubicBezTo>
                <a:lnTo>
                  <a:pt x="2786063" y="420686"/>
                </a:lnTo>
                <a:cubicBezTo>
                  <a:pt x="2786062" y="455757"/>
                  <a:pt x="2757632" y="484188"/>
                  <a:pt x="2722561" y="484187"/>
                </a:cubicBezTo>
                <a:lnTo>
                  <a:pt x="63501" y="484187"/>
                </a:lnTo>
                <a:cubicBezTo>
                  <a:pt x="28430" y="484187"/>
                  <a:pt x="0" y="455757"/>
                  <a:pt x="0" y="420686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 w="12700">
            <a:solidFill>
              <a:srgbClr val="34D399">
                <a:alpha val="50196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93188" y="7675562"/>
            <a:ext cx="271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 Backend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997156" y="7866063"/>
            <a:ext cx="270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8000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240" kern="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Workflow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ingestion to presentation: complete data 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6" name="Shape 4"/>
          <p:cNvSpPr/>
          <p:nvPr/>
        </p:nvSpPr>
        <p:spPr>
          <a:xfrm>
            <a:off x="390525" y="1724025"/>
            <a:ext cx="2143125" cy="3810000"/>
          </a:xfrm>
          <a:custGeom>
            <a:avLst/>
            <a:gdLst/>
            <a:ahLst/>
            <a:cxnLst/>
            <a:rect l="l" t="t" r="r" b="b"/>
            <a:pathLst>
              <a:path w="2143125" h="3810000">
                <a:moveTo>
                  <a:pt x="76210" y="0"/>
                </a:moveTo>
                <a:lnTo>
                  <a:pt x="2066915" y="0"/>
                </a:lnTo>
                <a:cubicBezTo>
                  <a:pt x="2109005" y="0"/>
                  <a:pt x="2143125" y="34120"/>
                  <a:pt x="2143125" y="76210"/>
                </a:cubicBezTo>
                <a:lnTo>
                  <a:pt x="2143125" y="3733790"/>
                </a:lnTo>
                <a:cubicBezTo>
                  <a:pt x="2143125" y="3775880"/>
                  <a:pt x="2109005" y="3810000"/>
                  <a:pt x="2066915" y="3810000"/>
                </a:cubicBezTo>
                <a:lnTo>
                  <a:pt x="76210" y="3810000"/>
                </a:lnTo>
                <a:cubicBezTo>
                  <a:pt x="34120" y="3810000"/>
                  <a:pt x="0" y="3775880"/>
                  <a:pt x="0" y="37337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6280" y="18859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8" name="Shape 6"/>
          <p:cNvSpPr/>
          <p:nvPr/>
        </p:nvSpPr>
        <p:spPr>
          <a:xfrm>
            <a:off x="1334393" y="20383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64294" y="214313"/>
                </a:moveTo>
                <a:cubicBezTo>
                  <a:pt x="28798" y="214313"/>
                  <a:pt x="0" y="185514"/>
                  <a:pt x="0" y="150019"/>
                </a:cubicBezTo>
                <a:cubicBezTo>
                  <a:pt x="0" y="121712"/>
                  <a:pt x="18306" y="97691"/>
                  <a:pt x="43711" y="89074"/>
                </a:cubicBezTo>
                <a:cubicBezTo>
                  <a:pt x="43130" y="85636"/>
                  <a:pt x="42863" y="82153"/>
                  <a:pt x="42863" y="78581"/>
                </a:cubicBezTo>
                <a:cubicBezTo>
                  <a:pt x="42863" y="43086"/>
                  <a:pt x="71661" y="14288"/>
                  <a:pt x="107156" y="14288"/>
                </a:cubicBezTo>
                <a:cubicBezTo>
                  <a:pt x="131891" y="14288"/>
                  <a:pt x="153367" y="28262"/>
                  <a:pt x="164128" y="48711"/>
                </a:cubicBezTo>
                <a:cubicBezTo>
                  <a:pt x="170468" y="45006"/>
                  <a:pt x="177879" y="42863"/>
                  <a:pt x="185738" y="42863"/>
                </a:cubicBezTo>
                <a:cubicBezTo>
                  <a:pt x="209401" y="42863"/>
                  <a:pt x="228600" y="62061"/>
                  <a:pt x="228600" y="85725"/>
                </a:cubicBezTo>
                <a:cubicBezTo>
                  <a:pt x="228600" y="92735"/>
                  <a:pt x="226903" y="99387"/>
                  <a:pt x="223912" y="105236"/>
                </a:cubicBezTo>
                <a:cubicBezTo>
                  <a:pt x="243557" y="114300"/>
                  <a:pt x="257175" y="134124"/>
                  <a:pt x="257175" y="157163"/>
                </a:cubicBezTo>
                <a:cubicBezTo>
                  <a:pt x="257175" y="188729"/>
                  <a:pt x="231591" y="214313"/>
                  <a:pt x="200025" y="214313"/>
                </a:cubicBezTo>
                <a:lnTo>
                  <a:pt x="64294" y="214313"/>
                </a:lnTo>
                <a:close/>
                <a:moveTo>
                  <a:pt x="136178" y="85279"/>
                </a:moveTo>
                <a:cubicBezTo>
                  <a:pt x="131981" y="81082"/>
                  <a:pt x="125194" y="81082"/>
                  <a:pt x="121042" y="85279"/>
                </a:cubicBezTo>
                <a:lnTo>
                  <a:pt x="88895" y="117425"/>
                </a:lnTo>
                <a:cubicBezTo>
                  <a:pt x="84698" y="121622"/>
                  <a:pt x="84698" y="128409"/>
                  <a:pt x="88895" y="132561"/>
                </a:cubicBezTo>
                <a:cubicBezTo>
                  <a:pt x="93092" y="136714"/>
                  <a:pt x="99879" y="136758"/>
                  <a:pt x="104031" y="132561"/>
                </a:cubicBezTo>
                <a:lnTo>
                  <a:pt x="117872" y="118720"/>
                </a:lnTo>
                <a:lnTo>
                  <a:pt x="117872" y="164306"/>
                </a:lnTo>
                <a:cubicBezTo>
                  <a:pt x="117872" y="170244"/>
                  <a:pt x="122649" y="175022"/>
                  <a:pt x="128588" y="175022"/>
                </a:cubicBezTo>
                <a:cubicBezTo>
                  <a:pt x="134526" y="175022"/>
                  <a:pt x="139303" y="170244"/>
                  <a:pt x="139303" y="164306"/>
                </a:cubicBezTo>
                <a:lnTo>
                  <a:pt x="139303" y="118720"/>
                </a:lnTo>
                <a:lnTo>
                  <a:pt x="153144" y="132561"/>
                </a:lnTo>
                <a:cubicBezTo>
                  <a:pt x="157341" y="136758"/>
                  <a:pt x="164128" y="136758"/>
                  <a:pt x="168280" y="132561"/>
                </a:cubicBezTo>
                <a:cubicBezTo>
                  <a:pt x="172432" y="128364"/>
                  <a:pt x="172477" y="121578"/>
                  <a:pt x="168280" y="117425"/>
                </a:cubicBezTo>
                <a:lnTo>
                  <a:pt x="136133" y="85279"/>
                </a:ln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9" name="Text 7"/>
          <p:cNvSpPr/>
          <p:nvPr/>
        </p:nvSpPr>
        <p:spPr>
          <a:xfrm>
            <a:off x="504825" y="2533650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Ingestion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4350" y="2876550"/>
            <a:ext cx="18954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upload media files via React frontend with drag-and-drop interface and instant preview.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2450" y="4114800"/>
            <a:ext cx="1819275" cy="723900"/>
          </a:xfrm>
          <a:custGeom>
            <a:avLst/>
            <a:gdLst/>
            <a:ahLst/>
            <a:cxnLst/>
            <a:rect l="l" t="t" r="r" b="b"/>
            <a:pathLst>
              <a:path w="1819275" h="723900">
                <a:moveTo>
                  <a:pt x="38099" y="0"/>
                </a:moveTo>
                <a:lnTo>
                  <a:pt x="1781176" y="0"/>
                </a:lnTo>
                <a:cubicBezTo>
                  <a:pt x="1802203" y="0"/>
                  <a:pt x="1819275" y="17072"/>
                  <a:pt x="1819275" y="38099"/>
                </a:cubicBezTo>
                <a:lnTo>
                  <a:pt x="1819275" y="685801"/>
                </a:lnTo>
                <a:cubicBezTo>
                  <a:pt x="1819275" y="706828"/>
                  <a:pt x="1802203" y="723900"/>
                  <a:pt x="1781176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33413" y="4152900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Supported Formats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8650" y="4343400"/>
            <a:ext cx="1666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JPG, PNG, GIF, MP4, MOV, AVI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2450" y="4876800"/>
            <a:ext cx="1819275" cy="495300"/>
          </a:xfrm>
          <a:custGeom>
            <a:avLst/>
            <a:gdLst/>
            <a:ahLst/>
            <a:cxnLst/>
            <a:rect l="l" t="t" r="r" b="b"/>
            <a:pathLst>
              <a:path w="1819275" h="495300">
                <a:moveTo>
                  <a:pt x="38098" y="0"/>
                </a:moveTo>
                <a:lnTo>
                  <a:pt x="1781177" y="0"/>
                </a:lnTo>
                <a:cubicBezTo>
                  <a:pt x="1802218" y="0"/>
                  <a:pt x="1819275" y="17057"/>
                  <a:pt x="1819275" y="38098"/>
                </a:cubicBezTo>
                <a:lnTo>
                  <a:pt x="1819275" y="457202"/>
                </a:lnTo>
                <a:cubicBezTo>
                  <a:pt x="1819275" y="478243"/>
                  <a:pt x="1802218" y="495300"/>
                  <a:pt x="178117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33413" y="4914900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Size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8650" y="510540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100MB per file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06960" y="1724025"/>
            <a:ext cx="2143125" cy="3810000"/>
          </a:xfrm>
          <a:custGeom>
            <a:avLst/>
            <a:gdLst/>
            <a:ahLst/>
            <a:cxnLst/>
            <a:rect l="l" t="t" r="r" b="b"/>
            <a:pathLst>
              <a:path w="2143125" h="3810000">
                <a:moveTo>
                  <a:pt x="76210" y="0"/>
                </a:moveTo>
                <a:lnTo>
                  <a:pt x="2066915" y="0"/>
                </a:lnTo>
                <a:cubicBezTo>
                  <a:pt x="2109005" y="0"/>
                  <a:pt x="2143125" y="34120"/>
                  <a:pt x="2143125" y="76210"/>
                </a:cubicBezTo>
                <a:lnTo>
                  <a:pt x="2143125" y="3733790"/>
                </a:lnTo>
                <a:cubicBezTo>
                  <a:pt x="2143125" y="3775880"/>
                  <a:pt x="2109005" y="3810000"/>
                  <a:pt x="2066915" y="3810000"/>
                </a:cubicBezTo>
                <a:lnTo>
                  <a:pt x="76210" y="3810000"/>
                </a:lnTo>
                <a:cubicBezTo>
                  <a:pt x="34120" y="3810000"/>
                  <a:pt x="0" y="3775880"/>
                  <a:pt x="0" y="37337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 w="25400">
            <a:solidFill>
              <a:srgbClr val="9CA3A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12790" y="18859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19" name="Shape 17"/>
          <p:cNvSpPr/>
          <p:nvPr/>
        </p:nvSpPr>
        <p:spPr>
          <a:xfrm>
            <a:off x="3636615" y="20383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20" name="Text 18"/>
          <p:cNvSpPr/>
          <p:nvPr/>
        </p:nvSpPr>
        <p:spPr>
          <a:xfrm>
            <a:off x="2821260" y="2495550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Processing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830785" y="2838450"/>
            <a:ext cx="189547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 backend receives files and routes to appropriate detection pipelines with async processing.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868885" y="4343400"/>
            <a:ext cx="1819275" cy="495300"/>
          </a:xfrm>
          <a:custGeom>
            <a:avLst/>
            <a:gdLst/>
            <a:ahLst/>
            <a:cxnLst/>
            <a:rect l="l" t="t" r="r" b="b"/>
            <a:pathLst>
              <a:path w="1819275" h="495300">
                <a:moveTo>
                  <a:pt x="38098" y="0"/>
                </a:moveTo>
                <a:lnTo>
                  <a:pt x="1781177" y="0"/>
                </a:lnTo>
                <a:cubicBezTo>
                  <a:pt x="1802218" y="0"/>
                  <a:pt x="1819275" y="17057"/>
                  <a:pt x="1819275" y="38098"/>
                </a:cubicBezTo>
                <a:lnTo>
                  <a:pt x="1819275" y="457202"/>
                </a:lnTo>
                <a:cubicBezTo>
                  <a:pt x="1819275" y="478243"/>
                  <a:pt x="1802218" y="495300"/>
                  <a:pt x="178117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949848" y="4381500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Async Workers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945085" y="457200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Concurrent processing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868885" y="4876800"/>
            <a:ext cx="1819275" cy="495300"/>
          </a:xfrm>
          <a:custGeom>
            <a:avLst/>
            <a:gdLst/>
            <a:ahLst/>
            <a:cxnLst/>
            <a:rect l="l" t="t" r="r" b="b"/>
            <a:pathLst>
              <a:path w="1819275" h="495300">
                <a:moveTo>
                  <a:pt x="38098" y="0"/>
                </a:moveTo>
                <a:lnTo>
                  <a:pt x="1781177" y="0"/>
                </a:lnTo>
                <a:cubicBezTo>
                  <a:pt x="1802218" y="0"/>
                  <a:pt x="1819275" y="17057"/>
                  <a:pt x="1819275" y="38098"/>
                </a:cubicBezTo>
                <a:lnTo>
                  <a:pt x="1819275" y="457202"/>
                </a:lnTo>
                <a:cubicBezTo>
                  <a:pt x="1819275" y="478243"/>
                  <a:pt x="1802218" y="495300"/>
                  <a:pt x="178117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949848" y="4914900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Queue Management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945085" y="510540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Celery + Redis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23470" y="1724025"/>
            <a:ext cx="2143125" cy="3810000"/>
          </a:xfrm>
          <a:custGeom>
            <a:avLst/>
            <a:gdLst/>
            <a:ahLst/>
            <a:cxnLst/>
            <a:rect l="l" t="t" r="r" b="b"/>
            <a:pathLst>
              <a:path w="2143125" h="3810000">
                <a:moveTo>
                  <a:pt x="76210" y="0"/>
                </a:moveTo>
                <a:lnTo>
                  <a:pt x="2066915" y="0"/>
                </a:lnTo>
                <a:cubicBezTo>
                  <a:pt x="2109005" y="0"/>
                  <a:pt x="2143125" y="34120"/>
                  <a:pt x="2143125" y="76210"/>
                </a:cubicBezTo>
                <a:lnTo>
                  <a:pt x="2143125" y="3733790"/>
                </a:lnTo>
                <a:cubicBezTo>
                  <a:pt x="2143125" y="3775880"/>
                  <a:pt x="2109005" y="3810000"/>
                  <a:pt x="2066915" y="3810000"/>
                </a:cubicBezTo>
                <a:lnTo>
                  <a:pt x="76210" y="3810000"/>
                </a:lnTo>
                <a:cubicBezTo>
                  <a:pt x="34120" y="3810000"/>
                  <a:pt x="0" y="3775880"/>
                  <a:pt x="0" y="37337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29226" y="18859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0" name="Shape 28"/>
          <p:cNvSpPr/>
          <p:nvPr/>
        </p:nvSpPr>
        <p:spPr>
          <a:xfrm>
            <a:off x="5981626" y="2038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0"/>
                </a:moveTo>
                <a:cubicBezTo>
                  <a:pt x="66749" y="0"/>
                  <a:pt x="57150" y="9599"/>
                  <a:pt x="57150" y="21431"/>
                </a:cubicBezTo>
                <a:lnTo>
                  <a:pt x="57150" y="114300"/>
                </a:lnTo>
                <a:cubicBezTo>
                  <a:pt x="57150" y="126132"/>
                  <a:pt x="66749" y="135731"/>
                  <a:pt x="78581" y="135731"/>
                </a:cubicBezTo>
                <a:lnTo>
                  <a:pt x="107156" y="135731"/>
                </a:lnTo>
                <a:cubicBezTo>
                  <a:pt x="118988" y="135731"/>
                  <a:pt x="128588" y="126132"/>
                  <a:pt x="128588" y="114300"/>
                </a:cubicBezTo>
                <a:lnTo>
                  <a:pt x="128588" y="85725"/>
                </a:lnTo>
                <a:lnTo>
                  <a:pt x="142875" y="85725"/>
                </a:lnTo>
                <a:cubicBezTo>
                  <a:pt x="174441" y="85725"/>
                  <a:pt x="200025" y="111309"/>
                  <a:pt x="200025" y="142875"/>
                </a:cubicBezTo>
                <a:cubicBezTo>
                  <a:pt x="200025" y="174441"/>
                  <a:pt x="174441" y="200025"/>
                  <a:pt x="142875" y="200025"/>
                </a:cubicBezTo>
                <a:lnTo>
                  <a:pt x="14288" y="200025"/>
                </a:lnTo>
                <a:cubicBezTo>
                  <a:pt x="6385" y="200025"/>
                  <a:pt x="0" y="206410"/>
                  <a:pt x="0" y="214313"/>
                </a:cubicBezTo>
                <a:cubicBezTo>
                  <a:pt x="0" y="222215"/>
                  <a:pt x="6385" y="228600"/>
                  <a:pt x="14288" y="228600"/>
                </a:cubicBezTo>
                <a:lnTo>
                  <a:pt x="214313" y="228600"/>
                </a:lnTo>
                <a:cubicBezTo>
                  <a:pt x="222215" y="228600"/>
                  <a:pt x="228600" y="222215"/>
                  <a:pt x="228600" y="214313"/>
                </a:cubicBezTo>
                <a:cubicBezTo>
                  <a:pt x="228600" y="206410"/>
                  <a:pt x="222215" y="200025"/>
                  <a:pt x="214313" y="200025"/>
                </a:cubicBezTo>
                <a:lnTo>
                  <a:pt x="206767" y="200025"/>
                </a:lnTo>
                <a:cubicBezTo>
                  <a:pt x="220340" y="184845"/>
                  <a:pt x="228600" y="164842"/>
                  <a:pt x="228600" y="142875"/>
                </a:cubicBezTo>
                <a:cubicBezTo>
                  <a:pt x="228600" y="95548"/>
                  <a:pt x="190202" y="57150"/>
                  <a:pt x="142875" y="57150"/>
                </a:cubicBezTo>
                <a:lnTo>
                  <a:pt x="128588" y="57150"/>
                </a:lnTo>
                <a:lnTo>
                  <a:pt x="128588" y="21431"/>
                </a:lnTo>
                <a:cubicBezTo>
                  <a:pt x="128588" y="9599"/>
                  <a:pt x="118988" y="0"/>
                  <a:pt x="107156" y="0"/>
                </a:cubicBezTo>
                <a:lnTo>
                  <a:pt x="78581" y="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32159" y="178594"/>
                </a:lnTo>
                <a:cubicBezTo>
                  <a:pt x="138098" y="178594"/>
                  <a:pt x="142875" y="173816"/>
                  <a:pt x="142875" y="167878"/>
                </a:cubicBezTo>
                <a:cubicBezTo>
                  <a:pt x="142875" y="161940"/>
                  <a:pt x="138098" y="157163"/>
                  <a:pt x="132159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31" name="Text 29"/>
          <p:cNvSpPr/>
          <p:nvPr/>
        </p:nvSpPr>
        <p:spPr>
          <a:xfrm>
            <a:off x="5137770" y="2495550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Analysis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47295" y="2838450"/>
            <a:ext cx="18954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Three-layer detection: Spatial, Frequency, and Semantic analysis using ensemble models.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85395" y="4343400"/>
            <a:ext cx="1819275" cy="495300"/>
          </a:xfrm>
          <a:custGeom>
            <a:avLst/>
            <a:gdLst/>
            <a:ahLst/>
            <a:cxnLst/>
            <a:rect l="l" t="t" r="r" b="b"/>
            <a:pathLst>
              <a:path w="1819275" h="495300">
                <a:moveTo>
                  <a:pt x="38098" y="0"/>
                </a:moveTo>
                <a:lnTo>
                  <a:pt x="1781177" y="0"/>
                </a:lnTo>
                <a:cubicBezTo>
                  <a:pt x="1802218" y="0"/>
                  <a:pt x="1819275" y="17057"/>
                  <a:pt x="1819275" y="38098"/>
                </a:cubicBezTo>
                <a:lnTo>
                  <a:pt x="1819275" y="457202"/>
                </a:lnTo>
                <a:cubicBezTo>
                  <a:pt x="1819275" y="478243"/>
                  <a:pt x="1802218" y="495300"/>
                  <a:pt x="178117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266358" y="4381500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Spatial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61595" y="457200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artifacts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185395" y="4876800"/>
            <a:ext cx="1819275" cy="495300"/>
          </a:xfrm>
          <a:custGeom>
            <a:avLst/>
            <a:gdLst/>
            <a:ahLst/>
            <a:cxnLst/>
            <a:rect l="l" t="t" r="r" b="b"/>
            <a:pathLst>
              <a:path w="1819275" h="495300">
                <a:moveTo>
                  <a:pt x="38098" y="0"/>
                </a:moveTo>
                <a:lnTo>
                  <a:pt x="1781177" y="0"/>
                </a:lnTo>
                <a:cubicBezTo>
                  <a:pt x="1802218" y="0"/>
                  <a:pt x="1819275" y="17057"/>
                  <a:pt x="1819275" y="38098"/>
                </a:cubicBezTo>
                <a:lnTo>
                  <a:pt x="1819275" y="457202"/>
                </a:lnTo>
                <a:cubicBezTo>
                  <a:pt x="1819275" y="478243"/>
                  <a:pt x="1802218" y="495300"/>
                  <a:pt x="178117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266358" y="4914900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Frequency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61595" y="510540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FFT patterns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339905" y="1724025"/>
            <a:ext cx="2143125" cy="3810000"/>
          </a:xfrm>
          <a:custGeom>
            <a:avLst/>
            <a:gdLst/>
            <a:ahLst/>
            <a:cxnLst/>
            <a:rect l="l" t="t" r="r" b="b"/>
            <a:pathLst>
              <a:path w="2143125" h="3810000">
                <a:moveTo>
                  <a:pt x="76210" y="0"/>
                </a:moveTo>
                <a:lnTo>
                  <a:pt x="2066915" y="0"/>
                </a:lnTo>
                <a:cubicBezTo>
                  <a:pt x="2109005" y="0"/>
                  <a:pt x="2143125" y="34120"/>
                  <a:pt x="2143125" y="76210"/>
                </a:cubicBezTo>
                <a:lnTo>
                  <a:pt x="2143125" y="3733790"/>
                </a:lnTo>
                <a:cubicBezTo>
                  <a:pt x="2143125" y="3775880"/>
                  <a:pt x="2109005" y="3810000"/>
                  <a:pt x="2066915" y="3810000"/>
                </a:cubicBezTo>
                <a:lnTo>
                  <a:pt x="76210" y="3810000"/>
                </a:lnTo>
                <a:cubicBezTo>
                  <a:pt x="34120" y="3810000"/>
                  <a:pt x="0" y="3775880"/>
                  <a:pt x="0" y="37337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 w="25400">
            <a:solidFill>
              <a:srgbClr val="9CA3A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45735" y="18859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41" name="Shape 39"/>
          <p:cNvSpPr/>
          <p:nvPr/>
        </p:nvSpPr>
        <p:spPr>
          <a:xfrm>
            <a:off x="8298135" y="2038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42" name="Text 40"/>
          <p:cNvSpPr/>
          <p:nvPr/>
        </p:nvSpPr>
        <p:spPr>
          <a:xfrm>
            <a:off x="7454205" y="2495550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Aggregation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63730" y="2838450"/>
            <a:ext cx="18954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model combines results with weighted voting to produce final detection decision.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01830" y="4343400"/>
            <a:ext cx="1819275" cy="495300"/>
          </a:xfrm>
          <a:custGeom>
            <a:avLst/>
            <a:gdLst/>
            <a:ahLst/>
            <a:cxnLst/>
            <a:rect l="l" t="t" r="r" b="b"/>
            <a:pathLst>
              <a:path w="1819275" h="495300">
                <a:moveTo>
                  <a:pt x="38098" y="0"/>
                </a:moveTo>
                <a:lnTo>
                  <a:pt x="1781177" y="0"/>
                </a:lnTo>
                <a:cubicBezTo>
                  <a:pt x="1802218" y="0"/>
                  <a:pt x="1819275" y="17057"/>
                  <a:pt x="1819275" y="38098"/>
                </a:cubicBezTo>
                <a:lnTo>
                  <a:pt x="1819275" y="457202"/>
                </a:lnTo>
                <a:cubicBezTo>
                  <a:pt x="1819275" y="478243"/>
                  <a:pt x="1802218" y="495300"/>
                  <a:pt x="178117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582793" y="4381500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Weighted Voting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578030" y="457200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confidence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01830" y="4876800"/>
            <a:ext cx="1819275" cy="495300"/>
          </a:xfrm>
          <a:custGeom>
            <a:avLst/>
            <a:gdLst/>
            <a:ahLst/>
            <a:cxnLst/>
            <a:rect l="l" t="t" r="r" b="b"/>
            <a:pathLst>
              <a:path w="1819275" h="495300">
                <a:moveTo>
                  <a:pt x="38098" y="0"/>
                </a:moveTo>
                <a:lnTo>
                  <a:pt x="1781177" y="0"/>
                </a:lnTo>
                <a:cubicBezTo>
                  <a:pt x="1802218" y="0"/>
                  <a:pt x="1819275" y="17057"/>
                  <a:pt x="1819275" y="38098"/>
                </a:cubicBezTo>
                <a:lnTo>
                  <a:pt x="1819275" y="457202"/>
                </a:lnTo>
                <a:cubicBezTo>
                  <a:pt x="1819275" y="478243"/>
                  <a:pt x="1802218" y="495300"/>
                  <a:pt x="178117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582793" y="4914900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Consensus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578030" y="510540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95% agreement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656415" y="1724025"/>
            <a:ext cx="2143125" cy="3810000"/>
          </a:xfrm>
          <a:custGeom>
            <a:avLst/>
            <a:gdLst/>
            <a:ahLst/>
            <a:cxnLst/>
            <a:rect l="l" t="t" r="r" b="b"/>
            <a:pathLst>
              <a:path w="2143125" h="3810000">
                <a:moveTo>
                  <a:pt x="76210" y="0"/>
                </a:moveTo>
                <a:lnTo>
                  <a:pt x="2066915" y="0"/>
                </a:lnTo>
                <a:cubicBezTo>
                  <a:pt x="2109005" y="0"/>
                  <a:pt x="2143125" y="34120"/>
                  <a:pt x="2143125" y="76210"/>
                </a:cubicBezTo>
                <a:lnTo>
                  <a:pt x="2143125" y="3733790"/>
                </a:lnTo>
                <a:cubicBezTo>
                  <a:pt x="2143125" y="3775880"/>
                  <a:pt x="2109005" y="3810000"/>
                  <a:pt x="2066915" y="3810000"/>
                </a:cubicBezTo>
                <a:lnTo>
                  <a:pt x="76210" y="3810000"/>
                </a:lnTo>
                <a:cubicBezTo>
                  <a:pt x="34120" y="3810000"/>
                  <a:pt x="0" y="3775880"/>
                  <a:pt x="0" y="37337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462171" y="18859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52" name="Shape 50"/>
          <p:cNvSpPr/>
          <p:nvPr/>
        </p:nvSpPr>
        <p:spPr>
          <a:xfrm>
            <a:off x="10614571" y="2038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53" name="Text 51"/>
          <p:cNvSpPr/>
          <p:nvPr/>
        </p:nvSpPr>
        <p:spPr>
          <a:xfrm>
            <a:off x="9770715" y="2495550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Presentation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780240" y="2838450"/>
            <a:ext cx="18954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returned to UI with confidence score, natural language explanation, and certificates.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818340" y="4343400"/>
            <a:ext cx="1819275" cy="495300"/>
          </a:xfrm>
          <a:custGeom>
            <a:avLst/>
            <a:gdLst/>
            <a:ahLst/>
            <a:cxnLst/>
            <a:rect l="l" t="t" r="r" b="b"/>
            <a:pathLst>
              <a:path w="1819275" h="495300">
                <a:moveTo>
                  <a:pt x="38098" y="0"/>
                </a:moveTo>
                <a:lnTo>
                  <a:pt x="1781177" y="0"/>
                </a:lnTo>
                <a:cubicBezTo>
                  <a:pt x="1802218" y="0"/>
                  <a:pt x="1819275" y="17057"/>
                  <a:pt x="1819275" y="38098"/>
                </a:cubicBezTo>
                <a:lnTo>
                  <a:pt x="1819275" y="457202"/>
                </a:lnTo>
                <a:cubicBezTo>
                  <a:pt x="1819275" y="478243"/>
                  <a:pt x="1802218" y="495300"/>
                  <a:pt x="178117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9899303" y="4381500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894540" y="457200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WebSocket push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818340" y="4876800"/>
            <a:ext cx="1819275" cy="495300"/>
          </a:xfrm>
          <a:custGeom>
            <a:avLst/>
            <a:gdLst/>
            <a:ahLst/>
            <a:cxnLst/>
            <a:rect l="l" t="t" r="r" b="b"/>
            <a:pathLst>
              <a:path w="1819275" h="495300">
                <a:moveTo>
                  <a:pt x="38098" y="0"/>
                </a:moveTo>
                <a:lnTo>
                  <a:pt x="1781177" y="0"/>
                </a:lnTo>
                <a:cubicBezTo>
                  <a:pt x="1802218" y="0"/>
                  <a:pt x="1819275" y="17057"/>
                  <a:pt x="1819275" y="38098"/>
                </a:cubicBezTo>
                <a:lnTo>
                  <a:pt x="1819275" y="457202"/>
                </a:lnTo>
                <a:cubicBezTo>
                  <a:pt x="1819275" y="478243"/>
                  <a:pt x="1802218" y="495300"/>
                  <a:pt x="178117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9899303" y="4914900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894540" y="510540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Charts &amp; metrics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85763" y="5700713"/>
            <a:ext cx="3695700" cy="771525"/>
          </a:xfrm>
          <a:custGeom>
            <a:avLst/>
            <a:gdLst/>
            <a:ahLst/>
            <a:cxnLst/>
            <a:rect l="l" t="t" r="r" b="b"/>
            <a:pathLst>
              <a:path w="3695700" h="771525">
                <a:moveTo>
                  <a:pt x="76204" y="0"/>
                </a:moveTo>
                <a:lnTo>
                  <a:pt x="3619496" y="0"/>
                </a:lnTo>
                <a:cubicBezTo>
                  <a:pt x="3661583" y="0"/>
                  <a:pt x="3695700" y="34117"/>
                  <a:pt x="3695700" y="76204"/>
                </a:cubicBezTo>
                <a:lnTo>
                  <a:pt x="3695700" y="695321"/>
                </a:lnTo>
                <a:cubicBezTo>
                  <a:pt x="3695700" y="737408"/>
                  <a:pt x="3661583" y="771525"/>
                  <a:pt x="3619496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34D399">
              <a:alpha val="10196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66738" y="59912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63" name="Text 61"/>
          <p:cNvSpPr/>
          <p:nvPr/>
        </p:nvSpPr>
        <p:spPr>
          <a:xfrm>
            <a:off x="895350" y="5857875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Processing Time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95350" y="6048375"/>
            <a:ext cx="153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2.3 seconds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246513" y="5700713"/>
            <a:ext cx="3695700" cy="771525"/>
          </a:xfrm>
          <a:custGeom>
            <a:avLst/>
            <a:gdLst/>
            <a:ahLst/>
            <a:cxnLst/>
            <a:rect l="l" t="t" r="r" b="b"/>
            <a:pathLst>
              <a:path w="3695700" h="771525">
                <a:moveTo>
                  <a:pt x="76204" y="0"/>
                </a:moveTo>
                <a:lnTo>
                  <a:pt x="3619496" y="0"/>
                </a:lnTo>
                <a:cubicBezTo>
                  <a:pt x="3661583" y="0"/>
                  <a:pt x="3695700" y="34117"/>
                  <a:pt x="3695700" y="76204"/>
                </a:cubicBezTo>
                <a:lnTo>
                  <a:pt x="3695700" y="695321"/>
                </a:lnTo>
                <a:cubicBezTo>
                  <a:pt x="3695700" y="737408"/>
                  <a:pt x="3661583" y="771525"/>
                  <a:pt x="3619496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34D399">
              <a:alpha val="10196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39394" y="59912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71438" y="47625"/>
                </a:moveTo>
                <a:cubicBezTo>
                  <a:pt x="71438" y="27911"/>
                  <a:pt x="55432" y="11906"/>
                  <a:pt x="35719" y="11906"/>
                </a:cubicBezTo>
                <a:cubicBezTo>
                  <a:pt x="16005" y="11906"/>
                  <a:pt x="0" y="27911"/>
                  <a:pt x="0" y="47625"/>
                </a:cubicBezTo>
                <a:cubicBezTo>
                  <a:pt x="0" y="67339"/>
                  <a:pt x="16005" y="83344"/>
                  <a:pt x="35719" y="83344"/>
                </a:cubicBezTo>
                <a:cubicBezTo>
                  <a:pt x="55432" y="83344"/>
                  <a:pt x="71438" y="67339"/>
                  <a:pt x="71438" y="47625"/>
                </a:cubicBezTo>
                <a:close/>
                <a:moveTo>
                  <a:pt x="166688" y="142875"/>
                </a:moveTo>
                <a:cubicBezTo>
                  <a:pt x="166688" y="123161"/>
                  <a:pt x="150682" y="107156"/>
                  <a:pt x="130969" y="107156"/>
                </a:cubicBezTo>
                <a:cubicBezTo>
                  <a:pt x="111255" y="107156"/>
                  <a:pt x="95250" y="123161"/>
                  <a:pt x="95250" y="142875"/>
                </a:cubicBezTo>
                <a:cubicBezTo>
                  <a:pt x="95250" y="162589"/>
                  <a:pt x="111255" y="178594"/>
                  <a:pt x="130969" y="178594"/>
                </a:cubicBezTo>
                <a:cubicBezTo>
                  <a:pt x="150682" y="178594"/>
                  <a:pt x="166688" y="162589"/>
                  <a:pt x="166688" y="142875"/>
                </a:cubicBezTo>
                <a:close/>
                <a:moveTo>
                  <a:pt x="163190" y="32221"/>
                </a:moveTo>
                <a:cubicBezTo>
                  <a:pt x="167841" y="27570"/>
                  <a:pt x="167841" y="20017"/>
                  <a:pt x="163190" y="15367"/>
                </a:cubicBezTo>
                <a:cubicBezTo>
                  <a:pt x="158539" y="10716"/>
                  <a:pt x="150986" y="10716"/>
                  <a:pt x="146335" y="15367"/>
                </a:cubicBezTo>
                <a:lnTo>
                  <a:pt x="3460" y="158242"/>
                </a:lnTo>
                <a:cubicBezTo>
                  <a:pt x="-1191" y="162892"/>
                  <a:pt x="-1191" y="170445"/>
                  <a:pt x="3460" y="175096"/>
                </a:cubicBezTo>
                <a:cubicBezTo>
                  <a:pt x="8111" y="179747"/>
                  <a:pt x="15664" y="179747"/>
                  <a:pt x="20315" y="175096"/>
                </a:cubicBezTo>
                <a:lnTo>
                  <a:pt x="163190" y="32221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67" name="Text 65"/>
          <p:cNvSpPr/>
          <p:nvPr/>
        </p:nvSpPr>
        <p:spPr>
          <a:xfrm>
            <a:off x="4756100" y="5857875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Confidence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4756100" y="6048375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94.7%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107338" y="5700713"/>
            <a:ext cx="3695700" cy="771525"/>
          </a:xfrm>
          <a:custGeom>
            <a:avLst/>
            <a:gdLst/>
            <a:ahLst/>
            <a:cxnLst/>
            <a:rect l="l" t="t" r="r" b="b"/>
            <a:pathLst>
              <a:path w="3695700" h="771525">
                <a:moveTo>
                  <a:pt x="76204" y="0"/>
                </a:moveTo>
                <a:lnTo>
                  <a:pt x="3619496" y="0"/>
                </a:lnTo>
                <a:cubicBezTo>
                  <a:pt x="3661583" y="0"/>
                  <a:pt x="3695700" y="34117"/>
                  <a:pt x="3695700" y="76204"/>
                </a:cubicBezTo>
                <a:lnTo>
                  <a:pt x="3695700" y="695321"/>
                </a:lnTo>
                <a:cubicBezTo>
                  <a:pt x="3695700" y="737408"/>
                  <a:pt x="3661583" y="771525"/>
                  <a:pt x="3619496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34D399">
              <a:alpha val="10196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312125" y="59912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71" name="Text 69"/>
          <p:cNvSpPr/>
          <p:nvPr/>
        </p:nvSpPr>
        <p:spPr>
          <a:xfrm>
            <a:off x="8616925" y="5857875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Certificates Issued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616925" y="6048375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12,450+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327" y="322327"/>
            <a:ext cx="1161181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b="1" spc="203" kern="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AI/ML ANALYSIS PIPELINE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2327" y="580188"/>
            <a:ext cx="11692394" cy="322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84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Three-Layer Detection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2327" y="966980"/>
            <a:ext cx="11627929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9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multi-domain analysis for maximum accuracy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2327" y="1289306"/>
            <a:ext cx="644653" cy="32233"/>
          </a:xfrm>
          <a:custGeom>
            <a:avLst/>
            <a:gdLst/>
            <a:ahLst/>
            <a:cxnLst/>
            <a:rect l="l" t="t" r="r" b="b"/>
            <a:pathLst>
              <a:path w="644653" h="32233">
                <a:moveTo>
                  <a:pt x="0" y="0"/>
                </a:moveTo>
                <a:lnTo>
                  <a:pt x="644653" y="0"/>
                </a:lnTo>
                <a:lnTo>
                  <a:pt x="644653" y="32233"/>
                </a:lnTo>
                <a:lnTo>
                  <a:pt x="0" y="32233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6" name="Shape 4"/>
          <p:cNvSpPr/>
          <p:nvPr/>
        </p:nvSpPr>
        <p:spPr>
          <a:xfrm>
            <a:off x="330385" y="1458527"/>
            <a:ext cx="3747046" cy="5213631"/>
          </a:xfrm>
          <a:custGeom>
            <a:avLst/>
            <a:gdLst/>
            <a:ahLst/>
            <a:cxnLst/>
            <a:rect l="l" t="t" r="r" b="b"/>
            <a:pathLst>
              <a:path w="3747046" h="5213631">
                <a:moveTo>
                  <a:pt x="64449" y="0"/>
                </a:moveTo>
                <a:lnTo>
                  <a:pt x="3682596" y="0"/>
                </a:lnTo>
                <a:cubicBezTo>
                  <a:pt x="3718191" y="0"/>
                  <a:pt x="3747046" y="28855"/>
                  <a:pt x="3747046" y="64449"/>
                </a:cubicBezTo>
                <a:lnTo>
                  <a:pt x="3747046" y="5149182"/>
                </a:lnTo>
                <a:cubicBezTo>
                  <a:pt x="3747046" y="5184776"/>
                  <a:pt x="3718191" y="5213631"/>
                  <a:pt x="3682596" y="5213631"/>
                </a:cubicBezTo>
                <a:lnTo>
                  <a:pt x="64449" y="5213631"/>
                </a:lnTo>
                <a:cubicBezTo>
                  <a:pt x="28855" y="5213631"/>
                  <a:pt x="0" y="5184776"/>
                  <a:pt x="0" y="5149182"/>
                </a:cubicBezTo>
                <a:lnTo>
                  <a:pt x="0" y="64449"/>
                </a:lnTo>
                <a:cubicBezTo>
                  <a:pt x="0" y="28879"/>
                  <a:pt x="28879" y="0"/>
                  <a:pt x="64449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7373" y="1595516"/>
            <a:ext cx="451257" cy="451257"/>
          </a:xfrm>
          <a:custGeom>
            <a:avLst/>
            <a:gdLst/>
            <a:ahLst/>
            <a:cxnLst/>
            <a:rect l="l" t="t" r="r" b="b"/>
            <a:pathLst>
              <a:path w="451257" h="451257">
                <a:moveTo>
                  <a:pt x="225629" y="0"/>
                </a:moveTo>
                <a:lnTo>
                  <a:pt x="225629" y="0"/>
                </a:lnTo>
                <a:cubicBezTo>
                  <a:pt x="350240" y="0"/>
                  <a:pt x="451257" y="101017"/>
                  <a:pt x="451257" y="225629"/>
                </a:cubicBezTo>
                <a:lnTo>
                  <a:pt x="451257" y="225629"/>
                </a:lnTo>
                <a:cubicBezTo>
                  <a:pt x="451257" y="350240"/>
                  <a:pt x="350240" y="451257"/>
                  <a:pt x="225629" y="451257"/>
                </a:cubicBezTo>
                <a:lnTo>
                  <a:pt x="225629" y="451257"/>
                </a:lnTo>
                <a:cubicBezTo>
                  <a:pt x="101017" y="451257"/>
                  <a:pt x="0" y="350240"/>
                  <a:pt x="0" y="225629"/>
                </a:cubicBezTo>
                <a:lnTo>
                  <a:pt x="0" y="225629"/>
                </a:lnTo>
                <a:cubicBezTo>
                  <a:pt x="0" y="101017"/>
                  <a:pt x="101017" y="0"/>
                  <a:pt x="225629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8" name="Shape 6"/>
          <p:cNvSpPr/>
          <p:nvPr/>
        </p:nvSpPr>
        <p:spPr>
          <a:xfrm>
            <a:off x="596304" y="1724447"/>
            <a:ext cx="193396" cy="193396"/>
          </a:xfrm>
          <a:custGeom>
            <a:avLst/>
            <a:gdLst/>
            <a:ahLst/>
            <a:cxnLst/>
            <a:rect l="l" t="t" r="r" b="b"/>
            <a:pathLst>
              <a:path w="193396" h="193396">
                <a:moveTo>
                  <a:pt x="157134" y="78567"/>
                </a:moveTo>
                <a:cubicBezTo>
                  <a:pt x="157134" y="95905"/>
                  <a:pt x="151506" y="111920"/>
                  <a:pt x="142025" y="124914"/>
                </a:cubicBezTo>
                <a:lnTo>
                  <a:pt x="189845" y="172772"/>
                </a:lnTo>
                <a:cubicBezTo>
                  <a:pt x="194567" y="177494"/>
                  <a:pt x="194567" y="185161"/>
                  <a:pt x="189845" y="189883"/>
                </a:cubicBezTo>
                <a:cubicBezTo>
                  <a:pt x="185124" y="194605"/>
                  <a:pt x="177456" y="194605"/>
                  <a:pt x="172734" y="189883"/>
                </a:cubicBezTo>
                <a:lnTo>
                  <a:pt x="124914" y="142025"/>
                </a:lnTo>
                <a:cubicBezTo>
                  <a:pt x="111920" y="151506"/>
                  <a:pt x="95905" y="157134"/>
                  <a:pt x="78567" y="157134"/>
                </a:cubicBezTo>
                <a:cubicBezTo>
                  <a:pt x="35166" y="157134"/>
                  <a:pt x="0" y="121968"/>
                  <a:pt x="0" y="78567"/>
                </a:cubicBezTo>
                <a:cubicBezTo>
                  <a:pt x="0" y="35166"/>
                  <a:pt x="35166" y="0"/>
                  <a:pt x="78567" y="0"/>
                </a:cubicBezTo>
                <a:cubicBezTo>
                  <a:pt x="121968" y="0"/>
                  <a:pt x="157134" y="35166"/>
                  <a:pt x="157134" y="78567"/>
                </a:cubicBezTo>
                <a:close/>
                <a:moveTo>
                  <a:pt x="78567" y="132960"/>
                </a:moveTo>
                <a:cubicBezTo>
                  <a:pt x="108587" y="132960"/>
                  <a:pt x="132960" y="108587"/>
                  <a:pt x="132960" y="78567"/>
                </a:cubicBezTo>
                <a:cubicBezTo>
                  <a:pt x="132960" y="48547"/>
                  <a:pt x="108587" y="24174"/>
                  <a:pt x="78567" y="24174"/>
                </a:cubicBezTo>
                <a:cubicBezTo>
                  <a:pt x="48547" y="24174"/>
                  <a:pt x="24174" y="48547"/>
                  <a:pt x="24174" y="78567"/>
                </a:cubicBezTo>
                <a:cubicBezTo>
                  <a:pt x="24174" y="108587"/>
                  <a:pt x="48547" y="132960"/>
                  <a:pt x="78567" y="132960"/>
                </a:cubicBez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9" name="Text 7"/>
          <p:cNvSpPr/>
          <p:nvPr/>
        </p:nvSpPr>
        <p:spPr>
          <a:xfrm>
            <a:off x="1015328" y="1595516"/>
            <a:ext cx="143435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3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Spatial Analysis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5328" y="1853377"/>
            <a:ext cx="1402120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Domain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7373" y="2143471"/>
            <a:ext cx="3537533" cy="628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Detects visual artifacts and inconsistencies in pixel space. Identifies telltale signs of GAN-generated content through advanced computer vision techniques.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32" y="2868706"/>
            <a:ext cx="3465010" cy="483490"/>
          </a:xfrm>
          <a:custGeom>
            <a:avLst/>
            <a:gdLst/>
            <a:ahLst/>
            <a:cxnLst/>
            <a:rect l="l" t="t" r="r" b="b"/>
            <a:pathLst>
              <a:path w="3465010" h="483490">
                <a:moveTo>
                  <a:pt x="16116" y="0"/>
                </a:moveTo>
                <a:lnTo>
                  <a:pt x="3432776" y="0"/>
                </a:lnTo>
                <a:cubicBezTo>
                  <a:pt x="3450578" y="0"/>
                  <a:pt x="3465010" y="14432"/>
                  <a:pt x="3465010" y="32234"/>
                </a:cubicBezTo>
                <a:lnTo>
                  <a:pt x="3465010" y="451255"/>
                </a:lnTo>
                <a:cubicBezTo>
                  <a:pt x="3465010" y="469058"/>
                  <a:pt x="3450578" y="483490"/>
                  <a:pt x="3432776" y="483490"/>
                </a:cubicBezTo>
                <a:lnTo>
                  <a:pt x="16116" y="483490"/>
                </a:lnTo>
                <a:cubicBezTo>
                  <a:pt x="7216" y="483490"/>
                  <a:pt x="0" y="476274"/>
                  <a:pt x="0" y="467373"/>
                </a:cubicBezTo>
                <a:lnTo>
                  <a:pt x="0" y="16116"/>
                </a:lnTo>
                <a:cubicBezTo>
                  <a:pt x="0" y="7221"/>
                  <a:pt x="7221" y="0"/>
                  <a:pt x="16116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75432" y="2868706"/>
            <a:ext cx="16116" cy="483490"/>
          </a:xfrm>
          <a:custGeom>
            <a:avLst/>
            <a:gdLst/>
            <a:ahLst/>
            <a:cxnLst/>
            <a:rect l="l" t="t" r="r" b="b"/>
            <a:pathLst>
              <a:path w="16116" h="483490">
                <a:moveTo>
                  <a:pt x="16116" y="0"/>
                </a:moveTo>
                <a:lnTo>
                  <a:pt x="16116" y="0"/>
                </a:lnTo>
                <a:lnTo>
                  <a:pt x="16116" y="483490"/>
                </a:lnTo>
                <a:lnTo>
                  <a:pt x="16116" y="483490"/>
                </a:lnTo>
                <a:cubicBezTo>
                  <a:pt x="7216" y="483490"/>
                  <a:pt x="0" y="476274"/>
                  <a:pt x="0" y="467373"/>
                </a:cubicBezTo>
                <a:lnTo>
                  <a:pt x="0" y="16116"/>
                </a:lnTo>
                <a:cubicBezTo>
                  <a:pt x="0" y="7221"/>
                  <a:pt x="7221" y="0"/>
                  <a:pt x="16116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612420" y="2933171"/>
            <a:ext cx="338442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GAN Artifacts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2420" y="3094334"/>
            <a:ext cx="339248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Checkerboard patterns, repetitive textures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32" y="3416661"/>
            <a:ext cx="3465010" cy="483490"/>
          </a:xfrm>
          <a:custGeom>
            <a:avLst/>
            <a:gdLst/>
            <a:ahLst/>
            <a:cxnLst/>
            <a:rect l="l" t="t" r="r" b="b"/>
            <a:pathLst>
              <a:path w="3465010" h="483490">
                <a:moveTo>
                  <a:pt x="16116" y="0"/>
                </a:moveTo>
                <a:lnTo>
                  <a:pt x="3432776" y="0"/>
                </a:lnTo>
                <a:cubicBezTo>
                  <a:pt x="3450578" y="0"/>
                  <a:pt x="3465010" y="14432"/>
                  <a:pt x="3465010" y="32234"/>
                </a:cubicBezTo>
                <a:lnTo>
                  <a:pt x="3465010" y="451255"/>
                </a:lnTo>
                <a:cubicBezTo>
                  <a:pt x="3465010" y="469058"/>
                  <a:pt x="3450578" y="483490"/>
                  <a:pt x="3432776" y="483490"/>
                </a:cubicBezTo>
                <a:lnTo>
                  <a:pt x="16116" y="483490"/>
                </a:lnTo>
                <a:cubicBezTo>
                  <a:pt x="7216" y="483490"/>
                  <a:pt x="0" y="476274"/>
                  <a:pt x="0" y="467373"/>
                </a:cubicBezTo>
                <a:lnTo>
                  <a:pt x="0" y="16116"/>
                </a:lnTo>
                <a:cubicBezTo>
                  <a:pt x="0" y="7221"/>
                  <a:pt x="7221" y="0"/>
                  <a:pt x="16116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75432" y="3416661"/>
            <a:ext cx="16116" cy="483490"/>
          </a:xfrm>
          <a:custGeom>
            <a:avLst/>
            <a:gdLst/>
            <a:ahLst/>
            <a:cxnLst/>
            <a:rect l="l" t="t" r="r" b="b"/>
            <a:pathLst>
              <a:path w="16116" h="483490">
                <a:moveTo>
                  <a:pt x="16116" y="0"/>
                </a:moveTo>
                <a:lnTo>
                  <a:pt x="16116" y="0"/>
                </a:lnTo>
                <a:lnTo>
                  <a:pt x="16116" y="483490"/>
                </a:lnTo>
                <a:lnTo>
                  <a:pt x="16116" y="483490"/>
                </a:lnTo>
                <a:cubicBezTo>
                  <a:pt x="7216" y="483490"/>
                  <a:pt x="0" y="476274"/>
                  <a:pt x="0" y="467373"/>
                </a:cubicBezTo>
                <a:lnTo>
                  <a:pt x="0" y="16116"/>
                </a:lnTo>
                <a:cubicBezTo>
                  <a:pt x="0" y="7221"/>
                  <a:pt x="7221" y="0"/>
                  <a:pt x="16116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612420" y="3481126"/>
            <a:ext cx="338442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 Inconsistencies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2420" y="3642289"/>
            <a:ext cx="339248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Unnatural boundaries, blending errors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5432" y="3964616"/>
            <a:ext cx="3465010" cy="483490"/>
          </a:xfrm>
          <a:custGeom>
            <a:avLst/>
            <a:gdLst/>
            <a:ahLst/>
            <a:cxnLst/>
            <a:rect l="l" t="t" r="r" b="b"/>
            <a:pathLst>
              <a:path w="3465010" h="483490">
                <a:moveTo>
                  <a:pt x="16116" y="0"/>
                </a:moveTo>
                <a:lnTo>
                  <a:pt x="3432776" y="0"/>
                </a:lnTo>
                <a:cubicBezTo>
                  <a:pt x="3450578" y="0"/>
                  <a:pt x="3465010" y="14432"/>
                  <a:pt x="3465010" y="32234"/>
                </a:cubicBezTo>
                <a:lnTo>
                  <a:pt x="3465010" y="451255"/>
                </a:lnTo>
                <a:cubicBezTo>
                  <a:pt x="3465010" y="469058"/>
                  <a:pt x="3450578" y="483490"/>
                  <a:pt x="3432776" y="483490"/>
                </a:cubicBezTo>
                <a:lnTo>
                  <a:pt x="16116" y="483490"/>
                </a:lnTo>
                <a:cubicBezTo>
                  <a:pt x="7216" y="483490"/>
                  <a:pt x="0" y="476274"/>
                  <a:pt x="0" y="467373"/>
                </a:cubicBezTo>
                <a:lnTo>
                  <a:pt x="0" y="16116"/>
                </a:lnTo>
                <a:cubicBezTo>
                  <a:pt x="0" y="7221"/>
                  <a:pt x="7221" y="0"/>
                  <a:pt x="16116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75432" y="3964616"/>
            <a:ext cx="16116" cy="483490"/>
          </a:xfrm>
          <a:custGeom>
            <a:avLst/>
            <a:gdLst/>
            <a:ahLst/>
            <a:cxnLst/>
            <a:rect l="l" t="t" r="r" b="b"/>
            <a:pathLst>
              <a:path w="16116" h="483490">
                <a:moveTo>
                  <a:pt x="16116" y="0"/>
                </a:moveTo>
                <a:lnTo>
                  <a:pt x="16116" y="0"/>
                </a:lnTo>
                <a:lnTo>
                  <a:pt x="16116" y="483490"/>
                </a:lnTo>
                <a:lnTo>
                  <a:pt x="16116" y="483490"/>
                </a:lnTo>
                <a:cubicBezTo>
                  <a:pt x="7216" y="483490"/>
                  <a:pt x="0" y="476274"/>
                  <a:pt x="0" y="467373"/>
                </a:cubicBezTo>
                <a:lnTo>
                  <a:pt x="0" y="16116"/>
                </a:lnTo>
                <a:cubicBezTo>
                  <a:pt x="0" y="7221"/>
                  <a:pt x="7221" y="0"/>
                  <a:pt x="16116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612420" y="4029081"/>
            <a:ext cx="338442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Texture Anomalies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2420" y="4190245"/>
            <a:ext cx="339248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Repetitive patterns, detail loss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32" y="4512571"/>
            <a:ext cx="3465010" cy="483490"/>
          </a:xfrm>
          <a:custGeom>
            <a:avLst/>
            <a:gdLst/>
            <a:ahLst/>
            <a:cxnLst/>
            <a:rect l="l" t="t" r="r" b="b"/>
            <a:pathLst>
              <a:path w="3465010" h="483490">
                <a:moveTo>
                  <a:pt x="16116" y="0"/>
                </a:moveTo>
                <a:lnTo>
                  <a:pt x="3432776" y="0"/>
                </a:lnTo>
                <a:cubicBezTo>
                  <a:pt x="3450578" y="0"/>
                  <a:pt x="3465010" y="14432"/>
                  <a:pt x="3465010" y="32234"/>
                </a:cubicBezTo>
                <a:lnTo>
                  <a:pt x="3465010" y="451255"/>
                </a:lnTo>
                <a:cubicBezTo>
                  <a:pt x="3465010" y="469058"/>
                  <a:pt x="3450578" y="483490"/>
                  <a:pt x="3432776" y="483490"/>
                </a:cubicBezTo>
                <a:lnTo>
                  <a:pt x="16116" y="483490"/>
                </a:lnTo>
                <a:cubicBezTo>
                  <a:pt x="7216" y="483490"/>
                  <a:pt x="0" y="476274"/>
                  <a:pt x="0" y="467373"/>
                </a:cubicBezTo>
                <a:lnTo>
                  <a:pt x="0" y="16116"/>
                </a:lnTo>
                <a:cubicBezTo>
                  <a:pt x="0" y="7221"/>
                  <a:pt x="7221" y="0"/>
                  <a:pt x="16116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5432" y="4512571"/>
            <a:ext cx="16116" cy="483490"/>
          </a:xfrm>
          <a:custGeom>
            <a:avLst/>
            <a:gdLst/>
            <a:ahLst/>
            <a:cxnLst/>
            <a:rect l="l" t="t" r="r" b="b"/>
            <a:pathLst>
              <a:path w="16116" h="483490">
                <a:moveTo>
                  <a:pt x="16116" y="0"/>
                </a:moveTo>
                <a:lnTo>
                  <a:pt x="16116" y="0"/>
                </a:lnTo>
                <a:lnTo>
                  <a:pt x="16116" y="483490"/>
                </a:lnTo>
                <a:lnTo>
                  <a:pt x="16116" y="483490"/>
                </a:lnTo>
                <a:cubicBezTo>
                  <a:pt x="7216" y="483490"/>
                  <a:pt x="0" y="476274"/>
                  <a:pt x="0" y="467373"/>
                </a:cubicBezTo>
                <a:lnTo>
                  <a:pt x="0" y="16116"/>
                </a:lnTo>
                <a:cubicBezTo>
                  <a:pt x="0" y="7221"/>
                  <a:pt x="7221" y="0"/>
                  <a:pt x="16116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612420" y="4577036"/>
            <a:ext cx="338442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Color Space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2420" y="4738200"/>
            <a:ext cx="339248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Unnatural histogram distributions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67373" y="5984004"/>
            <a:ext cx="3473068" cy="8058"/>
          </a:xfrm>
          <a:custGeom>
            <a:avLst/>
            <a:gdLst/>
            <a:ahLst/>
            <a:cxnLst/>
            <a:rect l="l" t="t" r="r" b="b"/>
            <a:pathLst>
              <a:path w="3473068" h="8058">
                <a:moveTo>
                  <a:pt x="0" y="0"/>
                </a:moveTo>
                <a:lnTo>
                  <a:pt x="3473068" y="0"/>
                </a:lnTo>
                <a:lnTo>
                  <a:pt x="3473068" y="8058"/>
                </a:lnTo>
                <a:lnTo>
                  <a:pt x="0" y="8058"/>
                </a:lnTo>
                <a:lnTo>
                  <a:pt x="0" y="0"/>
                </a:lnTo>
                <a:close/>
              </a:path>
            </a:pathLst>
          </a:custGeom>
          <a:solidFill>
            <a:srgbClr val="34D399">
              <a:alpha val="3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39170" y="6084731"/>
            <a:ext cx="3529475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8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Accuracy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06937" y="6245894"/>
            <a:ext cx="3593941" cy="29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04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87%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222162" y="1458527"/>
            <a:ext cx="3747046" cy="5213631"/>
          </a:xfrm>
          <a:custGeom>
            <a:avLst/>
            <a:gdLst/>
            <a:ahLst/>
            <a:cxnLst/>
            <a:rect l="l" t="t" r="r" b="b"/>
            <a:pathLst>
              <a:path w="3747046" h="5213631">
                <a:moveTo>
                  <a:pt x="64449" y="0"/>
                </a:moveTo>
                <a:lnTo>
                  <a:pt x="3682596" y="0"/>
                </a:lnTo>
                <a:cubicBezTo>
                  <a:pt x="3718191" y="0"/>
                  <a:pt x="3747046" y="28855"/>
                  <a:pt x="3747046" y="64449"/>
                </a:cubicBezTo>
                <a:lnTo>
                  <a:pt x="3747046" y="5149182"/>
                </a:lnTo>
                <a:cubicBezTo>
                  <a:pt x="3747046" y="5184776"/>
                  <a:pt x="3718191" y="5213631"/>
                  <a:pt x="3682596" y="5213631"/>
                </a:cubicBezTo>
                <a:lnTo>
                  <a:pt x="64449" y="5213631"/>
                </a:lnTo>
                <a:cubicBezTo>
                  <a:pt x="28855" y="5213631"/>
                  <a:pt x="0" y="5184776"/>
                  <a:pt x="0" y="5149182"/>
                </a:cubicBezTo>
                <a:lnTo>
                  <a:pt x="0" y="64449"/>
                </a:lnTo>
                <a:cubicBezTo>
                  <a:pt x="0" y="28879"/>
                  <a:pt x="28879" y="0"/>
                  <a:pt x="64449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 w="25400">
            <a:solidFill>
              <a:srgbClr val="9CA3A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59151" y="1595516"/>
            <a:ext cx="451257" cy="451257"/>
          </a:xfrm>
          <a:custGeom>
            <a:avLst/>
            <a:gdLst/>
            <a:ahLst/>
            <a:cxnLst/>
            <a:rect l="l" t="t" r="r" b="b"/>
            <a:pathLst>
              <a:path w="451257" h="451257">
                <a:moveTo>
                  <a:pt x="225629" y="0"/>
                </a:moveTo>
                <a:lnTo>
                  <a:pt x="225629" y="0"/>
                </a:lnTo>
                <a:cubicBezTo>
                  <a:pt x="350240" y="0"/>
                  <a:pt x="451257" y="101017"/>
                  <a:pt x="451257" y="225629"/>
                </a:cubicBezTo>
                <a:lnTo>
                  <a:pt x="451257" y="225629"/>
                </a:lnTo>
                <a:cubicBezTo>
                  <a:pt x="451257" y="350240"/>
                  <a:pt x="350240" y="451257"/>
                  <a:pt x="225629" y="451257"/>
                </a:cubicBezTo>
                <a:lnTo>
                  <a:pt x="225629" y="451257"/>
                </a:lnTo>
                <a:cubicBezTo>
                  <a:pt x="101017" y="451257"/>
                  <a:pt x="0" y="350240"/>
                  <a:pt x="0" y="225629"/>
                </a:cubicBezTo>
                <a:lnTo>
                  <a:pt x="0" y="225629"/>
                </a:lnTo>
                <a:cubicBezTo>
                  <a:pt x="0" y="101017"/>
                  <a:pt x="101017" y="0"/>
                  <a:pt x="225629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33" name="Shape 31"/>
          <p:cNvSpPr/>
          <p:nvPr/>
        </p:nvSpPr>
        <p:spPr>
          <a:xfrm>
            <a:off x="4488082" y="1724447"/>
            <a:ext cx="193396" cy="193396"/>
          </a:xfrm>
          <a:custGeom>
            <a:avLst/>
            <a:gdLst/>
            <a:ahLst/>
            <a:cxnLst/>
            <a:rect l="l" t="t" r="r" b="b"/>
            <a:pathLst>
              <a:path w="193396" h="193396">
                <a:moveTo>
                  <a:pt x="24174" y="36262"/>
                </a:moveTo>
                <a:cubicBezTo>
                  <a:pt x="24174" y="29576"/>
                  <a:pt x="29576" y="24174"/>
                  <a:pt x="36262" y="24174"/>
                </a:cubicBezTo>
                <a:lnTo>
                  <a:pt x="96698" y="24174"/>
                </a:lnTo>
                <a:cubicBezTo>
                  <a:pt x="103384" y="24174"/>
                  <a:pt x="108785" y="29576"/>
                  <a:pt x="108785" y="36262"/>
                </a:cubicBezTo>
                <a:lnTo>
                  <a:pt x="108785" y="145047"/>
                </a:lnTo>
                <a:lnTo>
                  <a:pt x="145047" y="145047"/>
                </a:lnTo>
                <a:lnTo>
                  <a:pt x="145047" y="96698"/>
                </a:lnTo>
                <a:cubicBezTo>
                  <a:pt x="145047" y="90012"/>
                  <a:pt x="150448" y="84611"/>
                  <a:pt x="157134" y="84611"/>
                </a:cubicBezTo>
                <a:lnTo>
                  <a:pt x="181309" y="84611"/>
                </a:lnTo>
                <a:cubicBezTo>
                  <a:pt x="187994" y="84611"/>
                  <a:pt x="193396" y="90012"/>
                  <a:pt x="193396" y="96698"/>
                </a:cubicBezTo>
                <a:cubicBezTo>
                  <a:pt x="193396" y="103384"/>
                  <a:pt x="187994" y="108785"/>
                  <a:pt x="181309" y="108785"/>
                </a:cubicBezTo>
                <a:lnTo>
                  <a:pt x="169221" y="108785"/>
                </a:lnTo>
                <a:lnTo>
                  <a:pt x="169221" y="157134"/>
                </a:lnTo>
                <a:cubicBezTo>
                  <a:pt x="169221" y="163820"/>
                  <a:pt x="163820" y="169221"/>
                  <a:pt x="157134" y="169221"/>
                </a:cubicBezTo>
                <a:lnTo>
                  <a:pt x="96698" y="169221"/>
                </a:lnTo>
                <a:cubicBezTo>
                  <a:pt x="90012" y="169221"/>
                  <a:pt x="84611" y="163820"/>
                  <a:pt x="84611" y="157134"/>
                </a:cubicBezTo>
                <a:lnTo>
                  <a:pt x="84611" y="48349"/>
                </a:lnTo>
                <a:lnTo>
                  <a:pt x="48349" y="48349"/>
                </a:lnTo>
                <a:lnTo>
                  <a:pt x="48349" y="96698"/>
                </a:lnTo>
                <a:cubicBezTo>
                  <a:pt x="48349" y="103384"/>
                  <a:pt x="42947" y="108785"/>
                  <a:pt x="36262" y="108785"/>
                </a:cubicBezTo>
                <a:lnTo>
                  <a:pt x="12087" y="108785"/>
                </a:lnTo>
                <a:cubicBezTo>
                  <a:pt x="5401" y="108785"/>
                  <a:pt x="0" y="103384"/>
                  <a:pt x="0" y="96698"/>
                </a:cubicBezTo>
                <a:cubicBezTo>
                  <a:pt x="0" y="90012"/>
                  <a:pt x="5401" y="84611"/>
                  <a:pt x="12087" y="84611"/>
                </a:cubicBezTo>
                <a:lnTo>
                  <a:pt x="24174" y="84611"/>
                </a:lnTo>
                <a:lnTo>
                  <a:pt x="24174" y="36262"/>
                </a:ln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34" name="Text 32"/>
          <p:cNvSpPr/>
          <p:nvPr/>
        </p:nvSpPr>
        <p:spPr>
          <a:xfrm>
            <a:off x="4907106" y="1595516"/>
            <a:ext cx="175667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3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Frequency Analysis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907106" y="1853377"/>
            <a:ext cx="1724447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Fourier Domain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359151" y="2143471"/>
            <a:ext cx="3537533" cy="628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Transforms images to frequency domain using FFT. AI-generated content exhibits unnatural frequency patterns that are invisible to human eyes.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67209" y="2868706"/>
            <a:ext cx="3465010" cy="483490"/>
          </a:xfrm>
          <a:custGeom>
            <a:avLst/>
            <a:gdLst/>
            <a:ahLst/>
            <a:cxnLst/>
            <a:rect l="l" t="t" r="r" b="b"/>
            <a:pathLst>
              <a:path w="3465010" h="483490">
                <a:moveTo>
                  <a:pt x="16116" y="0"/>
                </a:moveTo>
                <a:lnTo>
                  <a:pt x="3432776" y="0"/>
                </a:lnTo>
                <a:cubicBezTo>
                  <a:pt x="3450578" y="0"/>
                  <a:pt x="3465010" y="14432"/>
                  <a:pt x="3465010" y="32234"/>
                </a:cubicBezTo>
                <a:lnTo>
                  <a:pt x="3465010" y="451255"/>
                </a:lnTo>
                <a:cubicBezTo>
                  <a:pt x="3465010" y="469058"/>
                  <a:pt x="3450578" y="483490"/>
                  <a:pt x="3432776" y="483490"/>
                </a:cubicBezTo>
                <a:lnTo>
                  <a:pt x="16116" y="483490"/>
                </a:lnTo>
                <a:cubicBezTo>
                  <a:pt x="7216" y="483490"/>
                  <a:pt x="0" y="476274"/>
                  <a:pt x="0" y="467373"/>
                </a:cubicBezTo>
                <a:lnTo>
                  <a:pt x="0" y="16116"/>
                </a:lnTo>
                <a:cubicBezTo>
                  <a:pt x="0" y="7221"/>
                  <a:pt x="7221" y="0"/>
                  <a:pt x="16116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367209" y="2868706"/>
            <a:ext cx="16116" cy="483490"/>
          </a:xfrm>
          <a:custGeom>
            <a:avLst/>
            <a:gdLst/>
            <a:ahLst/>
            <a:cxnLst/>
            <a:rect l="l" t="t" r="r" b="b"/>
            <a:pathLst>
              <a:path w="16116" h="483490">
                <a:moveTo>
                  <a:pt x="16116" y="0"/>
                </a:moveTo>
                <a:lnTo>
                  <a:pt x="16116" y="0"/>
                </a:lnTo>
                <a:lnTo>
                  <a:pt x="16116" y="483490"/>
                </a:lnTo>
                <a:lnTo>
                  <a:pt x="16116" y="483490"/>
                </a:lnTo>
                <a:cubicBezTo>
                  <a:pt x="7216" y="483490"/>
                  <a:pt x="0" y="476274"/>
                  <a:pt x="0" y="467373"/>
                </a:cubicBezTo>
                <a:lnTo>
                  <a:pt x="0" y="16116"/>
                </a:lnTo>
                <a:cubicBezTo>
                  <a:pt x="0" y="7221"/>
                  <a:pt x="7221" y="0"/>
                  <a:pt x="16116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39" name="Text 37"/>
          <p:cNvSpPr/>
          <p:nvPr/>
        </p:nvSpPr>
        <p:spPr>
          <a:xfrm>
            <a:off x="4504198" y="2933171"/>
            <a:ext cx="338442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Spectral Peaks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04198" y="3094334"/>
            <a:ext cx="339248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Unnatural frequency concentrations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367209" y="3416661"/>
            <a:ext cx="3465010" cy="483490"/>
          </a:xfrm>
          <a:custGeom>
            <a:avLst/>
            <a:gdLst/>
            <a:ahLst/>
            <a:cxnLst/>
            <a:rect l="l" t="t" r="r" b="b"/>
            <a:pathLst>
              <a:path w="3465010" h="483490">
                <a:moveTo>
                  <a:pt x="16116" y="0"/>
                </a:moveTo>
                <a:lnTo>
                  <a:pt x="3432776" y="0"/>
                </a:lnTo>
                <a:cubicBezTo>
                  <a:pt x="3450578" y="0"/>
                  <a:pt x="3465010" y="14432"/>
                  <a:pt x="3465010" y="32234"/>
                </a:cubicBezTo>
                <a:lnTo>
                  <a:pt x="3465010" y="451255"/>
                </a:lnTo>
                <a:cubicBezTo>
                  <a:pt x="3465010" y="469058"/>
                  <a:pt x="3450578" y="483490"/>
                  <a:pt x="3432776" y="483490"/>
                </a:cubicBezTo>
                <a:lnTo>
                  <a:pt x="16116" y="483490"/>
                </a:lnTo>
                <a:cubicBezTo>
                  <a:pt x="7216" y="483490"/>
                  <a:pt x="0" y="476274"/>
                  <a:pt x="0" y="467373"/>
                </a:cubicBezTo>
                <a:lnTo>
                  <a:pt x="0" y="16116"/>
                </a:lnTo>
                <a:cubicBezTo>
                  <a:pt x="0" y="7221"/>
                  <a:pt x="7221" y="0"/>
                  <a:pt x="16116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367209" y="3416661"/>
            <a:ext cx="16116" cy="483490"/>
          </a:xfrm>
          <a:custGeom>
            <a:avLst/>
            <a:gdLst/>
            <a:ahLst/>
            <a:cxnLst/>
            <a:rect l="l" t="t" r="r" b="b"/>
            <a:pathLst>
              <a:path w="16116" h="483490">
                <a:moveTo>
                  <a:pt x="16116" y="0"/>
                </a:moveTo>
                <a:lnTo>
                  <a:pt x="16116" y="0"/>
                </a:lnTo>
                <a:lnTo>
                  <a:pt x="16116" y="483490"/>
                </a:lnTo>
                <a:lnTo>
                  <a:pt x="16116" y="483490"/>
                </a:lnTo>
                <a:cubicBezTo>
                  <a:pt x="7216" y="483490"/>
                  <a:pt x="0" y="476274"/>
                  <a:pt x="0" y="467373"/>
                </a:cubicBezTo>
                <a:lnTo>
                  <a:pt x="0" y="16116"/>
                </a:lnTo>
                <a:cubicBezTo>
                  <a:pt x="0" y="7221"/>
                  <a:pt x="7221" y="0"/>
                  <a:pt x="16116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43" name="Text 41"/>
          <p:cNvSpPr/>
          <p:nvPr/>
        </p:nvSpPr>
        <p:spPr>
          <a:xfrm>
            <a:off x="4504198" y="3481126"/>
            <a:ext cx="338442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High-Frequency Noise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504198" y="3642289"/>
            <a:ext cx="339248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Excessive detail in specific bands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367209" y="3964616"/>
            <a:ext cx="3465010" cy="483490"/>
          </a:xfrm>
          <a:custGeom>
            <a:avLst/>
            <a:gdLst/>
            <a:ahLst/>
            <a:cxnLst/>
            <a:rect l="l" t="t" r="r" b="b"/>
            <a:pathLst>
              <a:path w="3465010" h="483490">
                <a:moveTo>
                  <a:pt x="16116" y="0"/>
                </a:moveTo>
                <a:lnTo>
                  <a:pt x="3432776" y="0"/>
                </a:lnTo>
                <a:cubicBezTo>
                  <a:pt x="3450578" y="0"/>
                  <a:pt x="3465010" y="14432"/>
                  <a:pt x="3465010" y="32234"/>
                </a:cubicBezTo>
                <a:lnTo>
                  <a:pt x="3465010" y="451255"/>
                </a:lnTo>
                <a:cubicBezTo>
                  <a:pt x="3465010" y="469058"/>
                  <a:pt x="3450578" y="483490"/>
                  <a:pt x="3432776" y="483490"/>
                </a:cubicBezTo>
                <a:lnTo>
                  <a:pt x="16116" y="483490"/>
                </a:lnTo>
                <a:cubicBezTo>
                  <a:pt x="7216" y="483490"/>
                  <a:pt x="0" y="476274"/>
                  <a:pt x="0" y="467373"/>
                </a:cubicBezTo>
                <a:lnTo>
                  <a:pt x="0" y="16116"/>
                </a:lnTo>
                <a:cubicBezTo>
                  <a:pt x="0" y="7221"/>
                  <a:pt x="7221" y="0"/>
                  <a:pt x="16116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367209" y="3964616"/>
            <a:ext cx="16116" cy="483490"/>
          </a:xfrm>
          <a:custGeom>
            <a:avLst/>
            <a:gdLst/>
            <a:ahLst/>
            <a:cxnLst/>
            <a:rect l="l" t="t" r="r" b="b"/>
            <a:pathLst>
              <a:path w="16116" h="483490">
                <a:moveTo>
                  <a:pt x="16116" y="0"/>
                </a:moveTo>
                <a:lnTo>
                  <a:pt x="16116" y="0"/>
                </a:lnTo>
                <a:lnTo>
                  <a:pt x="16116" y="483490"/>
                </a:lnTo>
                <a:lnTo>
                  <a:pt x="16116" y="483490"/>
                </a:lnTo>
                <a:cubicBezTo>
                  <a:pt x="7216" y="483490"/>
                  <a:pt x="0" y="476274"/>
                  <a:pt x="0" y="467373"/>
                </a:cubicBezTo>
                <a:lnTo>
                  <a:pt x="0" y="16116"/>
                </a:lnTo>
                <a:cubicBezTo>
                  <a:pt x="0" y="7221"/>
                  <a:pt x="7221" y="0"/>
                  <a:pt x="16116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47" name="Text 45"/>
          <p:cNvSpPr/>
          <p:nvPr/>
        </p:nvSpPr>
        <p:spPr>
          <a:xfrm>
            <a:off x="4504198" y="4029081"/>
            <a:ext cx="338442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Inconsistencies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504198" y="4190245"/>
            <a:ext cx="339248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Disrupted phase relationships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367209" y="4512571"/>
            <a:ext cx="3465010" cy="483490"/>
          </a:xfrm>
          <a:custGeom>
            <a:avLst/>
            <a:gdLst/>
            <a:ahLst/>
            <a:cxnLst/>
            <a:rect l="l" t="t" r="r" b="b"/>
            <a:pathLst>
              <a:path w="3465010" h="483490">
                <a:moveTo>
                  <a:pt x="16116" y="0"/>
                </a:moveTo>
                <a:lnTo>
                  <a:pt x="3432776" y="0"/>
                </a:lnTo>
                <a:cubicBezTo>
                  <a:pt x="3450578" y="0"/>
                  <a:pt x="3465010" y="14432"/>
                  <a:pt x="3465010" y="32234"/>
                </a:cubicBezTo>
                <a:lnTo>
                  <a:pt x="3465010" y="451255"/>
                </a:lnTo>
                <a:cubicBezTo>
                  <a:pt x="3465010" y="469058"/>
                  <a:pt x="3450578" y="483490"/>
                  <a:pt x="3432776" y="483490"/>
                </a:cubicBezTo>
                <a:lnTo>
                  <a:pt x="16116" y="483490"/>
                </a:lnTo>
                <a:cubicBezTo>
                  <a:pt x="7216" y="483490"/>
                  <a:pt x="0" y="476274"/>
                  <a:pt x="0" y="467373"/>
                </a:cubicBezTo>
                <a:lnTo>
                  <a:pt x="0" y="16116"/>
                </a:lnTo>
                <a:cubicBezTo>
                  <a:pt x="0" y="7221"/>
                  <a:pt x="7221" y="0"/>
                  <a:pt x="16116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367209" y="4512571"/>
            <a:ext cx="16116" cy="483490"/>
          </a:xfrm>
          <a:custGeom>
            <a:avLst/>
            <a:gdLst/>
            <a:ahLst/>
            <a:cxnLst/>
            <a:rect l="l" t="t" r="r" b="b"/>
            <a:pathLst>
              <a:path w="16116" h="483490">
                <a:moveTo>
                  <a:pt x="16116" y="0"/>
                </a:moveTo>
                <a:lnTo>
                  <a:pt x="16116" y="0"/>
                </a:lnTo>
                <a:lnTo>
                  <a:pt x="16116" y="483490"/>
                </a:lnTo>
                <a:lnTo>
                  <a:pt x="16116" y="483490"/>
                </a:lnTo>
                <a:cubicBezTo>
                  <a:pt x="7216" y="483490"/>
                  <a:pt x="0" y="476274"/>
                  <a:pt x="0" y="467373"/>
                </a:cubicBezTo>
                <a:lnTo>
                  <a:pt x="0" y="16116"/>
                </a:lnTo>
                <a:cubicBezTo>
                  <a:pt x="0" y="7221"/>
                  <a:pt x="7221" y="0"/>
                  <a:pt x="16116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51" name="Text 49"/>
          <p:cNvSpPr/>
          <p:nvPr/>
        </p:nvSpPr>
        <p:spPr>
          <a:xfrm>
            <a:off x="4504198" y="4577036"/>
            <a:ext cx="338442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Compression Artifacts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504198" y="4738200"/>
            <a:ext cx="339248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Unusual quantization patterns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359151" y="5984004"/>
            <a:ext cx="3473068" cy="8058"/>
          </a:xfrm>
          <a:custGeom>
            <a:avLst/>
            <a:gdLst/>
            <a:ahLst/>
            <a:cxnLst/>
            <a:rect l="l" t="t" r="r" b="b"/>
            <a:pathLst>
              <a:path w="3473068" h="8058">
                <a:moveTo>
                  <a:pt x="0" y="0"/>
                </a:moveTo>
                <a:lnTo>
                  <a:pt x="3473068" y="0"/>
                </a:lnTo>
                <a:lnTo>
                  <a:pt x="3473068" y="8058"/>
                </a:lnTo>
                <a:lnTo>
                  <a:pt x="0" y="805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3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4330948" y="6084731"/>
            <a:ext cx="3529475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8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Accuracy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298715" y="6245894"/>
            <a:ext cx="3593941" cy="29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04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91%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113940" y="1458527"/>
            <a:ext cx="3747046" cy="5213631"/>
          </a:xfrm>
          <a:custGeom>
            <a:avLst/>
            <a:gdLst/>
            <a:ahLst/>
            <a:cxnLst/>
            <a:rect l="l" t="t" r="r" b="b"/>
            <a:pathLst>
              <a:path w="3747046" h="5213631">
                <a:moveTo>
                  <a:pt x="64449" y="0"/>
                </a:moveTo>
                <a:lnTo>
                  <a:pt x="3682596" y="0"/>
                </a:lnTo>
                <a:cubicBezTo>
                  <a:pt x="3718191" y="0"/>
                  <a:pt x="3747046" y="28855"/>
                  <a:pt x="3747046" y="64449"/>
                </a:cubicBezTo>
                <a:lnTo>
                  <a:pt x="3747046" y="5149182"/>
                </a:lnTo>
                <a:cubicBezTo>
                  <a:pt x="3747046" y="5184776"/>
                  <a:pt x="3718191" y="5213631"/>
                  <a:pt x="3682596" y="5213631"/>
                </a:cubicBezTo>
                <a:lnTo>
                  <a:pt x="64449" y="5213631"/>
                </a:lnTo>
                <a:cubicBezTo>
                  <a:pt x="28855" y="5213631"/>
                  <a:pt x="0" y="5184776"/>
                  <a:pt x="0" y="5149182"/>
                </a:cubicBezTo>
                <a:lnTo>
                  <a:pt x="0" y="64449"/>
                </a:lnTo>
                <a:cubicBezTo>
                  <a:pt x="0" y="28879"/>
                  <a:pt x="28879" y="0"/>
                  <a:pt x="64449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50929" y="1595516"/>
            <a:ext cx="451257" cy="451257"/>
          </a:xfrm>
          <a:custGeom>
            <a:avLst/>
            <a:gdLst/>
            <a:ahLst/>
            <a:cxnLst/>
            <a:rect l="l" t="t" r="r" b="b"/>
            <a:pathLst>
              <a:path w="451257" h="451257">
                <a:moveTo>
                  <a:pt x="225629" y="0"/>
                </a:moveTo>
                <a:lnTo>
                  <a:pt x="225629" y="0"/>
                </a:lnTo>
                <a:cubicBezTo>
                  <a:pt x="350240" y="0"/>
                  <a:pt x="451257" y="101017"/>
                  <a:pt x="451257" y="225629"/>
                </a:cubicBezTo>
                <a:lnTo>
                  <a:pt x="451257" y="225629"/>
                </a:lnTo>
                <a:cubicBezTo>
                  <a:pt x="451257" y="350240"/>
                  <a:pt x="350240" y="451257"/>
                  <a:pt x="225629" y="451257"/>
                </a:cubicBezTo>
                <a:lnTo>
                  <a:pt x="225629" y="451257"/>
                </a:lnTo>
                <a:cubicBezTo>
                  <a:pt x="101017" y="451257"/>
                  <a:pt x="0" y="350240"/>
                  <a:pt x="0" y="225629"/>
                </a:cubicBezTo>
                <a:lnTo>
                  <a:pt x="0" y="225629"/>
                </a:lnTo>
                <a:cubicBezTo>
                  <a:pt x="0" y="101017"/>
                  <a:pt x="101017" y="0"/>
                  <a:pt x="225629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58" name="Shape 56"/>
          <p:cNvSpPr/>
          <p:nvPr/>
        </p:nvSpPr>
        <p:spPr>
          <a:xfrm>
            <a:off x="8404034" y="1724447"/>
            <a:ext cx="145047" cy="193396"/>
          </a:xfrm>
          <a:custGeom>
            <a:avLst/>
            <a:gdLst/>
            <a:ahLst/>
            <a:cxnLst/>
            <a:rect l="l" t="t" r="r" b="b"/>
            <a:pathLst>
              <a:path w="145047" h="193396">
                <a:moveTo>
                  <a:pt x="110636" y="145047"/>
                </a:moveTo>
                <a:cubicBezTo>
                  <a:pt x="113393" y="136624"/>
                  <a:pt x="118908" y="128994"/>
                  <a:pt x="125141" y="122421"/>
                </a:cubicBezTo>
                <a:cubicBezTo>
                  <a:pt x="137492" y="109427"/>
                  <a:pt x="145047" y="91863"/>
                  <a:pt x="145047" y="72523"/>
                </a:cubicBezTo>
                <a:cubicBezTo>
                  <a:pt x="145047" y="32484"/>
                  <a:pt x="112562" y="0"/>
                  <a:pt x="72523" y="0"/>
                </a:cubicBezTo>
                <a:cubicBezTo>
                  <a:pt x="32484" y="0"/>
                  <a:pt x="0" y="32484"/>
                  <a:pt x="0" y="72523"/>
                </a:cubicBezTo>
                <a:cubicBezTo>
                  <a:pt x="0" y="91863"/>
                  <a:pt x="7555" y="109427"/>
                  <a:pt x="19906" y="122421"/>
                </a:cubicBezTo>
                <a:cubicBezTo>
                  <a:pt x="26139" y="128994"/>
                  <a:pt x="31691" y="136624"/>
                  <a:pt x="34411" y="145047"/>
                </a:cubicBezTo>
                <a:lnTo>
                  <a:pt x="110598" y="145047"/>
                </a:lnTo>
                <a:close/>
                <a:moveTo>
                  <a:pt x="108785" y="163178"/>
                </a:moveTo>
                <a:lnTo>
                  <a:pt x="36262" y="163178"/>
                </a:lnTo>
                <a:lnTo>
                  <a:pt x="36262" y="169221"/>
                </a:lnTo>
                <a:cubicBezTo>
                  <a:pt x="36262" y="185917"/>
                  <a:pt x="49784" y="199440"/>
                  <a:pt x="66480" y="199440"/>
                </a:cubicBezTo>
                <a:lnTo>
                  <a:pt x="78567" y="199440"/>
                </a:lnTo>
                <a:cubicBezTo>
                  <a:pt x="95263" y="199440"/>
                  <a:pt x="108785" y="185917"/>
                  <a:pt x="108785" y="169221"/>
                </a:cubicBezTo>
                <a:lnTo>
                  <a:pt x="108785" y="163178"/>
                </a:lnTo>
                <a:close/>
                <a:moveTo>
                  <a:pt x="69502" y="42305"/>
                </a:moveTo>
                <a:cubicBezTo>
                  <a:pt x="54468" y="42305"/>
                  <a:pt x="42305" y="54468"/>
                  <a:pt x="42305" y="69502"/>
                </a:cubicBezTo>
                <a:cubicBezTo>
                  <a:pt x="42305" y="74525"/>
                  <a:pt x="38264" y="78567"/>
                  <a:pt x="33240" y="78567"/>
                </a:cubicBezTo>
                <a:cubicBezTo>
                  <a:pt x="28216" y="78567"/>
                  <a:pt x="24174" y="74525"/>
                  <a:pt x="24174" y="69502"/>
                </a:cubicBezTo>
                <a:cubicBezTo>
                  <a:pt x="24174" y="44458"/>
                  <a:pt x="44458" y="24174"/>
                  <a:pt x="69502" y="24174"/>
                </a:cubicBezTo>
                <a:cubicBezTo>
                  <a:pt x="74525" y="24174"/>
                  <a:pt x="78567" y="28216"/>
                  <a:pt x="78567" y="33240"/>
                </a:cubicBezTo>
                <a:cubicBezTo>
                  <a:pt x="78567" y="38264"/>
                  <a:pt x="74525" y="42305"/>
                  <a:pt x="69502" y="42305"/>
                </a:cubicBez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59" name="Text 57"/>
          <p:cNvSpPr/>
          <p:nvPr/>
        </p:nvSpPr>
        <p:spPr>
          <a:xfrm>
            <a:off x="8798884" y="1595516"/>
            <a:ext cx="165998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3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Analysis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798884" y="1853377"/>
            <a:ext cx="1627749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Contextual Logic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250929" y="2143471"/>
            <a:ext cx="3537533" cy="628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Evaluates physical consistency and logical coherence. Detects impossible lighting scenarios, perspective errors, and physics violations.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258987" y="2868706"/>
            <a:ext cx="3465010" cy="483490"/>
          </a:xfrm>
          <a:custGeom>
            <a:avLst/>
            <a:gdLst/>
            <a:ahLst/>
            <a:cxnLst/>
            <a:rect l="l" t="t" r="r" b="b"/>
            <a:pathLst>
              <a:path w="3465010" h="483490">
                <a:moveTo>
                  <a:pt x="16116" y="0"/>
                </a:moveTo>
                <a:lnTo>
                  <a:pt x="3432776" y="0"/>
                </a:lnTo>
                <a:cubicBezTo>
                  <a:pt x="3450578" y="0"/>
                  <a:pt x="3465010" y="14432"/>
                  <a:pt x="3465010" y="32234"/>
                </a:cubicBezTo>
                <a:lnTo>
                  <a:pt x="3465010" y="451255"/>
                </a:lnTo>
                <a:cubicBezTo>
                  <a:pt x="3465010" y="469058"/>
                  <a:pt x="3450578" y="483490"/>
                  <a:pt x="3432776" y="483490"/>
                </a:cubicBezTo>
                <a:lnTo>
                  <a:pt x="16116" y="483490"/>
                </a:lnTo>
                <a:cubicBezTo>
                  <a:pt x="7216" y="483490"/>
                  <a:pt x="0" y="476274"/>
                  <a:pt x="0" y="467373"/>
                </a:cubicBezTo>
                <a:lnTo>
                  <a:pt x="0" y="16116"/>
                </a:lnTo>
                <a:cubicBezTo>
                  <a:pt x="0" y="7221"/>
                  <a:pt x="7221" y="0"/>
                  <a:pt x="16116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258987" y="2868706"/>
            <a:ext cx="16116" cy="483490"/>
          </a:xfrm>
          <a:custGeom>
            <a:avLst/>
            <a:gdLst/>
            <a:ahLst/>
            <a:cxnLst/>
            <a:rect l="l" t="t" r="r" b="b"/>
            <a:pathLst>
              <a:path w="16116" h="483490">
                <a:moveTo>
                  <a:pt x="16116" y="0"/>
                </a:moveTo>
                <a:lnTo>
                  <a:pt x="16116" y="0"/>
                </a:lnTo>
                <a:lnTo>
                  <a:pt x="16116" y="483490"/>
                </a:lnTo>
                <a:lnTo>
                  <a:pt x="16116" y="483490"/>
                </a:lnTo>
                <a:cubicBezTo>
                  <a:pt x="7216" y="483490"/>
                  <a:pt x="0" y="476274"/>
                  <a:pt x="0" y="467373"/>
                </a:cubicBezTo>
                <a:lnTo>
                  <a:pt x="0" y="16116"/>
                </a:lnTo>
                <a:cubicBezTo>
                  <a:pt x="0" y="7221"/>
                  <a:pt x="7221" y="0"/>
                  <a:pt x="16116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64" name="Text 62"/>
          <p:cNvSpPr/>
          <p:nvPr/>
        </p:nvSpPr>
        <p:spPr>
          <a:xfrm>
            <a:off x="8395976" y="2933171"/>
            <a:ext cx="338442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Lighting Consistency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395976" y="3094334"/>
            <a:ext cx="339248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light sources, shadow directions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258987" y="3416661"/>
            <a:ext cx="3465010" cy="483490"/>
          </a:xfrm>
          <a:custGeom>
            <a:avLst/>
            <a:gdLst/>
            <a:ahLst/>
            <a:cxnLst/>
            <a:rect l="l" t="t" r="r" b="b"/>
            <a:pathLst>
              <a:path w="3465010" h="483490">
                <a:moveTo>
                  <a:pt x="16116" y="0"/>
                </a:moveTo>
                <a:lnTo>
                  <a:pt x="3432776" y="0"/>
                </a:lnTo>
                <a:cubicBezTo>
                  <a:pt x="3450578" y="0"/>
                  <a:pt x="3465010" y="14432"/>
                  <a:pt x="3465010" y="32234"/>
                </a:cubicBezTo>
                <a:lnTo>
                  <a:pt x="3465010" y="451255"/>
                </a:lnTo>
                <a:cubicBezTo>
                  <a:pt x="3465010" y="469058"/>
                  <a:pt x="3450578" y="483490"/>
                  <a:pt x="3432776" y="483490"/>
                </a:cubicBezTo>
                <a:lnTo>
                  <a:pt x="16116" y="483490"/>
                </a:lnTo>
                <a:cubicBezTo>
                  <a:pt x="7216" y="483490"/>
                  <a:pt x="0" y="476274"/>
                  <a:pt x="0" y="467373"/>
                </a:cubicBezTo>
                <a:lnTo>
                  <a:pt x="0" y="16116"/>
                </a:lnTo>
                <a:cubicBezTo>
                  <a:pt x="0" y="7221"/>
                  <a:pt x="7221" y="0"/>
                  <a:pt x="16116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258987" y="3416661"/>
            <a:ext cx="16116" cy="483490"/>
          </a:xfrm>
          <a:custGeom>
            <a:avLst/>
            <a:gdLst/>
            <a:ahLst/>
            <a:cxnLst/>
            <a:rect l="l" t="t" r="r" b="b"/>
            <a:pathLst>
              <a:path w="16116" h="483490">
                <a:moveTo>
                  <a:pt x="16116" y="0"/>
                </a:moveTo>
                <a:lnTo>
                  <a:pt x="16116" y="0"/>
                </a:lnTo>
                <a:lnTo>
                  <a:pt x="16116" y="483490"/>
                </a:lnTo>
                <a:lnTo>
                  <a:pt x="16116" y="483490"/>
                </a:lnTo>
                <a:cubicBezTo>
                  <a:pt x="7216" y="483490"/>
                  <a:pt x="0" y="476274"/>
                  <a:pt x="0" y="467373"/>
                </a:cubicBezTo>
                <a:lnTo>
                  <a:pt x="0" y="16116"/>
                </a:lnTo>
                <a:cubicBezTo>
                  <a:pt x="0" y="7221"/>
                  <a:pt x="7221" y="0"/>
                  <a:pt x="16116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68" name="Text 66"/>
          <p:cNvSpPr/>
          <p:nvPr/>
        </p:nvSpPr>
        <p:spPr>
          <a:xfrm>
            <a:off x="8395976" y="3481126"/>
            <a:ext cx="338442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Perspective Geometry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395976" y="3642289"/>
            <a:ext cx="339248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Vanishing points, scale relationships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258987" y="3964616"/>
            <a:ext cx="3465010" cy="483490"/>
          </a:xfrm>
          <a:custGeom>
            <a:avLst/>
            <a:gdLst/>
            <a:ahLst/>
            <a:cxnLst/>
            <a:rect l="l" t="t" r="r" b="b"/>
            <a:pathLst>
              <a:path w="3465010" h="483490">
                <a:moveTo>
                  <a:pt x="16116" y="0"/>
                </a:moveTo>
                <a:lnTo>
                  <a:pt x="3432776" y="0"/>
                </a:lnTo>
                <a:cubicBezTo>
                  <a:pt x="3450578" y="0"/>
                  <a:pt x="3465010" y="14432"/>
                  <a:pt x="3465010" y="32234"/>
                </a:cubicBezTo>
                <a:lnTo>
                  <a:pt x="3465010" y="451255"/>
                </a:lnTo>
                <a:cubicBezTo>
                  <a:pt x="3465010" y="469058"/>
                  <a:pt x="3450578" y="483490"/>
                  <a:pt x="3432776" y="483490"/>
                </a:cubicBezTo>
                <a:lnTo>
                  <a:pt x="16116" y="483490"/>
                </a:lnTo>
                <a:cubicBezTo>
                  <a:pt x="7216" y="483490"/>
                  <a:pt x="0" y="476274"/>
                  <a:pt x="0" y="467373"/>
                </a:cubicBezTo>
                <a:lnTo>
                  <a:pt x="0" y="16116"/>
                </a:lnTo>
                <a:cubicBezTo>
                  <a:pt x="0" y="7221"/>
                  <a:pt x="7221" y="0"/>
                  <a:pt x="16116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258987" y="3964616"/>
            <a:ext cx="16116" cy="483490"/>
          </a:xfrm>
          <a:custGeom>
            <a:avLst/>
            <a:gdLst/>
            <a:ahLst/>
            <a:cxnLst/>
            <a:rect l="l" t="t" r="r" b="b"/>
            <a:pathLst>
              <a:path w="16116" h="483490">
                <a:moveTo>
                  <a:pt x="16116" y="0"/>
                </a:moveTo>
                <a:lnTo>
                  <a:pt x="16116" y="0"/>
                </a:lnTo>
                <a:lnTo>
                  <a:pt x="16116" y="483490"/>
                </a:lnTo>
                <a:lnTo>
                  <a:pt x="16116" y="483490"/>
                </a:lnTo>
                <a:cubicBezTo>
                  <a:pt x="7216" y="483490"/>
                  <a:pt x="0" y="476274"/>
                  <a:pt x="0" y="467373"/>
                </a:cubicBezTo>
                <a:lnTo>
                  <a:pt x="0" y="16116"/>
                </a:lnTo>
                <a:cubicBezTo>
                  <a:pt x="0" y="7221"/>
                  <a:pt x="7221" y="0"/>
                  <a:pt x="16116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72" name="Text 70"/>
          <p:cNvSpPr/>
          <p:nvPr/>
        </p:nvSpPr>
        <p:spPr>
          <a:xfrm>
            <a:off x="8395976" y="4029081"/>
            <a:ext cx="338442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Plausibility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395976" y="4190245"/>
            <a:ext cx="339248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Reflections, refractions, materials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258987" y="4512571"/>
            <a:ext cx="3465010" cy="483490"/>
          </a:xfrm>
          <a:custGeom>
            <a:avLst/>
            <a:gdLst/>
            <a:ahLst/>
            <a:cxnLst/>
            <a:rect l="l" t="t" r="r" b="b"/>
            <a:pathLst>
              <a:path w="3465010" h="483490">
                <a:moveTo>
                  <a:pt x="16116" y="0"/>
                </a:moveTo>
                <a:lnTo>
                  <a:pt x="3432776" y="0"/>
                </a:lnTo>
                <a:cubicBezTo>
                  <a:pt x="3450578" y="0"/>
                  <a:pt x="3465010" y="14432"/>
                  <a:pt x="3465010" y="32234"/>
                </a:cubicBezTo>
                <a:lnTo>
                  <a:pt x="3465010" y="451255"/>
                </a:lnTo>
                <a:cubicBezTo>
                  <a:pt x="3465010" y="469058"/>
                  <a:pt x="3450578" y="483490"/>
                  <a:pt x="3432776" y="483490"/>
                </a:cubicBezTo>
                <a:lnTo>
                  <a:pt x="16116" y="483490"/>
                </a:lnTo>
                <a:cubicBezTo>
                  <a:pt x="7216" y="483490"/>
                  <a:pt x="0" y="476274"/>
                  <a:pt x="0" y="467373"/>
                </a:cubicBezTo>
                <a:lnTo>
                  <a:pt x="0" y="16116"/>
                </a:lnTo>
                <a:cubicBezTo>
                  <a:pt x="0" y="7221"/>
                  <a:pt x="7221" y="0"/>
                  <a:pt x="16116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8258987" y="4512571"/>
            <a:ext cx="16116" cy="483490"/>
          </a:xfrm>
          <a:custGeom>
            <a:avLst/>
            <a:gdLst/>
            <a:ahLst/>
            <a:cxnLst/>
            <a:rect l="l" t="t" r="r" b="b"/>
            <a:pathLst>
              <a:path w="16116" h="483490">
                <a:moveTo>
                  <a:pt x="16116" y="0"/>
                </a:moveTo>
                <a:lnTo>
                  <a:pt x="16116" y="0"/>
                </a:lnTo>
                <a:lnTo>
                  <a:pt x="16116" y="483490"/>
                </a:lnTo>
                <a:lnTo>
                  <a:pt x="16116" y="483490"/>
                </a:lnTo>
                <a:cubicBezTo>
                  <a:pt x="7216" y="483490"/>
                  <a:pt x="0" y="476274"/>
                  <a:pt x="0" y="467373"/>
                </a:cubicBezTo>
                <a:lnTo>
                  <a:pt x="0" y="16116"/>
                </a:lnTo>
                <a:cubicBezTo>
                  <a:pt x="0" y="7221"/>
                  <a:pt x="7221" y="0"/>
                  <a:pt x="16116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76" name="Text 74"/>
          <p:cNvSpPr/>
          <p:nvPr/>
        </p:nvSpPr>
        <p:spPr>
          <a:xfrm>
            <a:off x="8395976" y="4577036"/>
            <a:ext cx="3384428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Anatomical Logic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395976" y="4738200"/>
            <a:ext cx="339248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Facial proportions, body structure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8250929" y="5984004"/>
            <a:ext cx="3473068" cy="8058"/>
          </a:xfrm>
          <a:custGeom>
            <a:avLst/>
            <a:gdLst/>
            <a:ahLst/>
            <a:cxnLst/>
            <a:rect l="l" t="t" r="r" b="b"/>
            <a:pathLst>
              <a:path w="3473068" h="8058">
                <a:moveTo>
                  <a:pt x="0" y="0"/>
                </a:moveTo>
                <a:lnTo>
                  <a:pt x="3473068" y="0"/>
                </a:lnTo>
                <a:lnTo>
                  <a:pt x="3473068" y="8058"/>
                </a:lnTo>
                <a:lnTo>
                  <a:pt x="0" y="8058"/>
                </a:lnTo>
                <a:lnTo>
                  <a:pt x="0" y="0"/>
                </a:lnTo>
                <a:close/>
              </a:path>
            </a:pathLst>
          </a:custGeom>
          <a:solidFill>
            <a:srgbClr val="34D399">
              <a:alpha val="30196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8222725" y="6084731"/>
            <a:ext cx="3529475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8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Accuracy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8190493" y="6245894"/>
            <a:ext cx="3593941" cy="29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04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84%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326356" y="6813995"/>
            <a:ext cx="11539289" cy="717176"/>
          </a:xfrm>
          <a:custGeom>
            <a:avLst/>
            <a:gdLst/>
            <a:ahLst/>
            <a:cxnLst/>
            <a:rect l="l" t="t" r="r" b="b"/>
            <a:pathLst>
              <a:path w="11539289" h="717176">
                <a:moveTo>
                  <a:pt x="64467" y="0"/>
                </a:moveTo>
                <a:lnTo>
                  <a:pt x="11474822" y="0"/>
                </a:lnTo>
                <a:cubicBezTo>
                  <a:pt x="11510426" y="0"/>
                  <a:pt x="11539289" y="28863"/>
                  <a:pt x="11539289" y="64467"/>
                </a:cubicBezTo>
                <a:lnTo>
                  <a:pt x="11539289" y="652709"/>
                </a:lnTo>
                <a:cubicBezTo>
                  <a:pt x="11539289" y="688314"/>
                  <a:pt x="11510426" y="717176"/>
                  <a:pt x="11474822" y="717176"/>
                </a:cubicBezTo>
                <a:lnTo>
                  <a:pt x="64467" y="717176"/>
                </a:lnTo>
                <a:cubicBezTo>
                  <a:pt x="28863" y="717176"/>
                  <a:pt x="0" y="688314"/>
                  <a:pt x="0" y="652709"/>
                </a:cubicBezTo>
                <a:lnTo>
                  <a:pt x="0" y="64467"/>
                </a:lnTo>
                <a:cubicBezTo>
                  <a:pt x="0" y="28887"/>
                  <a:pt x="28887" y="0"/>
                  <a:pt x="64467" y="0"/>
                </a:cubicBezTo>
                <a:close/>
              </a:path>
            </a:pathLst>
          </a:custGeom>
          <a:solidFill>
            <a:srgbClr val="34D399">
              <a:alpha val="10196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83490" y="7075885"/>
            <a:ext cx="193396" cy="193396"/>
          </a:xfrm>
          <a:custGeom>
            <a:avLst/>
            <a:gdLst/>
            <a:ahLst/>
            <a:cxnLst/>
            <a:rect l="l" t="t" r="r" b="b"/>
            <a:pathLst>
              <a:path w="193396" h="193396">
                <a:moveTo>
                  <a:pt x="87821" y="1964"/>
                </a:moveTo>
                <a:cubicBezTo>
                  <a:pt x="93450" y="-642"/>
                  <a:pt x="99946" y="-642"/>
                  <a:pt x="105575" y="1964"/>
                </a:cubicBezTo>
                <a:lnTo>
                  <a:pt x="188146" y="40115"/>
                </a:lnTo>
                <a:cubicBezTo>
                  <a:pt x="191356" y="41588"/>
                  <a:pt x="193396" y="44798"/>
                  <a:pt x="193396" y="48349"/>
                </a:cubicBezTo>
                <a:cubicBezTo>
                  <a:pt x="193396" y="51900"/>
                  <a:pt x="191356" y="55110"/>
                  <a:pt x="188146" y="56583"/>
                </a:cubicBezTo>
                <a:lnTo>
                  <a:pt x="105575" y="94734"/>
                </a:lnTo>
                <a:cubicBezTo>
                  <a:pt x="99946" y="97340"/>
                  <a:pt x="93450" y="97340"/>
                  <a:pt x="87821" y="94734"/>
                </a:cubicBezTo>
                <a:lnTo>
                  <a:pt x="5250" y="56583"/>
                </a:lnTo>
                <a:cubicBezTo>
                  <a:pt x="2040" y="55073"/>
                  <a:pt x="0" y="51862"/>
                  <a:pt x="0" y="48349"/>
                </a:cubicBezTo>
                <a:cubicBezTo>
                  <a:pt x="0" y="44836"/>
                  <a:pt x="2040" y="41588"/>
                  <a:pt x="5250" y="40115"/>
                </a:cubicBezTo>
                <a:lnTo>
                  <a:pt x="87821" y="1964"/>
                </a:lnTo>
                <a:close/>
                <a:moveTo>
                  <a:pt x="18169" y="82495"/>
                </a:moveTo>
                <a:lnTo>
                  <a:pt x="80229" y="111165"/>
                </a:lnTo>
                <a:cubicBezTo>
                  <a:pt x="90692" y="116000"/>
                  <a:pt x="102742" y="116000"/>
                  <a:pt x="113205" y="111165"/>
                </a:cubicBezTo>
                <a:lnTo>
                  <a:pt x="175265" y="82495"/>
                </a:lnTo>
                <a:lnTo>
                  <a:pt x="188146" y="88464"/>
                </a:lnTo>
                <a:cubicBezTo>
                  <a:pt x="191356" y="89937"/>
                  <a:pt x="193396" y="93147"/>
                  <a:pt x="193396" y="96698"/>
                </a:cubicBezTo>
                <a:cubicBezTo>
                  <a:pt x="193396" y="100249"/>
                  <a:pt x="191356" y="103459"/>
                  <a:pt x="188146" y="104932"/>
                </a:cubicBezTo>
                <a:lnTo>
                  <a:pt x="105575" y="143083"/>
                </a:lnTo>
                <a:cubicBezTo>
                  <a:pt x="99946" y="145689"/>
                  <a:pt x="93450" y="145689"/>
                  <a:pt x="87821" y="143083"/>
                </a:cubicBezTo>
                <a:lnTo>
                  <a:pt x="5250" y="104932"/>
                </a:lnTo>
                <a:cubicBezTo>
                  <a:pt x="2040" y="103421"/>
                  <a:pt x="0" y="100211"/>
                  <a:pt x="0" y="96698"/>
                </a:cubicBezTo>
                <a:cubicBezTo>
                  <a:pt x="0" y="93185"/>
                  <a:pt x="2040" y="89937"/>
                  <a:pt x="5250" y="88464"/>
                </a:cubicBezTo>
                <a:lnTo>
                  <a:pt x="18131" y="82495"/>
                </a:lnTo>
                <a:close/>
                <a:moveTo>
                  <a:pt x="5250" y="136812"/>
                </a:moveTo>
                <a:lnTo>
                  <a:pt x="18131" y="130844"/>
                </a:lnTo>
                <a:lnTo>
                  <a:pt x="80191" y="159514"/>
                </a:lnTo>
                <a:cubicBezTo>
                  <a:pt x="90654" y="164349"/>
                  <a:pt x="102704" y="164349"/>
                  <a:pt x="113167" y="159514"/>
                </a:cubicBezTo>
                <a:lnTo>
                  <a:pt x="175227" y="130844"/>
                </a:lnTo>
                <a:lnTo>
                  <a:pt x="188108" y="136812"/>
                </a:lnTo>
                <a:cubicBezTo>
                  <a:pt x="191318" y="138286"/>
                  <a:pt x="193358" y="141496"/>
                  <a:pt x="193358" y="145047"/>
                </a:cubicBezTo>
                <a:cubicBezTo>
                  <a:pt x="193358" y="148598"/>
                  <a:pt x="191318" y="151808"/>
                  <a:pt x="188108" y="153281"/>
                </a:cubicBezTo>
                <a:lnTo>
                  <a:pt x="105537" y="191432"/>
                </a:lnTo>
                <a:cubicBezTo>
                  <a:pt x="99909" y="194038"/>
                  <a:pt x="93412" y="194038"/>
                  <a:pt x="87784" y="191432"/>
                </a:cubicBezTo>
                <a:lnTo>
                  <a:pt x="5250" y="153281"/>
                </a:lnTo>
                <a:cubicBezTo>
                  <a:pt x="2040" y="151770"/>
                  <a:pt x="0" y="148560"/>
                  <a:pt x="0" y="145047"/>
                </a:cubicBezTo>
                <a:cubicBezTo>
                  <a:pt x="0" y="141534"/>
                  <a:pt x="2040" y="138286"/>
                  <a:pt x="5250" y="136812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83" name="Text 81"/>
          <p:cNvSpPr/>
          <p:nvPr/>
        </p:nvSpPr>
        <p:spPr>
          <a:xfrm>
            <a:off x="829991" y="6946955"/>
            <a:ext cx="8453013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2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Ensemble Voting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829991" y="7204816"/>
            <a:ext cx="8444954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three analysis layers combine through weighted voting to achieve </a:t>
            </a:r>
            <a:pPr>
              <a:lnSpc>
                <a:spcPct val="130000"/>
              </a:lnSpc>
            </a:pPr>
            <a:r>
              <a:rPr lang="en-US" sz="1015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97.3% overall accuracy</a:t>
            </a:r>
            <a:pPr>
              <a:lnSpc>
                <a:spcPct val="130000"/>
              </a:lnSpc>
            </a:pPr>
            <a:r>
              <a:rPr lang="en-US" sz="1015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significantly outperforming any single detection method.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707" y="371707"/>
            <a:ext cx="11522927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spc="234" kern="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OPTIMIZATIONS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1707" y="669073"/>
            <a:ext cx="11615854" cy="3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34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Speed &amp; Efficiency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1707" y="1115122"/>
            <a:ext cx="11541512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optimizations delivering superior user experience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1707" y="1486829"/>
            <a:ext cx="743415" cy="37171"/>
          </a:xfrm>
          <a:custGeom>
            <a:avLst/>
            <a:gdLst/>
            <a:ahLst/>
            <a:cxnLst/>
            <a:rect l="l" t="t" r="r" b="b"/>
            <a:pathLst>
              <a:path w="743415" h="37171">
                <a:moveTo>
                  <a:pt x="0" y="0"/>
                </a:moveTo>
                <a:lnTo>
                  <a:pt x="743415" y="0"/>
                </a:lnTo>
                <a:lnTo>
                  <a:pt x="743415" y="37171"/>
                </a:lnTo>
                <a:lnTo>
                  <a:pt x="0" y="37171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6" name="Shape 4"/>
          <p:cNvSpPr/>
          <p:nvPr/>
        </p:nvSpPr>
        <p:spPr>
          <a:xfrm>
            <a:off x="390293" y="1672683"/>
            <a:ext cx="5631366" cy="4014439"/>
          </a:xfrm>
          <a:custGeom>
            <a:avLst/>
            <a:gdLst/>
            <a:ahLst/>
            <a:cxnLst/>
            <a:rect l="l" t="t" r="r" b="b"/>
            <a:pathLst>
              <a:path w="5631366" h="4014439">
                <a:moveTo>
                  <a:pt x="37171" y="0"/>
                </a:moveTo>
                <a:lnTo>
                  <a:pt x="5557018" y="0"/>
                </a:lnTo>
                <a:cubicBezTo>
                  <a:pt x="5598079" y="0"/>
                  <a:pt x="5631366" y="33286"/>
                  <a:pt x="5631366" y="74347"/>
                </a:cubicBezTo>
                <a:lnTo>
                  <a:pt x="5631366" y="3940092"/>
                </a:lnTo>
                <a:cubicBezTo>
                  <a:pt x="5631366" y="3981153"/>
                  <a:pt x="5598079" y="4014439"/>
                  <a:pt x="5557018" y="4014439"/>
                </a:cubicBezTo>
                <a:lnTo>
                  <a:pt x="37171" y="4014439"/>
                </a:lnTo>
                <a:cubicBezTo>
                  <a:pt x="16642" y="4014439"/>
                  <a:pt x="0" y="3997797"/>
                  <a:pt x="0" y="3977268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90293" y="1672683"/>
            <a:ext cx="37171" cy="4014439"/>
          </a:xfrm>
          <a:custGeom>
            <a:avLst/>
            <a:gdLst/>
            <a:ahLst/>
            <a:cxnLst/>
            <a:rect l="l" t="t" r="r" b="b"/>
            <a:pathLst>
              <a:path w="37171" h="4014439">
                <a:moveTo>
                  <a:pt x="37171" y="0"/>
                </a:moveTo>
                <a:lnTo>
                  <a:pt x="37171" y="0"/>
                </a:lnTo>
                <a:lnTo>
                  <a:pt x="37171" y="4014439"/>
                </a:lnTo>
                <a:lnTo>
                  <a:pt x="37171" y="4014439"/>
                </a:lnTo>
                <a:cubicBezTo>
                  <a:pt x="16642" y="4014439"/>
                  <a:pt x="0" y="3997797"/>
                  <a:pt x="0" y="3977268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557561" y="1821366"/>
            <a:ext cx="5426927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Optimizations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854" y="2193073"/>
            <a:ext cx="5306122" cy="1189463"/>
          </a:xfrm>
          <a:custGeom>
            <a:avLst/>
            <a:gdLst/>
            <a:ahLst/>
            <a:cxnLst/>
            <a:rect l="l" t="t" r="r" b="b"/>
            <a:pathLst>
              <a:path w="5306122" h="1189463">
                <a:moveTo>
                  <a:pt x="18585" y="0"/>
                </a:moveTo>
                <a:lnTo>
                  <a:pt x="5268951" y="0"/>
                </a:lnTo>
                <a:cubicBezTo>
                  <a:pt x="5289480" y="0"/>
                  <a:pt x="5306122" y="16642"/>
                  <a:pt x="5306122" y="37171"/>
                </a:cubicBezTo>
                <a:lnTo>
                  <a:pt x="5306122" y="1152293"/>
                </a:lnTo>
                <a:cubicBezTo>
                  <a:pt x="5306122" y="1172822"/>
                  <a:pt x="5289480" y="1189463"/>
                  <a:pt x="5268951" y="1189463"/>
                </a:cubicBezTo>
                <a:lnTo>
                  <a:pt x="18585" y="1189463"/>
                </a:lnTo>
                <a:cubicBezTo>
                  <a:pt x="8321" y="1189463"/>
                  <a:pt x="0" y="1181142"/>
                  <a:pt x="0" y="1170878"/>
                </a:cubicBezTo>
                <a:lnTo>
                  <a:pt x="0" y="18585"/>
                </a:lnTo>
                <a:cubicBezTo>
                  <a:pt x="0" y="8321"/>
                  <a:pt x="8321" y="0"/>
                  <a:pt x="18585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66854" y="2193073"/>
            <a:ext cx="18585" cy="1189463"/>
          </a:xfrm>
          <a:custGeom>
            <a:avLst/>
            <a:gdLst/>
            <a:ahLst/>
            <a:cxnLst/>
            <a:rect l="l" t="t" r="r" b="b"/>
            <a:pathLst>
              <a:path w="18585" h="1189463">
                <a:moveTo>
                  <a:pt x="18585" y="0"/>
                </a:moveTo>
                <a:lnTo>
                  <a:pt x="18585" y="0"/>
                </a:lnTo>
                <a:lnTo>
                  <a:pt x="18585" y="1189463"/>
                </a:lnTo>
                <a:lnTo>
                  <a:pt x="18585" y="1189463"/>
                </a:lnTo>
                <a:cubicBezTo>
                  <a:pt x="8321" y="1189463"/>
                  <a:pt x="0" y="1181142"/>
                  <a:pt x="0" y="1170878"/>
                </a:cubicBezTo>
                <a:lnTo>
                  <a:pt x="0" y="18585"/>
                </a:lnTo>
                <a:cubicBezTo>
                  <a:pt x="0" y="8321"/>
                  <a:pt x="8321" y="0"/>
                  <a:pt x="18585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724829" y="2286000"/>
            <a:ext cx="1096537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Splitting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52990" y="2267415"/>
            <a:ext cx="529683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4829" y="2601951"/>
            <a:ext cx="5222488" cy="44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chunking reduces initial bundle size by 68%, achieving instant First Contentful Paint (FCP).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4829" y="3178098"/>
            <a:ext cx="4795024" cy="74341"/>
          </a:xfrm>
          <a:custGeom>
            <a:avLst/>
            <a:gdLst/>
            <a:ahLst/>
            <a:cxnLst/>
            <a:rect l="l" t="t" r="r" b="b"/>
            <a:pathLst>
              <a:path w="4795024" h="74341">
                <a:moveTo>
                  <a:pt x="37171" y="0"/>
                </a:moveTo>
                <a:lnTo>
                  <a:pt x="4757854" y="0"/>
                </a:lnTo>
                <a:cubicBezTo>
                  <a:pt x="4778382" y="0"/>
                  <a:pt x="4795024" y="16642"/>
                  <a:pt x="4795024" y="37171"/>
                </a:cubicBezTo>
                <a:lnTo>
                  <a:pt x="4795024" y="37171"/>
                </a:lnTo>
                <a:cubicBezTo>
                  <a:pt x="4795024" y="57700"/>
                  <a:pt x="4778382" y="74341"/>
                  <a:pt x="4757854" y="74341"/>
                </a:cubicBezTo>
                <a:lnTo>
                  <a:pt x="37171" y="74341"/>
                </a:lnTo>
                <a:cubicBezTo>
                  <a:pt x="16642" y="74341"/>
                  <a:pt x="0" y="57700"/>
                  <a:pt x="0" y="37171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4B5563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24829" y="3178098"/>
            <a:ext cx="4404732" cy="74341"/>
          </a:xfrm>
          <a:custGeom>
            <a:avLst/>
            <a:gdLst/>
            <a:ahLst/>
            <a:cxnLst/>
            <a:rect l="l" t="t" r="r" b="b"/>
            <a:pathLst>
              <a:path w="4404732" h="74341">
                <a:moveTo>
                  <a:pt x="37171" y="0"/>
                </a:moveTo>
                <a:lnTo>
                  <a:pt x="4367561" y="0"/>
                </a:lnTo>
                <a:cubicBezTo>
                  <a:pt x="4388090" y="0"/>
                  <a:pt x="4404732" y="16642"/>
                  <a:pt x="4404732" y="37171"/>
                </a:cubicBezTo>
                <a:lnTo>
                  <a:pt x="4404732" y="37171"/>
                </a:lnTo>
                <a:cubicBezTo>
                  <a:pt x="4404732" y="57700"/>
                  <a:pt x="4388090" y="74341"/>
                  <a:pt x="4367561" y="74341"/>
                </a:cubicBezTo>
                <a:lnTo>
                  <a:pt x="37171" y="74341"/>
                </a:lnTo>
                <a:cubicBezTo>
                  <a:pt x="16642" y="74341"/>
                  <a:pt x="0" y="57700"/>
                  <a:pt x="0" y="37171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5628462" y="3122341"/>
            <a:ext cx="306659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854" y="3494049"/>
            <a:ext cx="5306122" cy="966439"/>
          </a:xfrm>
          <a:custGeom>
            <a:avLst/>
            <a:gdLst/>
            <a:ahLst/>
            <a:cxnLst/>
            <a:rect l="l" t="t" r="r" b="b"/>
            <a:pathLst>
              <a:path w="5306122" h="966439">
                <a:moveTo>
                  <a:pt x="18585" y="0"/>
                </a:moveTo>
                <a:lnTo>
                  <a:pt x="5268953" y="0"/>
                </a:lnTo>
                <a:cubicBezTo>
                  <a:pt x="5289481" y="0"/>
                  <a:pt x="5306122" y="16641"/>
                  <a:pt x="5306122" y="37169"/>
                </a:cubicBezTo>
                <a:lnTo>
                  <a:pt x="5306122" y="929270"/>
                </a:lnTo>
                <a:cubicBezTo>
                  <a:pt x="5306122" y="949798"/>
                  <a:pt x="5289481" y="966439"/>
                  <a:pt x="5268953" y="966439"/>
                </a:cubicBezTo>
                <a:lnTo>
                  <a:pt x="18585" y="966439"/>
                </a:lnTo>
                <a:cubicBezTo>
                  <a:pt x="8321" y="966439"/>
                  <a:pt x="0" y="958118"/>
                  <a:pt x="0" y="947854"/>
                </a:cubicBezTo>
                <a:lnTo>
                  <a:pt x="0" y="18585"/>
                </a:lnTo>
                <a:cubicBezTo>
                  <a:pt x="0" y="8321"/>
                  <a:pt x="8321" y="0"/>
                  <a:pt x="18585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66854" y="3494049"/>
            <a:ext cx="18585" cy="966439"/>
          </a:xfrm>
          <a:custGeom>
            <a:avLst/>
            <a:gdLst/>
            <a:ahLst/>
            <a:cxnLst/>
            <a:rect l="l" t="t" r="r" b="b"/>
            <a:pathLst>
              <a:path w="18585" h="966439">
                <a:moveTo>
                  <a:pt x="18585" y="0"/>
                </a:moveTo>
                <a:lnTo>
                  <a:pt x="18585" y="0"/>
                </a:lnTo>
                <a:lnTo>
                  <a:pt x="18585" y="966439"/>
                </a:lnTo>
                <a:lnTo>
                  <a:pt x="18585" y="966439"/>
                </a:lnTo>
                <a:cubicBezTo>
                  <a:pt x="8321" y="966439"/>
                  <a:pt x="0" y="958118"/>
                  <a:pt x="0" y="947854"/>
                </a:cubicBezTo>
                <a:lnTo>
                  <a:pt x="0" y="18585"/>
                </a:lnTo>
                <a:cubicBezTo>
                  <a:pt x="0" y="8321"/>
                  <a:pt x="8321" y="0"/>
                  <a:pt x="18585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724829" y="3586976"/>
            <a:ext cx="1012902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Lazy Loading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57201" y="3568390"/>
            <a:ext cx="529683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4829" y="3902927"/>
            <a:ext cx="5222488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imports reduce time-to-interactive by 45%.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4829" y="4256049"/>
            <a:ext cx="4795024" cy="74341"/>
          </a:xfrm>
          <a:custGeom>
            <a:avLst/>
            <a:gdLst/>
            <a:ahLst/>
            <a:cxnLst/>
            <a:rect l="l" t="t" r="r" b="b"/>
            <a:pathLst>
              <a:path w="4795024" h="74341">
                <a:moveTo>
                  <a:pt x="37171" y="0"/>
                </a:moveTo>
                <a:lnTo>
                  <a:pt x="4757854" y="0"/>
                </a:lnTo>
                <a:cubicBezTo>
                  <a:pt x="4778382" y="0"/>
                  <a:pt x="4795024" y="16642"/>
                  <a:pt x="4795024" y="37171"/>
                </a:cubicBezTo>
                <a:lnTo>
                  <a:pt x="4795024" y="37171"/>
                </a:lnTo>
                <a:cubicBezTo>
                  <a:pt x="4795024" y="57700"/>
                  <a:pt x="4778382" y="74341"/>
                  <a:pt x="4757854" y="74341"/>
                </a:cubicBezTo>
                <a:lnTo>
                  <a:pt x="37171" y="74341"/>
                </a:lnTo>
                <a:cubicBezTo>
                  <a:pt x="16642" y="74341"/>
                  <a:pt x="0" y="57700"/>
                  <a:pt x="0" y="37171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4B5563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4829" y="4256049"/>
            <a:ext cx="2155902" cy="74341"/>
          </a:xfrm>
          <a:custGeom>
            <a:avLst/>
            <a:gdLst/>
            <a:ahLst/>
            <a:cxnLst/>
            <a:rect l="l" t="t" r="r" b="b"/>
            <a:pathLst>
              <a:path w="2155902" h="74341">
                <a:moveTo>
                  <a:pt x="37171" y="0"/>
                </a:moveTo>
                <a:lnTo>
                  <a:pt x="2118732" y="0"/>
                </a:lnTo>
                <a:cubicBezTo>
                  <a:pt x="2139261" y="0"/>
                  <a:pt x="2155902" y="16642"/>
                  <a:pt x="2155902" y="37171"/>
                </a:cubicBezTo>
                <a:lnTo>
                  <a:pt x="2155902" y="37171"/>
                </a:lnTo>
                <a:cubicBezTo>
                  <a:pt x="2155902" y="57700"/>
                  <a:pt x="2139261" y="74341"/>
                  <a:pt x="2118732" y="74341"/>
                </a:cubicBezTo>
                <a:lnTo>
                  <a:pt x="37171" y="74341"/>
                </a:lnTo>
                <a:cubicBezTo>
                  <a:pt x="16642" y="74341"/>
                  <a:pt x="0" y="57700"/>
                  <a:pt x="0" y="37171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5630422" y="4200293"/>
            <a:ext cx="306659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6854" y="4572000"/>
            <a:ext cx="5306122" cy="966439"/>
          </a:xfrm>
          <a:custGeom>
            <a:avLst/>
            <a:gdLst/>
            <a:ahLst/>
            <a:cxnLst/>
            <a:rect l="l" t="t" r="r" b="b"/>
            <a:pathLst>
              <a:path w="5306122" h="966439">
                <a:moveTo>
                  <a:pt x="18585" y="0"/>
                </a:moveTo>
                <a:lnTo>
                  <a:pt x="5268953" y="0"/>
                </a:lnTo>
                <a:cubicBezTo>
                  <a:pt x="5289481" y="0"/>
                  <a:pt x="5306122" y="16641"/>
                  <a:pt x="5306122" y="37169"/>
                </a:cubicBezTo>
                <a:lnTo>
                  <a:pt x="5306122" y="929270"/>
                </a:lnTo>
                <a:cubicBezTo>
                  <a:pt x="5306122" y="949798"/>
                  <a:pt x="5289481" y="966439"/>
                  <a:pt x="5268953" y="966439"/>
                </a:cubicBezTo>
                <a:lnTo>
                  <a:pt x="18585" y="966439"/>
                </a:lnTo>
                <a:cubicBezTo>
                  <a:pt x="8321" y="966439"/>
                  <a:pt x="0" y="958118"/>
                  <a:pt x="0" y="947854"/>
                </a:cubicBezTo>
                <a:lnTo>
                  <a:pt x="0" y="18585"/>
                </a:lnTo>
                <a:cubicBezTo>
                  <a:pt x="0" y="8321"/>
                  <a:pt x="8321" y="0"/>
                  <a:pt x="18585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66854" y="4572000"/>
            <a:ext cx="18585" cy="966439"/>
          </a:xfrm>
          <a:custGeom>
            <a:avLst/>
            <a:gdLst/>
            <a:ahLst/>
            <a:cxnLst/>
            <a:rect l="l" t="t" r="r" b="b"/>
            <a:pathLst>
              <a:path w="18585" h="966439">
                <a:moveTo>
                  <a:pt x="18585" y="0"/>
                </a:moveTo>
                <a:lnTo>
                  <a:pt x="18585" y="0"/>
                </a:lnTo>
                <a:lnTo>
                  <a:pt x="18585" y="966439"/>
                </a:lnTo>
                <a:lnTo>
                  <a:pt x="18585" y="966439"/>
                </a:lnTo>
                <a:cubicBezTo>
                  <a:pt x="8321" y="966439"/>
                  <a:pt x="0" y="958118"/>
                  <a:pt x="0" y="947854"/>
                </a:cubicBezTo>
                <a:lnTo>
                  <a:pt x="0" y="18585"/>
                </a:lnTo>
                <a:cubicBezTo>
                  <a:pt x="0" y="8321"/>
                  <a:pt x="8321" y="0"/>
                  <a:pt x="18585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724829" y="4664927"/>
            <a:ext cx="1068659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CDN Delivery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80017" y="4646341"/>
            <a:ext cx="808463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200ms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4829" y="4980878"/>
            <a:ext cx="5222488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CDN reduces asset load time by 200ms.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24829" y="5334000"/>
            <a:ext cx="4795024" cy="74341"/>
          </a:xfrm>
          <a:custGeom>
            <a:avLst/>
            <a:gdLst/>
            <a:ahLst/>
            <a:cxnLst/>
            <a:rect l="l" t="t" r="r" b="b"/>
            <a:pathLst>
              <a:path w="4795024" h="74341">
                <a:moveTo>
                  <a:pt x="37171" y="0"/>
                </a:moveTo>
                <a:lnTo>
                  <a:pt x="4757854" y="0"/>
                </a:lnTo>
                <a:cubicBezTo>
                  <a:pt x="4778382" y="0"/>
                  <a:pt x="4795024" y="16642"/>
                  <a:pt x="4795024" y="37171"/>
                </a:cubicBezTo>
                <a:lnTo>
                  <a:pt x="4795024" y="37171"/>
                </a:lnTo>
                <a:cubicBezTo>
                  <a:pt x="4795024" y="57700"/>
                  <a:pt x="4778382" y="74341"/>
                  <a:pt x="4757854" y="74341"/>
                </a:cubicBezTo>
                <a:lnTo>
                  <a:pt x="37171" y="74341"/>
                </a:lnTo>
                <a:cubicBezTo>
                  <a:pt x="16642" y="74341"/>
                  <a:pt x="0" y="57700"/>
                  <a:pt x="0" y="37171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4B5563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24829" y="5334000"/>
            <a:ext cx="3744951" cy="74341"/>
          </a:xfrm>
          <a:custGeom>
            <a:avLst/>
            <a:gdLst/>
            <a:ahLst/>
            <a:cxnLst/>
            <a:rect l="l" t="t" r="r" b="b"/>
            <a:pathLst>
              <a:path w="3744951" h="74341">
                <a:moveTo>
                  <a:pt x="37171" y="0"/>
                </a:moveTo>
                <a:lnTo>
                  <a:pt x="3707780" y="0"/>
                </a:lnTo>
                <a:cubicBezTo>
                  <a:pt x="3728309" y="0"/>
                  <a:pt x="3744951" y="16642"/>
                  <a:pt x="3744951" y="37171"/>
                </a:cubicBezTo>
                <a:lnTo>
                  <a:pt x="3744951" y="37171"/>
                </a:lnTo>
                <a:cubicBezTo>
                  <a:pt x="3744951" y="57700"/>
                  <a:pt x="3728309" y="74341"/>
                  <a:pt x="3707780" y="74341"/>
                </a:cubicBezTo>
                <a:lnTo>
                  <a:pt x="37171" y="74341"/>
                </a:lnTo>
                <a:cubicBezTo>
                  <a:pt x="16642" y="74341"/>
                  <a:pt x="0" y="57700"/>
                  <a:pt x="0" y="37171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2" name="Text 30"/>
          <p:cNvSpPr/>
          <p:nvPr/>
        </p:nvSpPr>
        <p:spPr>
          <a:xfrm>
            <a:off x="5634488" y="5278244"/>
            <a:ext cx="306659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78%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88927" y="1672683"/>
            <a:ext cx="5631366" cy="4014439"/>
          </a:xfrm>
          <a:custGeom>
            <a:avLst/>
            <a:gdLst/>
            <a:ahLst/>
            <a:cxnLst/>
            <a:rect l="l" t="t" r="r" b="b"/>
            <a:pathLst>
              <a:path w="5631366" h="4014439">
                <a:moveTo>
                  <a:pt x="37171" y="0"/>
                </a:moveTo>
                <a:lnTo>
                  <a:pt x="5557018" y="0"/>
                </a:lnTo>
                <a:cubicBezTo>
                  <a:pt x="5598079" y="0"/>
                  <a:pt x="5631366" y="33286"/>
                  <a:pt x="5631366" y="74347"/>
                </a:cubicBezTo>
                <a:lnTo>
                  <a:pt x="5631366" y="3940092"/>
                </a:lnTo>
                <a:cubicBezTo>
                  <a:pt x="5631366" y="3981153"/>
                  <a:pt x="5598079" y="4014439"/>
                  <a:pt x="5557018" y="4014439"/>
                </a:cubicBezTo>
                <a:lnTo>
                  <a:pt x="37171" y="4014439"/>
                </a:lnTo>
                <a:cubicBezTo>
                  <a:pt x="16642" y="4014439"/>
                  <a:pt x="0" y="3997797"/>
                  <a:pt x="0" y="3977268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188927" y="1672683"/>
            <a:ext cx="37171" cy="4014439"/>
          </a:xfrm>
          <a:custGeom>
            <a:avLst/>
            <a:gdLst/>
            <a:ahLst/>
            <a:cxnLst/>
            <a:rect l="l" t="t" r="r" b="b"/>
            <a:pathLst>
              <a:path w="37171" h="4014439">
                <a:moveTo>
                  <a:pt x="37171" y="0"/>
                </a:moveTo>
                <a:lnTo>
                  <a:pt x="37171" y="0"/>
                </a:lnTo>
                <a:lnTo>
                  <a:pt x="37171" y="4014439"/>
                </a:lnTo>
                <a:lnTo>
                  <a:pt x="37171" y="4014439"/>
                </a:lnTo>
                <a:cubicBezTo>
                  <a:pt x="16642" y="4014439"/>
                  <a:pt x="0" y="3997797"/>
                  <a:pt x="0" y="3977268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35" name="Text 33"/>
          <p:cNvSpPr/>
          <p:nvPr/>
        </p:nvSpPr>
        <p:spPr>
          <a:xfrm>
            <a:off x="6356195" y="1821366"/>
            <a:ext cx="5426927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Optimizations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65488" y="2193073"/>
            <a:ext cx="5306122" cy="966439"/>
          </a:xfrm>
          <a:custGeom>
            <a:avLst/>
            <a:gdLst/>
            <a:ahLst/>
            <a:cxnLst/>
            <a:rect l="l" t="t" r="r" b="b"/>
            <a:pathLst>
              <a:path w="5306122" h="966439">
                <a:moveTo>
                  <a:pt x="18585" y="0"/>
                </a:moveTo>
                <a:lnTo>
                  <a:pt x="5268953" y="0"/>
                </a:lnTo>
                <a:cubicBezTo>
                  <a:pt x="5289481" y="0"/>
                  <a:pt x="5306122" y="16641"/>
                  <a:pt x="5306122" y="37169"/>
                </a:cubicBezTo>
                <a:lnTo>
                  <a:pt x="5306122" y="929270"/>
                </a:lnTo>
                <a:cubicBezTo>
                  <a:pt x="5306122" y="949798"/>
                  <a:pt x="5289481" y="966439"/>
                  <a:pt x="5268953" y="966439"/>
                </a:cubicBezTo>
                <a:lnTo>
                  <a:pt x="18585" y="966439"/>
                </a:lnTo>
                <a:cubicBezTo>
                  <a:pt x="8321" y="966439"/>
                  <a:pt x="0" y="958118"/>
                  <a:pt x="0" y="947854"/>
                </a:cubicBezTo>
                <a:lnTo>
                  <a:pt x="0" y="18585"/>
                </a:lnTo>
                <a:cubicBezTo>
                  <a:pt x="0" y="8321"/>
                  <a:pt x="8321" y="0"/>
                  <a:pt x="18585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365488" y="2193073"/>
            <a:ext cx="18585" cy="966439"/>
          </a:xfrm>
          <a:custGeom>
            <a:avLst/>
            <a:gdLst/>
            <a:ahLst/>
            <a:cxnLst/>
            <a:rect l="l" t="t" r="r" b="b"/>
            <a:pathLst>
              <a:path w="18585" h="966439">
                <a:moveTo>
                  <a:pt x="18585" y="0"/>
                </a:moveTo>
                <a:lnTo>
                  <a:pt x="18585" y="0"/>
                </a:lnTo>
                <a:lnTo>
                  <a:pt x="18585" y="966439"/>
                </a:lnTo>
                <a:lnTo>
                  <a:pt x="18585" y="966439"/>
                </a:lnTo>
                <a:cubicBezTo>
                  <a:pt x="8321" y="966439"/>
                  <a:pt x="0" y="958118"/>
                  <a:pt x="0" y="947854"/>
                </a:cubicBezTo>
                <a:lnTo>
                  <a:pt x="0" y="18585"/>
                </a:lnTo>
                <a:cubicBezTo>
                  <a:pt x="0" y="8321"/>
                  <a:pt x="8321" y="0"/>
                  <a:pt x="18585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38" name="Text 36"/>
          <p:cNvSpPr/>
          <p:nvPr/>
        </p:nvSpPr>
        <p:spPr>
          <a:xfrm>
            <a:off x="6523463" y="2286000"/>
            <a:ext cx="1245220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 Sampling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442777" y="2267415"/>
            <a:ext cx="343829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2x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23463" y="2601951"/>
            <a:ext cx="5222488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60-frame skip strategy reduces processing by 75%.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523463" y="2955073"/>
            <a:ext cx="4776439" cy="74341"/>
          </a:xfrm>
          <a:custGeom>
            <a:avLst/>
            <a:gdLst/>
            <a:ahLst/>
            <a:cxnLst/>
            <a:rect l="l" t="t" r="r" b="b"/>
            <a:pathLst>
              <a:path w="4776439" h="74341">
                <a:moveTo>
                  <a:pt x="37171" y="0"/>
                </a:moveTo>
                <a:lnTo>
                  <a:pt x="4739268" y="0"/>
                </a:lnTo>
                <a:cubicBezTo>
                  <a:pt x="4759797" y="0"/>
                  <a:pt x="4776439" y="16642"/>
                  <a:pt x="4776439" y="37171"/>
                </a:cubicBezTo>
                <a:lnTo>
                  <a:pt x="4776439" y="37171"/>
                </a:lnTo>
                <a:cubicBezTo>
                  <a:pt x="4776439" y="57700"/>
                  <a:pt x="4759797" y="74341"/>
                  <a:pt x="4739268" y="74341"/>
                </a:cubicBezTo>
                <a:lnTo>
                  <a:pt x="37171" y="74341"/>
                </a:lnTo>
                <a:cubicBezTo>
                  <a:pt x="16642" y="74341"/>
                  <a:pt x="0" y="57700"/>
                  <a:pt x="0" y="37171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4B5563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523463" y="2955073"/>
            <a:ext cx="2388220" cy="74341"/>
          </a:xfrm>
          <a:custGeom>
            <a:avLst/>
            <a:gdLst/>
            <a:ahLst/>
            <a:cxnLst/>
            <a:rect l="l" t="t" r="r" b="b"/>
            <a:pathLst>
              <a:path w="2388220" h="74341">
                <a:moveTo>
                  <a:pt x="37171" y="0"/>
                </a:moveTo>
                <a:lnTo>
                  <a:pt x="2351049" y="0"/>
                </a:lnTo>
                <a:cubicBezTo>
                  <a:pt x="2371578" y="0"/>
                  <a:pt x="2388220" y="16642"/>
                  <a:pt x="2388220" y="37171"/>
                </a:cubicBezTo>
                <a:lnTo>
                  <a:pt x="2388220" y="37171"/>
                </a:lnTo>
                <a:cubicBezTo>
                  <a:pt x="2388220" y="57700"/>
                  <a:pt x="2371578" y="74341"/>
                  <a:pt x="2351049" y="74341"/>
                </a:cubicBezTo>
                <a:lnTo>
                  <a:pt x="37171" y="74341"/>
                </a:lnTo>
                <a:cubicBezTo>
                  <a:pt x="16642" y="74341"/>
                  <a:pt x="0" y="57700"/>
                  <a:pt x="0" y="37171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43" name="Text 41"/>
          <p:cNvSpPr/>
          <p:nvPr/>
        </p:nvSpPr>
        <p:spPr>
          <a:xfrm>
            <a:off x="11410761" y="2899317"/>
            <a:ext cx="325244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50%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65488" y="3271024"/>
            <a:ext cx="5306122" cy="966439"/>
          </a:xfrm>
          <a:custGeom>
            <a:avLst/>
            <a:gdLst/>
            <a:ahLst/>
            <a:cxnLst/>
            <a:rect l="l" t="t" r="r" b="b"/>
            <a:pathLst>
              <a:path w="5306122" h="966439">
                <a:moveTo>
                  <a:pt x="18585" y="0"/>
                </a:moveTo>
                <a:lnTo>
                  <a:pt x="5268953" y="0"/>
                </a:lnTo>
                <a:cubicBezTo>
                  <a:pt x="5289481" y="0"/>
                  <a:pt x="5306122" y="16641"/>
                  <a:pt x="5306122" y="37169"/>
                </a:cubicBezTo>
                <a:lnTo>
                  <a:pt x="5306122" y="929270"/>
                </a:lnTo>
                <a:cubicBezTo>
                  <a:pt x="5306122" y="949798"/>
                  <a:pt x="5289481" y="966439"/>
                  <a:pt x="5268953" y="966439"/>
                </a:cubicBezTo>
                <a:lnTo>
                  <a:pt x="18585" y="966439"/>
                </a:lnTo>
                <a:cubicBezTo>
                  <a:pt x="8321" y="966439"/>
                  <a:pt x="0" y="958118"/>
                  <a:pt x="0" y="947854"/>
                </a:cubicBezTo>
                <a:lnTo>
                  <a:pt x="0" y="18585"/>
                </a:lnTo>
                <a:cubicBezTo>
                  <a:pt x="0" y="8321"/>
                  <a:pt x="8321" y="0"/>
                  <a:pt x="18585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365488" y="3271024"/>
            <a:ext cx="18585" cy="966439"/>
          </a:xfrm>
          <a:custGeom>
            <a:avLst/>
            <a:gdLst/>
            <a:ahLst/>
            <a:cxnLst/>
            <a:rect l="l" t="t" r="r" b="b"/>
            <a:pathLst>
              <a:path w="18585" h="966439">
                <a:moveTo>
                  <a:pt x="18585" y="0"/>
                </a:moveTo>
                <a:lnTo>
                  <a:pt x="18585" y="0"/>
                </a:lnTo>
                <a:lnTo>
                  <a:pt x="18585" y="966439"/>
                </a:lnTo>
                <a:lnTo>
                  <a:pt x="18585" y="966439"/>
                </a:lnTo>
                <a:cubicBezTo>
                  <a:pt x="8321" y="966439"/>
                  <a:pt x="0" y="958118"/>
                  <a:pt x="0" y="947854"/>
                </a:cubicBezTo>
                <a:lnTo>
                  <a:pt x="0" y="18585"/>
                </a:lnTo>
                <a:cubicBezTo>
                  <a:pt x="0" y="8321"/>
                  <a:pt x="8321" y="0"/>
                  <a:pt x="18585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46" name="Text 44"/>
          <p:cNvSpPr/>
          <p:nvPr/>
        </p:nvSpPr>
        <p:spPr>
          <a:xfrm>
            <a:off x="6523463" y="3363951"/>
            <a:ext cx="1161585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Caching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244727" y="3345366"/>
            <a:ext cx="538976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85%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23463" y="3679902"/>
            <a:ext cx="5222488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In-memory caching reduces model load time by 85%.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523463" y="4033024"/>
            <a:ext cx="4785732" cy="74341"/>
          </a:xfrm>
          <a:custGeom>
            <a:avLst/>
            <a:gdLst/>
            <a:ahLst/>
            <a:cxnLst/>
            <a:rect l="l" t="t" r="r" b="b"/>
            <a:pathLst>
              <a:path w="4785732" h="74341">
                <a:moveTo>
                  <a:pt x="37171" y="0"/>
                </a:moveTo>
                <a:lnTo>
                  <a:pt x="4748561" y="0"/>
                </a:lnTo>
                <a:cubicBezTo>
                  <a:pt x="4769090" y="0"/>
                  <a:pt x="4785732" y="16642"/>
                  <a:pt x="4785732" y="37171"/>
                </a:cubicBezTo>
                <a:lnTo>
                  <a:pt x="4785732" y="37171"/>
                </a:lnTo>
                <a:cubicBezTo>
                  <a:pt x="4785732" y="57700"/>
                  <a:pt x="4769090" y="74341"/>
                  <a:pt x="4748561" y="74341"/>
                </a:cubicBezTo>
                <a:lnTo>
                  <a:pt x="37171" y="74341"/>
                </a:lnTo>
                <a:cubicBezTo>
                  <a:pt x="16642" y="74341"/>
                  <a:pt x="0" y="57700"/>
                  <a:pt x="0" y="37171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4B5563">
              <a:alpha val="5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523463" y="4033024"/>
            <a:ext cx="4070195" cy="74341"/>
          </a:xfrm>
          <a:custGeom>
            <a:avLst/>
            <a:gdLst/>
            <a:ahLst/>
            <a:cxnLst/>
            <a:rect l="l" t="t" r="r" b="b"/>
            <a:pathLst>
              <a:path w="4070195" h="74341">
                <a:moveTo>
                  <a:pt x="37171" y="0"/>
                </a:moveTo>
                <a:lnTo>
                  <a:pt x="4033024" y="0"/>
                </a:lnTo>
                <a:cubicBezTo>
                  <a:pt x="4053553" y="0"/>
                  <a:pt x="4070195" y="16642"/>
                  <a:pt x="4070195" y="37171"/>
                </a:cubicBezTo>
                <a:lnTo>
                  <a:pt x="4070195" y="37171"/>
                </a:lnTo>
                <a:cubicBezTo>
                  <a:pt x="4070195" y="57700"/>
                  <a:pt x="4053553" y="74341"/>
                  <a:pt x="4033024" y="74341"/>
                </a:cubicBezTo>
                <a:lnTo>
                  <a:pt x="37171" y="74341"/>
                </a:lnTo>
                <a:cubicBezTo>
                  <a:pt x="16642" y="74341"/>
                  <a:pt x="0" y="57700"/>
                  <a:pt x="0" y="37171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51" name="Text 49"/>
          <p:cNvSpPr/>
          <p:nvPr/>
        </p:nvSpPr>
        <p:spPr>
          <a:xfrm>
            <a:off x="11422595" y="3977268"/>
            <a:ext cx="315951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85%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65488" y="4348976"/>
            <a:ext cx="5306122" cy="966439"/>
          </a:xfrm>
          <a:custGeom>
            <a:avLst/>
            <a:gdLst/>
            <a:ahLst/>
            <a:cxnLst/>
            <a:rect l="l" t="t" r="r" b="b"/>
            <a:pathLst>
              <a:path w="5306122" h="966439">
                <a:moveTo>
                  <a:pt x="18585" y="0"/>
                </a:moveTo>
                <a:lnTo>
                  <a:pt x="5268953" y="0"/>
                </a:lnTo>
                <a:cubicBezTo>
                  <a:pt x="5289481" y="0"/>
                  <a:pt x="5306122" y="16641"/>
                  <a:pt x="5306122" y="37169"/>
                </a:cubicBezTo>
                <a:lnTo>
                  <a:pt x="5306122" y="929270"/>
                </a:lnTo>
                <a:cubicBezTo>
                  <a:pt x="5306122" y="949798"/>
                  <a:pt x="5289481" y="966439"/>
                  <a:pt x="5268953" y="966439"/>
                </a:cubicBezTo>
                <a:lnTo>
                  <a:pt x="18585" y="966439"/>
                </a:lnTo>
                <a:cubicBezTo>
                  <a:pt x="8321" y="966439"/>
                  <a:pt x="0" y="958118"/>
                  <a:pt x="0" y="947854"/>
                </a:cubicBezTo>
                <a:lnTo>
                  <a:pt x="0" y="18585"/>
                </a:lnTo>
                <a:cubicBezTo>
                  <a:pt x="0" y="8321"/>
                  <a:pt x="8321" y="0"/>
                  <a:pt x="18585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365488" y="4348976"/>
            <a:ext cx="18585" cy="966439"/>
          </a:xfrm>
          <a:custGeom>
            <a:avLst/>
            <a:gdLst/>
            <a:ahLst/>
            <a:cxnLst/>
            <a:rect l="l" t="t" r="r" b="b"/>
            <a:pathLst>
              <a:path w="18585" h="966439">
                <a:moveTo>
                  <a:pt x="18585" y="0"/>
                </a:moveTo>
                <a:lnTo>
                  <a:pt x="18585" y="0"/>
                </a:lnTo>
                <a:lnTo>
                  <a:pt x="18585" y="966439"/>
                </a:lnTo>
                <a:lnTo>
                  <a:pt x="18585" y="966439"/>
                </a:lnTo>
                <a:cubicBezTo>
                  <a:pt x="8321" y="966439"/>
                  <a:pt x="0" y="958118"/>
                  <a:pt x="0" y="947854"/>
                </a:cubicBezTo>
                <a:lnTo>
                  <a:pt x="0" y="18585"/>
                </a:lnTo>
                <a:cubicBezTo>
                  <a:pt x="0" y="8321"/>
                  <a:pt x="8321" y="0"/>
                  <a:pt x="18585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54" name="Text 52"/>
          <p:cNvSpPr/>
          <p:nvPr/>
        </p:nvSpPr>
        <p:spPr>
          <a:xfrm>
            <a:off x="6523463" y="4441902"/>
            <a:ext cx="1338146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Async Processing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262078" y="4423317"/>
            <a:ext cx="520390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523463" y="4757854"/>
            <a:ext cx="5222488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Async workers handle 500 concurrent requests.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523463" y="5110976"/>
            <a:ext cx="4795024" cy="74341"/>
          </a:xfrm>
          <a:custGeom>
            <a:avLst/>
            <a:gdLst/>
            <a:ahLst/>
            <a:cxnLst/>
            <a:rect l="l" t="t" r="r" b="b"/>
            <a:pathLst>
              <a:path w="4795024" h="74341">
                <a:moveTo>
                  <a:pt x="37171" y="0"/>
                </a:moveTo>
                <a:lnTo>
                  <a:pt x="4757854" y="0"/>
                </a:lnTo>
                <a:cubicBezTo>
                  <a:pt x="4778382" y="0"/>
                  <a:pt x="4795024" y="16642"/>
                  <a:pt x="4795024" y="37171"/>
                </a:cubicBezTo>
                <a:lnTo>
                  <a:pt x="4795024" y="37171"/>
                </a:lnTo>
                <a:cubicBezTo>
                  <a:pt x="4795024" y="57700"/>
                  <a:pt x="4778382" y="74341"/>
                  <a:pt x="4757854" y="74341"/>
                </a:cubicBezTo>
                <a:lnTo>
                  <a:pt x="37171" y="74341"/>
                </a:lnTo>
                <a:cubicBezTo>
                  <a:pt x="16642" y="74341"/>
                  <a:pt x="0" y="57700"/>
                  <a:pt x="0" y="37171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4B5563">
              <a:alpha val="5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523463" y="5110976"/>
            <a:ext cx="4404732" cy="74341"/>
          </a:xfrm>
          <a:custGeom>
            <a:avLst/>
            <a:gdLst/>
            <a:ahLst/>
            <a:cxnLst/>
            <a:rect l="l" t="t" r="r" b="b"/>
            <a:pathLst>
              <a:path w="4404732" h="74341">
                <a:moveTo>
                  <a:pt x="37171" y="0"/>
                </a:moveTo>
                <a:lnTo>
                  <a:pt x="4367561" y="0"/>
                </a:lnTo>
                <a:cubicBezTo>
                  <a:pt x="4388090" y="0"/>
                  <a:pt x="4404732" y="16642"/>
                  <a:pt x="4404732" y="37171"/>
                </a:cubicBezTo>
                <a:lnTo>
                  <a:pt x="4404732" y="37171"/>
                </a:lnTo>
                <a:cubicBezTo>
                  <a:pt x="4404732" y="57700"/>
                  <a:pt x="4388090" y="74341"/>
                  <a:pt x="4367561" y="74341"/>
                </a:cubicBezTo>
                <a:lnTo>
                  <a:pt x="37171" y="74341"/>
                </a:lnTo>
                <a:cubicBezTo>
                  <a:pt x="16642" y="74341"/>
                  <a:pt x="0" y="57700"/>
                  <a:pt x="0" y="37171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59" name="Text 57"/>
          <p:cNvSpPr/>
          <p:nvPr/>
        </p:nvSpPr>
        <p:spPr>
          <a:xfrm>
            <a:off x="11427096" y="5055220"/>
            <a:ext cx="306659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92%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376354" y="5840451"/>
            <a:ext cx="2741341" cy="1012902"/>
          </a:xfrm>
          <a:custGeom>
            <a:avLst/>
            <a:gdLst/>
            <a:ahLst/>
            <a:cxnLst/>
            <a:rect l="l" t="t" r="r" b="b"/>
            <a:pathLst>
              <a:path w="2741341" h="1012902">
                <a:moveTo>
                  <a:pt x="74337" y="0"/>
                </a:moveTo>
                <a:lnTo>
                  <a:pt x="2667005" y="0"/>
                </a:lnTo>
                <a:cubicBezTo>
                  <a:pt x="2708060" y="0"/>
                  <a:pt x="2741341" y="33282"/>
                  <a:pt x="2741341" y="74337"/>
                </a:cubicBezTo>
                <a:lnTo>
                  <a:pt x="2741341" y="938566"/>
                </a:lnTo>
                <a:cubicBezTo>
                  <a:pt x="2741341" y="979621"/>
                  <a:pt x="2708060" y="1012902"/>
                  <a:pt x="2667005" y="1012902"/>
                </a:cubicBezTo>
                <a:lnTo>
                  <a:pt x="74337" y="1012902"/>
                </a:lnTo>
                <a:cubicBezTo>
                  <a:pt x="33282" y="1012902"/>
                  <a:pt x="0" y="979621"/>
                  <a:pt x="0" y="938566"/>
                </a:cubicBezTo>
                <a:lnTo>
                  <a:pt x="0" y="74337"/>
                </a:lnTo>
                <a:cubicBezTo>
                  <a:pt x="0" y="33282"/>
                  <a:pt x="33282" y="0"/>
                  <a:pt x="74337" y="0"/>
                </a:cubicBezTo>
                <a:close/>
              </a:path>
            </a:pathLst>
          </a:custGeom>
          <a:solidFill>
            <a:srgbClr val="34D399">
              <a:alpha val="10196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635512" y="5956610"/>
            <a:ext cx="223024" cy="223024"/>
          </a:xfrm>
          <a:custGeom>
            <a:avLst/>
            <a:gdLst/>
            <a:ahLst/>
            <a:cxnLst/>
            <a:rect l="l" t="t" r="r" b="b"/>
            <a:pathLst>
              <a:path w="223024" h="223024">
                <a:moveTo>
                  <a:pt x="0" y="111512"/>
                </a:moveTo>
                <a:cubicBezTo>
                  <a:pt x="0" y="49967"/>
                  <a:pt x="49967" y="0"/>
                  <a:pt x="111512" y="0"/>
                </a:cubicBezTo>
                <a:cubicBezTo>
                  <a:pt x="173057" y="0"/>
                  <a:pt x="223024" y="49967"/>
                  <a:pt x="223024" y="111512"/>
                </a:cubicBezTo>
                <a:cubicBezTo>
                  <a:pt x="223024" y="173057"/>
                  <a:pt x="173057" y="223024"/>
                  <a:pt x="111512" y="223024"/>
                </a:cubicBezTo>
                <a:cubicBezTo>
                  <a:pt x="49967" y="223024"/>
                  <a:pt x="0" y="173057"/>
                  <a:pt x="0" y="111512"/>
                </a:cubicBezTo>
                <a:close/>
                <a:moveTo>
                  <a:pt x="125451" y="41817"/>
                </a:moveTo>
                <a:cubicBezTo>
                  <a:pt x="125451" y="34124"/>
                  <a:pt x="119205" y="27878"/>
                  <a:pt x="111512" y="27878"/>
                </a:cubicBezTo>
                <a:cubicBezTo>
                  <a:pt x="103819" y="27878"/>
                  <a:pt x="97573" y="34124"/>
                  <a:pt x="97573" y="41817"/>
                </a:cubicBezTo>
                <a:cubicBezTo>
                  <a:pt x="97573" y="49510"/>
                  <a:pt x="103819" y="55756"/>
                  <a:pt x="111512" y="55756"/>
                </a:cubicBezTo>
                <a:cubicBezTo>
                  <a:pt x="119205" y="55756"/>
                  <a:pt x="125451" y="49510"/>
                  <a:pt x="125451" y="41817"/>
                </a:cubicBezTo>
                <a:close/>
                <a:moveTo>
                  <a:pt x="111512" y="181207"/>
                </a:moveTo>
                <a:cubicBezTo>
                  <a:pt x="126889" y="181207"/>
                  <a:pt x="139390" y="168706"/>
                  <a:pt x="139390" y="153329"/>
                </a:cubicBezTo>
                <a:cubicBezTo>
                  <a:pt x="139390" y="146273"/>
                  <a:pt x="136777" y="139782"/>
                  <a:pt x="132421" y="134904"/>
                </a:cubicBezTo>
                <a:lnTo>
                  <a:pt x="162695" y="74400"/>
                </a:lnTo>
                <a:cubicBezTo>
                  <a:pt x="165265" y="69216"/>
                  <a:pt x="163174" y="62943"/>
                  <a:pt x="158034" y="60373"/>
                </a:cubicBezTo>
                <a:cubicBezTo>
                  <a:pt x="152894" y="57803"/>
                  <a:pt x="146578" y="59894"/>
                  <a:pt x="144008" y="65034"/>
                </a:cubicBezTo>
                <a:lnTo>
                  <a:pt x="113734" y="125538"/>
                </a:lnTo>
                <a:cubicBezTo>
                  <a:pt x="112993" y="125495"/>
                  <a:pt x="112253" y="125451"/>
                  <a:pt x="111512" y="125451"/>
                </a:cubicBezTo>
                <a:cubicBezTo>
                  <a:pt x="96136" y="125451"/>
                  <a:pt x="83634" y="137953"/>
                  <a:pt x="83634" y="153329"/>
                </a:cubicBezTo>
                <a:cubicBezTo>
                  <a:pt x="83634" y="168706"/>
                  <a:pt x="96136" y="181207"/>
                  <a:pt x="111512" y="181207"/>
                </a:cubicBezTo>
                <a:close/>
                <a:moveTo>
                  <a:pt x="76665" y="62726"/>
                </a:moveTo>
                <a:cubicBezTo>
                  <a:pt x="76665" y="55032"/>
                  <a:pt x="70419" y="48787"/>
                  <a:pt x="62726" y="48787"/>
                </a:cubicBezTo>
                <a:cubicBezTo>
                  <a:pt x="55032" y="48787"/>
                  <a:pt x="48787" y="55032"/>
                  <a:pt x="48787" y="62726"/>
                </a:cubicBezTo>
                <a:cubicBezTo>
                  <a:pt x="48787" y="70419"/>
                  <a:pt x="55032" y="76665"/>
                  <a:pt x="62726" y="76665"/>
                </a:cubicBezTo>
                <a:cubicBezTo>
                  <a:pt x="70419" y="76665"/>
                  <a:pt x="76665" y="70419"/>
                  <a:pt x="76665" y="62726"/>
                </a:cubicBezTo>
                <a:close/>
                <a:moveTo>
                  <a:pt x="41817" y="125451"/>
                </a:moveTo>
                <a:cubicBezTo>
                  <a:pt x="49510" y="125451"/>
                  <a:pt x="55756" y="119205"/>
                  <a:pt x="55756" y="111512"/>
                </a:cubicBezTo>
                <a:cubicBezTo>
                  <a:pt x="55756" y="103819"/>
                  <a:pt x="49510" y="97573"/>
                  <a:pt x="41817" y="97573"/>
                </a:cubicBezTo>
                <a:cubicBezTo>
                  <a:pt x="34124" y="97573"/>
                  <a:pt x="27878" y="103819"/>
                  <a:pt x="27878" y="111512"/>
                </a:cubicBezTo>
                <a:cubicBezTo>
                  <a:pt x="27878" y="119205"/>
                  <a:pt x="34124" y="125451"/>
                  <a:pt x="41817" y="125451"/>
                </a:cubicBezTo>
                <a:close/>
                <a:moveTo>
                  <a:pt x="195146" y="111512"/>
                </a:moveTo>
                <a:cubicBezTo>
                  <a:pt x="195146" y="103819"/>
                  <a:pt x="188900" y="97573"/>
                  <a:pt x="181207" y="97573"/>
                </a:cubicBezTo>
                <a:cubicBezTo>
                  <a:pt x="173514" y="97573"/>
                  <a:pt x="167268" y="103819"/>
                  <a:pt x="167268" y="111512"/>
                </a:cubicBezTo>
                <a:cubicBezTo>
                  <a:pt x="167268" y="119205"/>
                  <a:pt x="173514" y="125451"/>
                  <a:pt x="181207" y="125451"/>
                </a:cubicBezTo>
                <a:cubicBezTo>
                  <a:pt x="188900" y="125451"/>
                  <a:pt x="195146" y="119205"/>
                  <a:pt x="195146" y="111512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62" name="Text 60"/>
          <p:cNvSpPr/>
          <p:nvPr/>
        </p:nvSpPr>
        <p:spPr>
          <a:xfrm>
            <a:off x="459988" y="6253976"/>
            <a:ext cx="2574073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4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Response Time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46049" y="6477000"/>
            <a:ext cx="2601951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3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180ms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275671" y="5840451"/>
            <a:ext cx="2741341" cy="1012902"/>
          </a:xfrm>
          <a:custGeom>
            <a:avLst/>
            <a:gdLst/>
            <a:ahLst/>
            <a:cxnLst/>
            <a:rect l="l" t="t" r="r" b="b"/>
            <a:pathLst>
              <a:path w="2741341" h="1012902">
                <a:moveTo>
                  <a:pt x="74337" y="0"/>
                </a:moveTo>
                <a:lnTo>
                  <a:pt x="2667005" y="0"/>
                </a:lnTo>
                <a:cubicBezTo>
                  <a:pt x="2708060" y="0"/>
                  <a:pt x="2741341" y="33282"/>
                  <a:pt x="2741341" y="74337"/>
                </a:cubicBezTo>
                <a:lnTo>
                  <a:pt x="2741341" y="938566"/>
                </a:lnTo>
                <a:cubicBezTo>
                  <a:pt x="2741341" y="979621"/>
                  <a:pt x="2708060" y="1012902"/>
                  <a:pt x="2667005" y="1012902"/>
                </a:cubicBezTo>
                <a:lnTo>
                  <a:pt x="74337" y="1012902"/>
                </a:lnTo>
                <a:cubicBezTo>
                  <a:pt x="33282" y="1012902"/>
                  <a:pt x="0" y="979621"/>
                  <a:pt x="0" y="938566"/>
                </a:cubicBezTo>
                <a:lnTo>
                  <a:pt x="0" y="74337"/>
                </a:lnTo>
                <a:cubicBezTo>
                  <a:pt x="0" y="33282"/>
                  <a:pt x="33282" y="0"/>
                  <a:pt x="74337" y="0"/>
                </a:cubicBezTo>
                <a:close/>
              </a:path>
            </a:pathLst>
          </a:custGeom>
          <a:solidFill>
            <a:srgbClr val="34D399">
              <a:alpha val="10196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34829" y="5956610"/>
            <a:ext cx="223024" cy="223024"/>
          </a:xfrm>
          <a:custGeom>
            <a:avLst/>
            <a:gdLst/>
            <a:ahLst/>
            <a:cxnLst/>
            <a:rect l="l" t="t" r="r" b="b"/>
            <a:pathLst>
              <a:path w="223024" h="223024">
                <a:moveTo>
                  <a:pt x="27878" y="27878"/>
                </a:moveTo>
                <a:cubicBezTo>
                  <a:pt x="27878" y="20168"/>
                  <a:pt x="21649" y="13939"/>
                  <a:pt x="13939" y="13939"/>
                </a:cubicBezTo>
                <a:cubicBezTo>
                  <a:pt x="6229" y="13939"/>
                  <a:pt x="0" y="20168"/>
                  <a:pt x="0" y="27878"/>
                </a:cubicBezTo>
                <a:lnTo>
                  <a:pt x="0" y="174238"/>
                </a:lnTo>
                <a:cubicBezTo>
                  <a:pt x="0" y="193491"/>
                  <a:pt x="15594" y="209085"/>
                  <a:pt x="34848" y="209085"/>
                </a:cubicBezTo>
                <a:lnTo>
                  <a:pt x="209085" y="209085"/>
                </a:lnTo>
                <a:cubicBezTo>
                  <a:pt x="216795" y="209085"/>
                  <a:pt x="223024" y="202856"/>
                  <a:pt x="223024" y="195146"/>
                </a:cubicBezTo>
                <a:cubicBezTo>
                  <a:pt x="223024" y="187436"/>
                  <a:pt x="216795" y="181207"/>
                  <a:pt x="209085" y="181207"/>
                </a:cubicBezTo>
                <a:lnTo>
                  <a:pt x="34848" y="181207"/>
                </a:lnTo>
                <a:cubicBezTo>
                  <a:pt x="31014" y="181207"/>
                  <a:pt x="27878" y="178071"/>
                  <a:pt x="27878" y="174238"/>
                </a:cubicBezTo>
                <a:lnTo>
                  <a:pt x="27878" y="27878"/>
                </a:lnTo>
                <a:close/>
                <a:moveTo>
                  <a:pt x="204991" y="65601"/>
                </a:moveTo>
                <a:cubicBezTo>
                  <a:pt x="210436" y="60156"/>
                  <a:pt x="210436" y="51313"/>
                  <a:pt x="204991" y="45868"/>
                </a:cubicBezTo>
                <a:cubicBezTo>
                  <a:pt x="199546" y="40423"/>
                  <a:pt x="190703" y="40423"/>
                  <a:pt x="185258" y="45868"/>
                </a:cubicBezTo>
                <a:lnTo>
                  <a:pt x="139390" y="91780"/>
                </a:lnTo>
                <a:lnTo>
                  <a:pt x="114387" y="66820"/>
                </a:lnTo>
                <a:cubicBezTo>
                  <a:pt x="108942" y="61375"/>
                  <a:pt x="100100" y="61375"/>
                  <a:pt x="94655" y="66820"/>
                </a:cubicBezTo>
                <a:lnTo>
                  <a:pt x="52838" y="108637"/>
                </a:lnTo>
                <a:cubicBezTo>
                  <a:pt x="47393" y="114082"/>
                  <a:pt x="47393" y="122925"/>
                  <a:pt x="52838" y="128370"/>
                </a:cubicBezTo>
                <a:cubicBezTo>
                  <a:pt x="58283" y="133815"/>
                  <a:pt x="67125" y="133815"/>
                  <a:pt x="72570" y="128370"/>
                </a:cubicBezTo>
                <a:lnTo>
                  <a:pt x="104543" y="96397"/>
                </a:lnTo>
                <a:lnTo>
                  <a:pt x="129546" y="121400"/>
                </a:lnTo>
                <a:cubicBezTo>
                  <a:pt x="134991" y="126845"/>
                  <a:pt x="143833" y="126845"/>
                  <a:pt x="149278" y="121400"/>
                </a:cubicBezTo>
                <a:lnTo>
                  <a:pt x="205034" y="65644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66" name="Text 64"/>
          <p:cNvSpPr/>
          <p:nvPr/>
        </p:nvSpPr>
        <p:spPr>
          <a:xfrm>
            <a:off x="3359305" y="6253976"/>
            <a:ext cx="2574073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4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Throughput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3345366" y="6477000"/>
            <a:ext cx="2601951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3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2,500 RPS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174988" y="5840451"/>
            <a:ext cx="2741341" cy="1012902"/>
          </a:xfrm>
          <a:custGeom>
            <a:avLst/>
            <a:gdLst/>
            <a:ahLst/>
            <a:cxnLst/>
            <a:rect l="l" t="t" r="r" b="b"/>
            <a:pathLst>
              <a:path w="2741341" h="1012902">
                <a:moveTo>
                  <a:pt x="74337" y="0"/>
                </a:moveTo>
                <a:lnTo>
                  <a:pt x="2667005" y="0"/>
                </a:lnTo>
                <a:cubicBezTo>
                  <a:pt x="2708060" y="0"/>
                  <a:pt x="2741341" y="33282"/>
                  <a:pt x="2741341" y="74337"/>
                </a:cubicBezTo>
                <a:lnTo>
                  <a:pt x="2741341" y="938566"/>
                </a:lnTo>
                <a:cubicBezTo>
                  <a:pt x="2741341" y="979621"/>
                  <a:pt x="2708060" y="1012902"/>
                  <a:pt x="2667005" y="1012902"/>
                </a:cubicBezTo>
                <a:lnTo>
                  <a:pt x="74337" y="1012902"/>
                </a:lnTo>
                <a:cubicBezTo>
                  <a:pt x="33282" y="1012902"/>
                  <a:pt x="0" y="979621"/>
                  <a:pt x="0" y="938566"/>
                </a:cubicBezTo>
                <a:lnTo>
                  <a:pt x="0" y="74337"/>
                </a:lnTo>
                <a:cubicBezTo>
                  <a:pt x="0" y="33282"/>
                  <a:pt x="33282" y="0"/>
                  <a:pt x="74337" y="0"/>
                </a:cubicBezTo>
                <a:close/>
              </a:path>
            </a:pathLst>
          </a:custGeom>
          <a:solidFill>
            <a:srgbClr val="34D399">
              <a:alpha val="10196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434146" y="5956610"/>
            <a:ext cx="223024" cy="223024"/>
          </a:xfrm>
          <a:custGeom>
            <a:avLst/>
            <a:gdLst/>
            <a:ahLst/>
            <a:cxnLst/>
            <a:rect l="l" t="t" r="r" b="b"/>
            <a:pathLst>
              <a:path w="223024" h="223024">
                <a:moveTo>
                  <a:pt x="27878" y="27878"/>
                </a:moveTo>
                <a:cubicBezTo>
                  <a:pt x="12502" y="27878"/>
                  <a:pt x="0" y="40380"/>
                  <a:pt x="0" y="55756"/>
                </a:cubicBezTo>
                <a:lnTo>
                  <a:pt x="0" y="58979"/>
                </a:lnTo>
                <a:cubicBezTo>
                  <a:pt x="0" y="61942"/>
                  <a:pt x="1917" y="64468"/>
                  <a:pt x="4400" y="66080"/>
                </a:cubicBezTo>
                <a:cubicBezTo>
                  <a:pt x="10149" y="69826"/>
                  <a:pt x="13939" y="76273"/>
                  <a:pt x="13939" y="83634"/>
                </a:cubicBezTo>
                <a:cubicBezTo>
                  <a:pt x="13939" y="90996"/>
                  <a:pt x="10149" y="97442"/>
                  <a:pt x="4400" y="101189"/>
                </a:cubicBezTo>
                <a:cubicBezTo>
                  <a:pt x="1917" y="102800"/>
                  <a:pt x="0" y="105327"/>
                  <a:pt x="0" y="108289"/>
                </a:cubicBezTo>
                <a:lnTo>
                  <a:pt x="0" y="132421"/>
                </a:lnTo>
                <a:lnTo>
                  <a:pt x="223024" y="132421"/>
                </a:lnTo>
                <a:lnTo>
                  <a:pt x="223024" y="108289"/>
                </a:lnTo>
                <a:cubicBezTo>
                  <a:pt x="223024" y="105327"/>
                  <a:pt x="221108" y="102800"/>
                  <a:pt x="218625" y="101189"/>
                </a:cubicBezTo>
                <a:cubicBezTo>
                  <a:pt x="212875" y="97442"/>
                  <a:pt x="209085" y="90996"/>
                  <a:pt x="209085" y="83634"/>
                </a:cubicBezTo>
                <a:cubicBezTo>
                  <a:pt x="209085" y="76273"/>
                  <a:pt x="212875" y="69826"/>
                  <a:pt x="218625" y="66080"/>
                </a:cubicBezTo>
                <a:cubicBezTo>
                  <a:pt x="221108" y="64468"/>
                  <a:pt x="223024" y="61942"/>
                  <a:pt x="223024" y="58979"/>
                </a:cubicBezTo>
                <a:lnTo>
                  <a:pt x="223024" y="55756"/>
                </a:lnTo>
                <a:cubicBezTo>
                  <a:pt x="223024" y="40380"/>
                  <a:pt x="210523" y="27878"/>
                  <a:pt x="195146" y="27878"/>
                </a:cubicBezTo>
                <a:lnTo>
                  <a:pt x="27878" y="27878"/>
                </a:lnTo>
                <a:close/>
                <a:moveTo>
                  <a:pt x="223024" y="181207"/>
                </a:moveTo>
                <a:lnTo>
                  <a:pt x="223024" y="153329"/>
                </a:lnTo>
                <a:lnTo>
                  <a:pt x="0" y="153329"/>
                </a:lnTo>
                <a:lnTo>
                  <a:pt x="0" y="181207"/>
                </a:lnTo>
                <a:cubicBezTo>
                  <a:pt x="0" y="188917"/>
                  <a:pt x="6229" y="195146"/>
                  <a:pt x="13939" y="195146"/>
                </a:cubicBezTo>
                <a:lnTo>
                  <a:pt x="41817" y="195146"/>
                </a:lnTo>
                <a:lnTo>
                  <a:pt x="41817" y="184692"/>
                </a:lnTo>
                <a:cubicBezTo>
                  <a:pt x="41817" y="178899"/>
                  <a:pt x="46478" y="174238"/>
                  <a:pt x="52271" y="174238"/>
                </a:cubicBezTo>
                <a:cubicBezTo>
                  <a:pt x="58065" y="174238"/>
                  <a:pt x="62726" y="178899"/>
                  <a:pt x="62726" y="184692"/>
                </a:cubicBezTo>
                <a:lnTo>
                  <a:pt x="62726" y="195146"/>
                </a:lnTo>
                <a:lnTo>
                  <a:pt x="101058" y="195146"/>
                </a:lnTo>
                <a:lnTo>
                  <a:pt x="101058" y="184692"/>
                </a:lnTo>
                <a:cubicBezTo>
                  <a:pt x="101058" y="178899"/>
                  <a:pt x="105719" y="174238"/>
                  <a:pt x="111512" y="174238"/>
                </a:cubicBezTo>
                <a:cubicBezTo>
                  <a:pt x="117306" y="174238"/>
                  <a:pt x="121966" y="178899"/>
                  <a:pt x="121966" y="184692"/>
                </a:cubicBezTo>
                <a:lnTo>
                  <a:pt x="121966" y="195146"/>
                </a:lnTo>
                <a:lnTo>
                  <a:pt x="160299" y="195146"/>
                </a:lnTo>
                <a:lnTo>
                  <a:pt x="160299" y="184692"/>
                </a:lnTo>
                <a:cubicBezTo>
                  <a:pt x="160299" y="178899"/>
                  <a:pt x="164960" y="174238"/>
                  <a:pt x="170753" y="174238"/>
                </a:cubicBezTo>
                <a:cubicBezTo>
                  <a:pt x="176546" y="174238"/>
                  <a:pt x="181207" y="178899"/>
                  <a:pt x="181207" y="184692"/>
                </a:cubicBezTo>
                <a:lnTo>
                  <a:pt x="181207" y="195146"/>
                </a:lnTo>
                <a:lnTo>
                  <a:pt x="209085" y="195146"/>
                </a:lnTo>
                <a:cubicBezTo>
                  <a:pt x="216795" y="195146"/>
                  <a:pt x="223024" y="188917"/>
                  <a:pt x="223024" y="181207"/>
                </a:cubicBezTo>
                <a:close/>
                <a:moveTo>
                  <a:pt x="69695" y="69695"/>
                </a:moveTo>
                <a:lnTo>
                  <a:pt x="69695" y="97573"/>
                </a:lnTo>
                <a:cubicBezTo>
                  <a:pt x="69695" y="105283"/>
                  <a:pt x="63466" y="111512"/>
                  <a:pt x="55756" y="111512"/>
                </a:cubicBezTo>
                <a:cubicBezTo>
                  <a:pt x="48046" y="111512"/>
                  <a:pt x="41817" y="105283"/>
                  <a:pt x="41817" y="97573"/>
                </a:cubicBezTo>
                <a:lnTo>
                  <a:pt x="41817" y="69695"/>
                </a:lnTo>
                <a:cubicBezTo>
                  <a:pt x="41817" y="61985"/>
                  <a:pt x="48046" y="55756"/>
                  <a:pt x="55756" y="55756"/>
                </a:cubicBezTo>
                <a:cubicBezTo>
                  <a:pt x="63466" y="55756"/>
                  <a:pt x="69695" y="61985"/>
                  <a:pt x="69695" y="69695"/>
                </a:cubicBezTo>
                <a:close/>
                <a:moveTo>
                  <a:pt x="125451" y="69695"/>
                </a:moveTo>
                <a:lnTo>
                  <a:pt x="125451" y="97573"/>
                </a:lnTo>
                <a:cubicBezTo>
                  <a:pt x="125451" y="105283"/>
                  <a:pt x="119222" y="111512"/>
                  <a:pt x="111512" y="111512"/>
                </a:cubicBezTo>
                <a:cubicBezTo>
                  <a:pt x="103802" y="111512"/>
                  <a:pt x="97573" y="105283"/>
                  <a:pt x="97573" y="97573"/>
                </a:cubicBezTo>
                <a:lnTo>
                  <a:pt x="97573" y="69695"/>
                </a:lnTo>
                <a:cubicBezTo>
                  <a:pt x="97573" y="61985"/>
                  <a:pt x="103802" y="55756"/>
                  <a:pt x="111512" y="55756"/>
                </a:cubicBezTo>
                <a:cubicBezTo>
                  <a:pt x="119222" y="55756"/>
                  <a:pt x="125451" y="61985"/>
                  <a:pt x="125451" y="69695"/>
                </a:cubicBezTo>
                <a:close/>
                <a:moveTo>
                  <a:pt x="181207" y="69695"/>
                </a:moveTo>
                <a:lnTo>
                  <a:pt x="181207" y="97573"/>
                </a:lnTo>
                <a:cubicBezTo>
                  <a:pt x="181207" y="105283"/>
                  <a:pt x="174978" y="111512"/>
                  <a:pt x="167268" y="111512"/>
                </a:cubicBezTo>
                <a:cubicBezTo>
                  <a:pt x="159558" y="111512"/>
                  <a:pt x="153329" y="105283"/>
                  <a:pt x="153329" y="97573"/>
                </a:cubicBezTo>
                <a:lnTo>
                  <a:pt x="153329" y="69695"/>
                </a:lnTo>
                <a:cubicBezTo>
                  <a:pt x="153329" y="61985"/>
                  <a:pt x="159558" y="55756"/>
                  <a:pt x="167268" y="55756"/>
                </a:cubicBezTo>
                <a:cubicBezTo>
                  <a:pt x="174978" y="55756"/>
                  <a:pt x="181207" y="61985"/>
                  <a:pt x="181207" y="69695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70" name="Text 68"/>
          <p:cNvSpPr/>
          <p:nvPr/>
        </p:nvSpPr>
        <p:spPr>
          <a:xfrm>
            <a:off x="6258622" y="6253976"/>
            <a:ext cx="2574073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4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Usage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244683" y="6477000"/>
            <a:ext cx="2601951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3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2.1GB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9074305" y="5840451"/>
            <a:ext cx="2741341" cy="1012902"/>
          </a:xfrm>
          <a:custGeom>
            <a:avLst/>
            <a:gdLst/>
            <a:ahLst/>
            <a:cxnLst/>
            <a:rect l="l" t="t" r="r" b="b"/>
            <a:pathLst>
              <a:path w="2741341" h="1012902">
                <a:moveTo>
                  <a:pt x="74337" y="0"/>
                </a:moveTo>
                <a:lnTo>
                  <a:pt x="2667005" y="0"/>
                </a:lnTo>
                <a:cubicBezTo>
                  <a:pt x="2708060" y="0"/>
                  <a:pt x="2741341" y="33282"/>
                  <a:pt x="2741341" y="74337"/>
                </a:cubicBezTo>
                <a:lnTo>
                  <a:pt x="2741341" y="938566"/>
                </a:lnTo>
                <a:cubicBezTo>
                  <a:pt x="2741341" y="979621"/>
                  <a:pt x="2708060" y="1012902"/>
                  <a:pt x="2667005" y="1012902"/>
                </a:cubicBezTo>
                <a:lnTo>
                  <a:pt x="74337" y="1012902"/>
                </a:lnTo>
                <a:cubicBezTo>
                  <a:pt x="33282" y="1012902"/>
                  <a:pt x="0" y="979621"/>
                  <a:pt x="0" y="938566"/>
                </a:cubicBezTo>
                <a:lnTo>
                  <a:pt x="0" y="74337"/>
                </a:lnTo>
                <a:cubicBezTo>
                  <a:pt x="0" y="33282"/>
                  <a:pt x="33282" y="0"/>
                  <a:pt x="74337" y="0"/>
                </a:cubicBezTo>
                <a:close/>
              </a:path>
            </a:pathLst>
          </a:custGeom>
          <a:solidFill>
            <a:srgbClr val="34D399">
              <a:alpha val="10196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347402" y="5956610"/>
            <a:ext cx="195146" cy="223024"/>
          </a:xfrm>
          <a:custGeom>
            <a:avLst/>
            <a:gdLst/>
            <a:ahLst/>
            <a:cxnLst/>
            <a:rect l="l" t="t" r="r" b="b"/>
            <a:pathLst>
              <a:path w="195146" h="223024">
                <a:moveTo>
                  <a:pt x="83634" y="55756"/>
                </a:moveTo>
                <a:cubicBezTo>
                  <a:pt x="83634" y="32677"/>
                  <a:pt x="64897" y="13939"/>
                  <a:pt x="41817" y="13939"/>
                </a:cubicBezTo>
                <a:cubicBezTo>
                  <a:pt x="18738" y="13939"/>
                  <a:pt x="0" y="32677"/>
                  <a:pt x="0" y="55756"/>
                </a:cubicBezTo>
                <a:cubicBezTo>
                  <a:pt x="0" y="78836"/>
                  <a:pt x="18738" y="97573"/>
                  <a:pt x="41817" y="97573"/>
                </a:cubicBezTo>
                <a:cubicBezTo>
                  <a:pt x="64897" y="97573"/>
                  <a:pt x="83634" y="78836"/>
                  <a:pt x="83634" y="55756"/>
                </a:cubicBezTo>
                <a:close/>
                <a:moveTo>
                  <a:pt x="195146" y="167268"/>
                </a:moveTo>
                <a:cubicBezTo>
                  <a:pt x="195146" y="144189"/>
                  <a:pt x="176409" y="125451"/>
                  <a:pt x="153329" y="125451"/>
                </a:cubicBezTo>
                <a:cubicBezTo>
                  <a:pt x="130250" y="125451"/>
                  <a:pt x="111512" y="144189"/>
                  <a:pt x="111512" y="167268"/>
                </a:cubicBezTo>
                <a:cubicBezTo>
                  <a:pt x="111512" y="190348"/>
                  <a:pt x="130250" y="209085"/>
                  <a:pt x="153329" y="209085"/>
                </a:cubicBezTo>
                <a:cubicBezTo>
                  <a:pt x="176409" y="209085"/>
                  <a:pt x="195146" y="190348"/>
                  <a:pt x="195146" y="167268"/>
                </a:cubicBezTo>
                <a:close/>
                <a:moveTo>
                  <a:pt x="191052" y="37722"/>
                </a:moveTo>
                <a:cubicBezTo>
                  <a:pt x="196497" y="32278"/>
                  <a:pt x="196497" y="23435"/>
                  <a:pt x="191052" y="17990"/>
                </a:cubicBezTo>
                <a:cubicBezTo>
                  <a:pt x="185607" y="12545"/>
                  <a:pt x="176764" y="12545"/>
                  <a:pt x="171319" y="17990"/>
                </a:cubicBezTo>
                <a:lnTo>
                  <a:pt x="4051" y="185258"/>
                </a:lnTo>
                <a:cubicBezTo>
                  <a:pt x="-1394" y="190703"/>
                  <a:pt x="-1394" y="199546"/>
                  <a:pt x="4051" y="204991"/>
                </a:cubicBezTo>
                <a:cubicBezTo>
                  <a:pt x="9496" y="210436"/>
                  <a:pt x="18339" y="210436"/>
                  <a:pt x="23783" y="204991"/>
                </a:cubicBezTo>
                <a:lnTo>
                  <a:pt x="191052" y="37722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74" name="Text 72"/>
          <p:cNvSpPr/>
          <p:nvPr/>
        </p:nvSpPr>
        <p:spPr>
          <a:xfrm>
            <a:off x="9157939" y="6253976"/>
            <a:ext cx="2574073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4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Uptime SLA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9144000" y="6477000"/>
            <a:ext cx="2601951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3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99.9%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240" kern="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Expanding Capabilities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roadmap for comprehensive media authentication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6" name="Shape 4"/>
          <p:cNvSpPr/>
          <p:nvPr/>
        </p:nvSpPr>
        <p:spPr>
          <a:xfrm>
            <a:off x="390525" y="1685925"/>
            <a:ext cx="3714750" cy="3857625"/>
          </a:xfrm>
          <a:custGeom>
            <a:avLst/>
            <a:gdLst/>
            <a:ahLst/>
            <a:cxnLst/>
            <a:rect l="l" t="t" r="r" b="b"/>
            <a:pathLst>
              <a:path w="3714750" h="3857625">
                <a:moveTo>
                  <a:pt x="76190" y="0"/>
                </a:moveTo>
                <a:lnTo>
                  <a:pt x="3638560" y="0"/>
                </a:lnTo>
                <a:cubicBezTo>
                  <a:pt x="3680639" y="0"/>
                  <a:pt x="3714750" y="34111"/>
                  <a:pt x="3714750" y="76190"/>
                </a:cubicBezTo>
                <a:lnTo>
                  <a:pt x="3714750" y="3781435"/>
                </a:lnTo>
                <a:cubicBezTo>
                  <a:pt x="3714750" y="3823514"/>
                  <a:pt x="3680639" y="3857625"/>
                  <a:pt x="3638560" y="3857625"/>
                </a:cubicBezTo>
                <a:lnTo>
                  <a:pt x="76190" y="3857625"/>
                </a:lnTo>
                <a:cubicBezTo>
                  <a:pt x="34111" y="3857625"/>
                  <a:pt x="0" y="3823514"/>
                  <a:pt x="0" y="3781435"/>
                </a:cubicBezTo>
                <a:lnTo>
                  <a:pt x="0" y="76190"/>
                </a:lnTo>
                <a:cubicBezTo>
                  <a:pt x="0" y="34111"/>
                  <a:pt x="34111" y="0"/>
                  <a:pt x="76190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2450" y="18478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8" name="Shape 6"/>
          <p:cNvSpPr/>
          <p:nvPr/>
        </p:nvSpPr>
        <p:spPr>
          <a:xfrm>
            <a:off x="704850" y="2000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013" y="0"/>
                </a:moveTo>
                <a:cubicBezTo>
                  <a:pt x="115773" y="0"/>
                  <a:pt x="128588" y="9599"/>
                  <a:pt x="128588" y="21431"/>
                </a:cubicBezTo>
                <a:cubicBezTo>
                  <a:pt x="128588" y="26075"/>
                  <a:pt x="126623" y="30361"/>
                  <a:pt x="123230" y="33888"/>
                </a:cubicBezTo>
                <a:cubicBezTo>
                  <a:pt x="120283" y="36969"/>
                  <a:pt x="117872" y="40719"/>
                  <a:pt x="117872" y="45006"/>
                </a:cubicBezTo>
                <a:cubicBezTo>
                  <a:pt x="117872" y="51703"/>
                  <a:pt x="123319" y="57150"/>
                  <a:pt x="130016" y="57150"/>
                </a:cubicBezTo>
                <a:lnTo>
                  <a:pt x="150019" y="57150"/>
                </a:lnTo>
                <a:cubicBezTo>
                  <a:pt x="161851" y="57150"/>
                  <a:pt x="171450" y="66749"/>
                  <a:pt x="171450" y="78581"/>
                </a:cubicBezTo>
                <a:lnTo>
                  <a:pt x="171450" y="98584"/>
                </a:lnTo>
                <a:cubicBezTo>
                  <a:pt x="171450" y="105281"/>
                  <a:pt x="176897" y="110728"/>
                  <a:pt x="183594" y="110728"/>
                </a:cubicBezTo>
                <a:cubicBezTo>
                  <a:pt x="187836" y="110728"/>
                  <a:pt x="191631" y="108317"/>
                  <a:pt x="194712" y="105370"/>
                </a:cubicBezTo>
                <a:cubicBezTo>
                  <a:pt x="198239" y="102022"/>
                  <a:pt x="202525" y="100013"/>
                  <a:pt x="207169" y="100013"/>
                </a:cubicBezTo>
                <a:cubicBezTo>
                  <a:pt x="219001" y="100013"/>
                  <a:pt x="228600" y="112827"/>
                  <a:pt x="228600" y="128588"/>
                </a:cubicBezTo>
                <a:cubicBezTo>
                  <a:pt x="228600" y="144348"/>
                  <a:pt x="219001" y="157163"/>
                  <a:pt x="207169" y="157163"/>
                </a:cubicBezTo>
                <a:cubicBezTo>
                  <a:pt x="202525" y="157163"/>
                  <a:pt x="198194" y="155198"/>
                  <a:pt x="194712" y="151805"/>
                </a:cubicBezTo>
                <a:cubicBezTo>
                  <a:pt x="191631" y="148858"/>
                  <a:pt x="187881" y="146447"/>
                  <a:pt x="183594" y="146447"/>
                </a:cubicBezTo>
                <a:cubicBezTo>
                  <a:pt x="176897" y="146447"/>
                  <a:pt x="171450" y="151894"/>
                  <a:pt x="171450" y="158591"/>
                </a:cubicBezTo>
                <a:lnTo>
                  <a:pt x="171450" y="207169"/>
                </a:lnTo>
                <a:cubicBezTo>
                  <a:pt x="171450" y="219001"/>
                  <a:pt x="161851" y="228600"/>
                  <a:pt x="150019" y="228600"/>
                </a:cubicBezTo>
                <a:lnTo>
                  <a:pt x="124658" y="228600"/>
                </a:lnTo>
                <a:cubicBezTo>
                  <a:pt x="118943" y="228600"/>
                  <a:pt x="114300" y="223957"/>
                  <a:pt x="114300" y="218242"/>
                </a:cubicBezTo>
                <a:cubicBezTo>
                  <a:pt x="114300" y="214134"/>
                  <a:pt x="116890" y="210517"/>
                  <a:pt x="120194" y="208062"/>
                </a:cubicBezTo>
                <a:cubicBezTo>
                  <a:pt x="125373" y="204177"/>
                  <a:pt x="128588" y="198819"/>
                  <a:pt x="128588" y="192881"/>
                </a:cubicBezTo>
                <a:cubicBezTo>
                  <a:pt x="128588" y="181049"/>
                  <a:pt x="115773" y="171450"/>
                  <a:pt x="100013" y="171450"/>
                </a:cubicBezTo>
                <a:cubicBezTo>
                  <a:pt x="84252" y="171450"/>
                  <a:pt x="71438" y="181049"/>
                  <a:pt x="71438" y="192881"/>
                </a:cubicBezTo>
                <a:cubicBezTo>
                  <a:pt x="71438" y="198819"/>
                  <a:pt x="74652" y="204177"/>
                  <a:pt x="79831" y="208062"/>
                </a:cubicBezTo>
                <a:cubicBezTo>
                  <a:pt x="83135" y="210517"/>
                  <a:pt x="85725" y="214089"/>
                  <a:pt x="85725" y="218242"/>
                </a:cubicBezTo>
                <a:cubicBezTo>
                  <a:pt x="85725" y="223957"/>
                  <a:pt x="81082" y="228600"/>
                  <a:pt x="75367" y="228600"/>
                </a:cubicBezTo>
                <a:lnTo>
                  <a:pt x="21431" y="228600"/>
                </a:lnTo>
                <a:cubicBezTo>
                  <a:pt x="9599" y="228600"/>
                  <a:pt x="0" y="219001"/>
                  <a:pt x="0" y="207169"/>
                </a:cubicBezTo>
                <a:lnTo>
                  <a:pt x="0" y="153233"/>
                </a:lnTo>
                <a:cubicBezTo>
                  <a:pt x="0" y="147518"/>
                  <a:pt x="4643" y="142875"/>
                  <a:pt x="10358" y="142875"/>
                </a:cubicBezTo>
                <a:cubicBezTo>
                  <a:pt x="14466" y="142875"/>
                  <a:pt x="18083" y="145465"/>
                  <a:pt x="20538" y="148769"/>
                </a:cubicBezTo>
                <a:cubicBezTo>
                  <a:pt x="24423" y="153948"/>
                  <a:pt x="29781" y="157163"/>
                  <a:pt x="35719" y="157163"/>
                </a:cubicBezTo>
                <a:cubicBezTo>
                  <a:pt x="47551" y="157163"/>
                  <a:pt x="57150" y="144348"/>
                  <a:pt x="57150" y="128588"/>
                </a:cubicBezTo>
                <a:cubicBezTo>
                  <a:pt x="57150" y="112827"/>
                  <a:pt x="47551" y="100013"/>
                  <a:pt x="35719" y="100013"/>
                </a:cubicBezTo>
                <a:cubicBezTo>
                  <a:pt x="29781" y="100013"/>
                  <a:pt x="24423" y="103227"/>
                  <a:pt x="20538" y="108406"/>
                </a:cubicBezTo>
                <a:cubicBezTo>
                  <a:pt x="18083" y="111710"/>
                  <a:pt x="14511" y="114300"/>
                  <a:pt x="10358" y="114300"/>
                </a:cubicBezTo>
                <a:cubicBezTo>
                  <a:pt x="4643" y="114300"/>
                  <a:pt x="0" y="109657"/>
                  <a:pt x="0" y="103942"/>
                </a:cubicBezTo>
                <a:lnTo>
                  <a:pt x="0" y="78581"/>
                </a:lnTo>
                <a:cubicBezTo>
                  <a:pt x="0" y="66749"/>
                  <a:pt x="9599" y="57150"/>
                  <a:pt x="21431" y="57150"/>
                </a:cubicBezTo>
                <a:lnTo>
                  <a:pt x="70009" y="57150"/>
                </a:lnTo>
                <a:cubicBezTo>
                  <a:pt x="76706" y="57150"/>
                  <a:pt x="82153" y="51703"/>
                  <a:pt x="82153" y="45006"/>
                </a:cubicBezTo>
                <a:cubicBezTo>
                  <a:pt x="82153" y="40764"/>
                  <a:pt x="79742" y="36969"/>
                  <a:pt x="76795" y="33888"/>
                </a:cubicBezTo>
                <a:cubicBezTo>
                  <a:pt x="73447" y="30361"/>
                  <a:pt x="71438" y="26075"/>
                  <a:pt x="71438" y="21431"/>
                </a:cubicBezTo>
                <a:cubicBezTo>
                  <a:pt x="71438" y="9599"/>
                  <a:pt x="84252" y="0"/>
                  <a:pt x="100013" y="0"/>
                </a:cubicBez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9" name="Text 7"/>
          <p:cNvSpPr/>
          <p:nvPr/>
        </p:nvSpPr>
        <p:spPr>
          <a:xfrm>
            <a:off x="1200150" y="1847850"/>
            <a:ext cx="1990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Browser Extension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00150" y="2152650"/>
            <a:ext cx="1952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Q2 2025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2450" y="2495550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detection overlay for social media platforms. Instant deepfake detection while browsing Twitter, Instagram, and Facebook feeds.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1975" y="3352800"/>
            <a:ext cx="3381375" cy="495300"/>
          </a:xfrm>
          <a:custGeom>
            <a:avLst/>
            <a:gdLst/>
            <a:ahLst/>
            <a:cxnLst/>
            <a:rect l="l" t="t" r="r" b="b"/>
            <a:pathLst>
              <a:path w="3381375" h="495300">
                <a:moveTo>
                  <a:pt x="19050" y="0"/>
                </a:moveTo>
                <a:lnTo>
                  <a:pt x="3343277" y="0"/>
                </a:lnTo>
                <a:cubicBezTo>
                  <a:pt x="3364318" y="0"/>
                  <a:pt x="3381375" y="17057"/>
                  <a:pt x="3381375" y="38098"/>
                </a:cubicBezTo>
                <a:lnTo>
                  <a:pt x="3381375" y="457202"/>
                </a:lnTo>
                <a:cubicBezTo>
                  <a:pt x="3381375" y="478243"/>
                  <a:pt x="3364318" y="495300"/>
                  <a:pt x="3343277" y="495300"/>
                </a:cubicBezTo>
                <a:lnTo>
                  <a:pt x="19050" y="495300"/>
                </a:lnTo>
                <a:cubicBezTo>
                  <a:pt x="8536" y="495300"/>
                  <a:pt x="0" y="486764"/>
                  <a:pt x="0" y="4762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61975" y="3352800"/>
            <a:ext cx="19050" cy="495300"/>
          </a:xfrm>
          <a:custGeom>
            <a:avLst/>
            <a:gdLst/>
            <a:ahLst/>
            <a:cxnLst/>
            <a:rect l="l" t="t" r="r" b="b"/>
            <a:pathLst>
              <a:path w="19050" h="495300">
                <a:moveTo>
                  <a:pt x="19050" y="0"/>
                </a:moveTo>
                <a:lnTo>
                  <a:pt x="19050" y="0"/>
                </a:lnTo>
                <a:lnTo>
                  <a:pt x="19050" y="495300"/>
                </a:lnTo>
                <a:lnTo>
                  <a:pt x="19050" y="495300"/>
                </a:lnTo>
                <a:cubicBezTo>
                  <a:pt x="8536" y="495300"/>
                  <a:pt x="0" y="486764"/>
                  <a:pt x="0" y="4762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390900"/>
            <a:ext cx="3324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Support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581400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Chrome, Firefox, Edge, Safari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1975" y="3924300"/>
            <a:ext cx="3381375" cy="495300"/>
          </a:xfrm>
          <a:custGeom>
            <a:avLst/>
            <a:gdLst/>
            <a:ahLst/>
            <a:cxnLst/>
            <a:rect l="l" t="t" r="r" b="b"/>
            <a:pathLst>
              <a:path w="3381375" h="495300">
                <a:moveTo>
                  <a:pt x="19050" y="0"/>
                </a:moveTo>
                <a:lnTo>
                  <a:pt x="3343277" y="0"/>
                </a:lnTo>
                <a:cubicBezTo>
                  <a:pt x="3364318" y="0"/>
                  <a:pt x="3381375" y="17057"/>
                  <a:pt x="3381375" y="38098"/>
                </a:cubicBezTo>
                <a:lnTo>
                  <a:pt x="3381375" y="457202"/>
                </a:lnTo>
                <a:cubicBezTo>
                  <a:pt x="3381375" y="478243"/>
                  <a:pt x="3364318" y="495300"/>
                  <a:pt x="3343277" y="495300"/>
                </a:cubicBezTo>
                <a:lnTo>
                  <a:pt x="19050" y="495300"/>
                </a:lnTo>
                <a:cubicBezTo>
                  <a:pt x="8536" y="495300"/>
                  <a:pt x="0" y="486764"/>
                  <a:pt x="0" y="4762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61975" y="3924300"/>
            <a:ext cx="19050" cy="495300"/>
          </a:xfrm>
          <a:custGeom>
            <a:avLst/>
            <a:gdLst/>
            <a:ahLst/>
            <a:cxnLst/>
            <a:rect l="l" t="t" r="r" b="b"/>
            <a:pathLst>
              <a:path w="19050" h="495300">
                <a:moveTo>
                  <a:pt x="19050" y="0"/>
                </a:moveTo>
                <a:lnTo>
                  <a:pt x="19050" y="0"/>
                </a:lnTo>
                <a:lnTo>
                  <a:pt x="19050" y="495300"/>
                </a:lnTo>
                <a:lnTo>
                  <a:pt x="19050" y="495300"/>
                </a:lnTo>
                <a:cubicBezTo>
                  <a:pt x="8536" y="495300"/>
                  <a:pt x="0" y="486764"/>
                  <a:pt x="0" y="4762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962400"/>
            <a:ext cx="3324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Integration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4152900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Twitter, Instagram, Facebook, TikTok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1975" y="4495800"/>
            <a:ext cx="3381375" cy="495300"/>
          </a:xfrm>
          <a:custGeom>
            <a:avLst/>
            <a:gdLst/>
            <a:ahLst/>
            <a:cxnLst/>
            <a:rect l="l" t="t" r="r" b="b"/>
            <a:pathLst>
              <a:path w="3381375" h="495300">
                <a:moveTo>
                  <a:pt x="19050" y="0"/>
                </a:moveTo>
                <a:lnTo>
                  <a:pt x="3343277" y="0"/>
                </a:lnTo>
                <a:cubicBezTo>
                  <a:pt x="3364318" y="0"/>
                  <a:pt x="3381375" y="17057"/>
                  <a:pt x="3381375" y="38098"/>
                </a:cubicBezTo>
                <a:lnTo>
                  <a:pt x="3381375" y="457202"/>
                </a:lnTo>
                <a:cubicBezTo>
                  <a:pt x="3381375" y="478243"/>
                  <a:pt x="3364318" y="495300"/>
                  <a:pt x="3343277" y="495300"/>
                </a:cubicBezTo>
                <a:lnTo>
                  <a:pt x="19050" y="495300"/>
                </a:lnTo>
                <a:cubicBezTo>
                  <a:pt x="8536" y="495300"/>
                  <a:pt x="0" y="486764"/>
                  <a:pt x="0" y="4762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61975" y="4495800"/>
            <a:ext cx="19050" cy="495300"/>
          </a:xfrm>
          <a:custGeom>
            <a:avLst/>
            <a:gdLst/>
            <a:ahLst/>
            <a:cxnLst/>
            <a:rect l="l" t="t" r="r" b="b"/>
            <a:pathLst>
              <a:path w="19050" h="495300">
                <a:moveTo>
                  <a:pt x="19050" y="0"/>
                </a:moveTo>
                <a:lnTo>
                  <a:pt x="19050" y="0"/>
                </a:lnTo>
                <a:lnTo>
                  <a:pt x="19050" y="495300"/>
                </a:lnTo>
                <a:lnTo>
                  <a:pt x="19050" y="495300"/>
                </a:lnTo>
                <a:cubicBezTo>
                  <a:pt x="8536" y="495300"/>
                  <a:pt x="0" y="486764"/>
                  <a:pt x="0" y="4762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533900"/>
            <a:ext cx="3324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Indicators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4724400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Color-coded badges, confidence scores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52450" y="5072063"/>
            <a:ext cx="3390900" cy="9525"/>
          </a:xfrm>
          <a:custGeom>
            <a:avLst/>
            <a:gdLst/>
            <a:ahLst/>
            <a:cxnLst/>
            <a:rect l="l" t="t" r="r" b="b"/>
            <a:pathLst>
              <a:path w="3390900" h="9525">
                <a:moveTo>
                  <a:pt x="0" y="0"/>
                </a:moveTo>
                <a:lnTo>
                  <a:pt x="3390900" y="0"/>
                </a:lnTo>
                <a:lnTo>
                  <a:pt x="3390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4D399">
              <a:alpha val="3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52450" y="51911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819150" y="5153025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100K+ active users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38625" y="1685925"/>
            <a:ext cx="3714750" cy="3857625"/>
          </a:xfrm>
          <a:custGeom>
            <a:avLst/>
            <a:gdLst/>
            <a:ahLst/>
            <a:cxnLst/>
            <a:rect l="l" t="t" r="r" b="b"/>
            <a:pathLst>
              <a:path w="3714750" h="3857625">
                <a:moveTo>
                  <a:pt x="76190" y="0"/>
                </a:moveTo>
                <a:lnTo>
                  <a:pt x="3638560" y="0"/>
                </a:lnTo>
                <a:cubicBezTo>
                  <a:pt x="3680639" y="0"/>
                  <a:pt x="3714750" y="34111"/>
                  <a:pt x="3714750" y="76190"/>
                </a:cubicBezTo>
                <a:lnTo>
                  <a:pt x="3714750" y="3781435"/>
                </a:lnTo>
                <a:cubicBezTo>
                  <a:pt x="3714750" y="3823514"/>
                  <a:pt x="3680639" y="3857625"/>
                  <a:pt x="3638560" y="3857625"/>
                </a:cubicBezTo>
                <a:lnTo>
                  <a:pt x="76190" y="3857625"/>
                </a:lnTo>
                <a:cubicBezTo>
                  <a:pt x="34111" y="3857625"/>
                  <a:pt x="0" y="3823514"/>
                  <a:pt x="0" y="3781435"/>
                </a:cubicBezTo>
                <a:lnTo>
                  <a:pt x="0" y="76190"/>
                </a:lnTo>
                <a:cubicBezTo>
                  <a:pt x="0" y="34111"/>
                  <a:pt x="34111" y="0"/>
                  <a:pt x="76190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 w="25400">
            <a:solidFill>
              <a:srgbClr val="9CA3A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00550" y="18478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29" name="Shape 27"/>
          <p:cNvSpPr/>
          <p:nvPr/>
        </p:nvSpPr>
        <p:spPr>
          <a:xfrm>
            <a:off x="4538663" y="20002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7300" y="42863"/>
                </a:moveTo>
                <a:cubicBezTo>
                  <a:pt x="179889" y="42863"/>
                  <a:pt x="172700" y="44872"/>
                  <a:pt x="166405" y="48533"/>
                </a:cubicBezTo>
                <a:cubicBezTo>
                  <a:pt x="159350" y="41389"/>
                  <a:pt x="151135" y="35406"/>
                  <a:pt x="142071" y="30897"/>
                </a:cubicBezTo>
                <a:cubicBezTo>
                  <a:pt x="154662" y="20181"/>
                  <a:pt x="170691" y="14288"/>
                  <a:pt x="187300" y="14288"/>
                </a:cubicBezTo>
                <a:cubicBezTo>
                  <a:pt x="225876" y="14288"/>
                  <a:pt x="257175" y="45541"/>
                  <a:pt x="257175" y="84162"/>
                </a:cubicBezTo>
                <a:cubicBezTo>
                  <a:pt x="257175" y="102691"/>
                  <a:pt x="249808" y="120461"/>
                  <a:pt x="236726" y="133543"/>
                </a:cubicBezTo>
                <a:lnTo>
                  <a:pt x="204981" y="165289"/>
                </a:lnTo>
                <a:cubicBezTo>
                  <a:pt x="191899" y="178371"/>
                  <a:pt x="174129" y="185738"/>
                  <a:pt x="155600" y="185738"/>
                </a:cubicBezTo>
                <a:cubicBezTo>
                  <a:pt x="117024" y="185738"/>
                  <a:pt x="85725" y="154484"/>
                  <a:pt x="85725" y="115863"/>
                </a:cubicBezTo>
                <a:cubicBezTo>
                  <a:pt x="85725" y="115193"/>
                  <a:pt x="85725" y="114523"/>
                  <a:pt x="85770" y="113854"/>
                </a:cubicBezTo>
                <a:cubicBezTo>
                  <a:pt x="85993" y="105951"/>
                  <a:pt x="92556" y="99745"/>
                  <a:pt x="100459" y="99968"/>
                </a:cubicBezTo>
                <a:cubicBezTo>
                  <a:pt x="108362" y="100191"/>
                  <a:pt x="114568" y="106754"/>
                  <a:pt x="114345" y="114657"/>
                </a:cubicBezTo>
                <a:cubicBezTo>
                  <a:pt x="114345" y="115059"/>
                  <a:pt x="114345" y="115461"/>
                  <a:pt x="114345" y="115818"/>
                </a:cubicBezTo>
                <a:cubicBezTo>
                  <a:pt x="114345" y="138633"/>
                  <a:pt x="132829" y="157118"/>
                  <a:pt x="155644" y="157118"/>
                </a:cubicBezTo>
                <a:cubicBezTo>
                  <a:pt x="166583" y="157118"/>
                  <a:pt x="177076" y="152787"/>
                  <a:pt x="184845" y="145018"/>
                </a:cubicBezTo>
                <a:lnTo>
                  <a:pt x="216590" y="113273"/>
                </a:lnTo>
                <a:cubicBezTo>
                  <a:pt x="224314" y="105549"/>
                  <a:pt x="228689" y="95012"/>
                  <a:pt x="228689" y="84073"/>
                </a:cubicBezTo>
                <a:cubicBezTo>
                  <a:pt x="228689" y="61258"/>
                  <a:pt x="210205" y="42773"/>
                  <a:pt x="187389" y="42773"/>
                </a:cubicBezTo>
                <a:close/>
                <a:moveTo>
                  <a:pt x="122873" y="77376"/>
                </a:moveTo>
                <a:cubicBezTo>
                  <a:pt x="122024" y="77019"/>
                  <a:pt x="121176" y="76527"/>
                  <a:pt x="120417" y="75992"/>
                </a:cubicBezTo>
                <a:cubicBezTo>
                  <a:pt x="114791" y="73089"/>
                  <a:pt x="108362" y="71438"/>
                  <a:pt x="101620" y="71438"/>
                </a:cubicBezTo>
                <a:cubicBezTo>
                  <a:pt x="90681" y="71438"/>
                  <a:pt x="80189" y="75768"/>
                  <a:pt x="72420" y="83537"/>
                </a:cubicBezTo>
                <a:lnTo>
                  <a:pt x="40675" y="115282"/>
                </a:lnTo>
                <a:cubicBezTo>
                  <a:pt x="32951" y="123006"/>
                  <a:pt x="28575" y="133543"/>
                  <a:pt x="28575" y="144482"/>
                </a:cubicBezTo>
                <a:cubicBezTo>
                  <a:pt x="28575" y="167298"/>
                  <a:pt x="47059" y="185782"/>
                  <a:pt x="69875" y="185782"/>
                </a:cubicBezTo>
                <a:cubicBezTo>
                  <a:pt x="77242" y="185782"/>
                  <a:pt x="84430" y="183818"/>
                  <a:pt x="90726" y="180156"/>
                </a:cubicBezTo>
                <a:cubicBezTo>
                  <a:pt x="97780" y="187300"/>
                  <a:pt x="105995" y="193283"/>
                  <a:pt x="115104" y="197793"/>
                </a:cubicBezTo>
                <a:cubicBezTo>
                  <a:pt x="102513" y="208464"/>
                  <a:pt x="86529" y="214402"/>
                  <a:pt x="69875" y="214402"/>
                </a:cubicBezTo>
                <a:cubicBezTo>
                  <a:pt x="31299" y="214402"/>
                  <a:pt x="0" y="183148"/>
                  <a:pt x="0" y="144527"/>
                </a:cubicBezTo>
                <a:cubicBezTo>
                  <a:pt x="0" y="125998"/>
                  <a:pt x="7367" y="108228"/>
                  <a:pt x="20449" y="95146"/>
                </a:cubicBezTo>
                <a:lnTo>
                  <a:pt x="52194" y="63401"/>
                </a:lnTo>
                <a:cubicBezTo>
                  <a:pt x="65276" y="50319"/>
                  <a:pt x="83046" y="42952"/>
                  <a:pt x="101575" y="42952"/>
                </a:cubicBezTo>
                <a:cubicBezTo>
                  <a:pt x="140241" y="42952"/>
                  <a:pt x="171450" y="74474"/>
                  <a:pt x="171450" y="113005"/>
                </a:cubicBezTo>
                <a:cubicBezTo>
                  <a:pt x="171450" y="113586"/>
                  <a:pt x="171450" y="114166"/>
                  <a:pt x="171450" y="114746"/>
                </a:cubicBezTo>
                <a:cubicBezTo>
                  <a:pt x="171271" y="122649"/>
                  <a:pt x="164708" y="128855"/>
                  <a:pt x="156805" y="128677"/>
                </a:cubicBezTo>
                <a:cubicBezTo>
                  <a:pt x="148903" y="128498"/>
                  <a:pt x="142696" y="121935"/>
                  <a:pt x="142875" y="114032"/>
                </a:cubicBezTo>
                <a:cubicBezTo>
                  <a:pt x="142875" y="113675"/>
                  <a:pt x="142875" y="113362"/>
                  <a:pt x="142875" y="113005"/>
                </a:cubicBezTo>
                <a:cubicBezTo>
                  <a:pt x="142875" y="97959"/>
                  <a:pt x="134838" y="84743"/>
                  <a:pt x="122873" y="77465"/>
                </a:cubicBez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30" name="Text 28"/>
          <p:cNvSpPr/>
          <p:nvPr/>
        </p:nvSpPr>
        <p:spPr>
          <a:xfrm>
            <a:off x="5048250" y="1847850"/>
            <a:ext cx="236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Blockchain Integration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48250" y="215265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Q3 2025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00550" y="2495550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 "Verified Authentic" certificates on-chain for immutable proof of authenticity. Decentralized trust infrastructure.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10075" y="3352800"/>
            <a:ext cx="3381375" cy="495300"/>
          </a:xfrm>
          <a:custGeom>
            <a:avLst/>
            <a:gdLst/>
            <a:ahLst/>
            <a:cxnLst/>
            <a:rect l="l" t="t" r="r" b="b"/>
            <a:pathLst>
              <a:path w="3381375" h="495300">
                <a:moveTo>
                  <a:pt x="19050" y="0"/>
                </a:moveTo>
                <a:lnTo>
                  <a:pt x="3343277" y="0"/>
                </a:lnTo>
                <a:cubicBezTo>
                  <a:pt x="3364318" y="0"/>
                  <a:pt x="3381375" y="17057"/>
                  <a:pt x="3381375" y="38098"/>
                </a:cubicBezTo>
                <a:lnTo>
                  <a:pt x="3381375" y="457202"/>
                </a:lnTo>
                <a:cubicBezTo>
                  <a:pt x="3381375" y="478243"/>
                  <a:pt x="3364318" y="495300"/>
                  <a:pt x="3343277" y="495300"/>
                </a:cubicBezTo>
                <a:lnTo>
                  <a:pt x="19050" y="495300"/>
                </a:lnTo>
                <a:cubicBezTo>
                  <a:pt x="8536" y="495300"/>
                  <a:pt x="0" y="486764"/>
                  <a:pt x="0" y="4762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410075" y="3352800"/>
            <a:ext cx="19050" cy="495300"/>
          </a:xfrm>
          <a:custGeom>
            <a:avLst/>
            <a:gdLst/>
            <a:ahLst/>
            <a:cxnLst/>
            <a:rect l="l" t="t" r="r" b="b"/>
            <a:pathLst>
              <a:path w="19050" h="495300">
                <a:moveTo>
                  <a:pt x="19050" y="0"/>
                </a:moveTo>
                <a:lnTo>
                  <a:pt x="19050" y="0"/>
                </a:lnTo>
                <a:lnTo>
                  <a:pt x="19050" y="495300"/>
                </a:lnTo>
                <a:lnTo>
                  <a:pt x="19050" y="495300"/>
                </a:lnTo>
                <a:cubicBezTo>
                  <a:pt x="8536" y="495300"/>
                  <a:pt x="0" y="486764"/>
                  <a:pt x="0" y="4762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35" name="Text 33"/>
          <p:cNvSpPr/>
          <p:nvPr/>
        </p:nvSpPr>
        <p:spPr>
          <a:xfrm>
            <a:off x="4533900" y="3390900"/>
            <a:ext cx="3324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Blockchain Platform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33900" y="3581400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Ethereum, Polygon, Solana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10075" y="3924300"/>
            <a:ext cx="3381375" cy="495300"/>
          </a:xfrm>
          <a:custGeom>
            <a:avLst/>
            <a:gdLst/>
            <a:ahLst/>
            <a:cxnLst/>
            <a:rect l="l" t="t" r="r" b="b"/>
            <a:pathLst>
              <a:path w="3381375" h="495300">
                <a:moveTo>
                  <a:pt x="19050" y="0"/>
                </a:moveTo>
                <a:lnTo>
                  <a:pt x="3343277" y="0"/>
                </a:lnTo>
                <a:cubicBezTo>
                  <a:pt x="3364318" y="0"/>
                  <a:pt x="3381375" y="17057"/>
                  <a:pt x="3381375" y="38098"/>
                </a:cubicBezTo>
                <a:lnTo>
                  <a:pt x="3381375" y="457202"/>
                </a:lnTo>
                <a:cubicBezTo>
                  <a:pt x="3381375" y="478243"/>
                  <a:pt x="3364318" y="495300"/>
                  <a:pt x="3343277" y="495300"/>
                </a:cubicBezTo>
                <a:lnTo>
                  <a:pt x="19050" y="495300"/>
                </a:lnTo>
                <a:cubicBezTo>
                  <a:pt x="8536" y="495300"/>
                  <a:pt x="0" y="486764"/>
                  <a:pt x="0" y="4762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410075" y="3924300"/>
            <a:ext cx="19050" cy="495300"/>
          </a:xfrm>
          <a:custGeom>
            <a:avLst/>
            <a:gdLst/>
            <a:ahLst/>
            <a:cxnLst/>
            <a:rect l="l" t="t" r="r" b="b"/>
            <a:pathLst>
              <a:path w="19050" h="495300">
                <a:moveTo>
                  <a:pt x="19050" y="0"/>
                </a:moveTo>
                <a:lnTo>
                  <a:pt x="19050" y="0"/>
                </a:lnTo>
                <a:lnTo>
                  <a:pt x="19050" y="495300"/>
                </a:lnTo>
                <a:lnTo>
                  <a:pt x="19050" y="495300"/>
                </a:lnTo>
                <a:cubicBezTo>
                  <a:pt x="8536" y="495300"/>
                  <a:pt x="0" y="486764"/>
                  <a:pt x="0" y="4762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39" name="Text 37"/>
          <p:cNvSpPr/>
          <p:nvPr/>
        </p:nvSpPr>
        <p:spPr>
          <a:xfrm>
            <a:off x="4533900" y="3962400"/>
            <a:ext cx="3324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Contracts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33900" y="4152900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Certificate minting, verification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10075" y="4495800"/>
            <a:ext cx="3381375" cy="495300"/>
          </a:xfrm>
          <a:custGeom>
            <a:avLst/>
            <a:gdLst/>
            <a:ahLst/>
            <a:cxnLst/>
            <a:rect l="l" t="t" r="r" b="b"/>
            <a:pathLst>
              <a:path w="3381375" h="495300">
                <a:moveTo>
                  <a:pt x="19050" y="0"/>
                </a:moveTo>
                <a:lnTo>
                  <a:pt x="3343277" y="0"/>
                </a:lnTo>
                <a:cubicBezTo>
                  <a:pt x="3364318" y="0"/>
                  <a:pt x="3381375" y="17057"/>
                  <a:pt x="3381375" y="38098"/>
                </a:cubicBezTo>
                <a:lnTo>
                  <a:pt x="3381375" y="457202"/>
                </a:lnTo>
                <a:cubicBezTo>
                  <a:pt x="3381375" y="478243"/>
                  <a:pt x="3364318" y="495300"/>
                  <a:pt x="3343277" y="495300"/>
                </a:cubicBezTo>
                <a:lnTo>
                  <a:pt x="19050" y="495300"/>
                </a:lnTo>
                <a:cubicBezTo>
                  <a:pt x="8536" y="495300"/>
                  <a:pt x="0" y="486764"/>
                  <a:pt x="0" y="4762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410075" y="4495800"/>
            <a:ext cx="19050" cy="495300"/>
          </a:xfrm>
          <a:custGeom>
            <a:avLst/>
            <a:gdLst/>
            <a:ahLst/>
            <a:cxnLst/>
            <a:rect l="l" t="t" r="r" b="b"/>
            <a:pathLst>
              <a:path w="19050" h="495300">
                <a:moveTo>
                  <a:pt x="19050" y="0"/>
                </a:moveTo>
                <a:lnTo>
                  <a:pt x="19050" y="0"/>
                </a:lnTo>
                <a:lnTo>
                  <a:pt x="19050" y="495300"/>
                </a:lnTo>
                <a:lnTo>
                  <a:pt x="19050" y="495300"/>
                </a:lnTo>
                <a:cubicBezTo>
                  <a:pt x="8536" y="495300"/>
                  <a:pt x="0" y="486764"/>
                  <a:pt x="0" y="4762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43" name="Text 41"/>
          <p:cNvSpPr/>
          <p:nvPr/>
        </p:nvSpPr>
        <p:spPr>
          <a:xfrm>
            <a:off x="4533900" y="4533900"/>
            <a:ext cx="3324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Decentralized Storage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533900" y="4724400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IPFS for certificate metadata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400550" y="5072063"/>
            <a:ext cx="3390900" cy="9525"/>
          </a:xfrm>
          <a:custGeom>
            <a:avLst/>
            <a:gdLst/>
            <a:ahLst/>
            <a:cxnLst/>
            <a:rect l="l" t="t" r="r" b="b"/>
            <a:pathLst>
              <a:path w="3390900" h="9525">
                <a:moveTo>
                  <a:pt x="0" y="0"/>
                </a:moveTo>
                <a:lnTo>
                  <a:pt x="3390900" y="0"/>
                </a:lnTo>
                <a:lnTo>
                  <a:pt x="3390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3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419600" y="5191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47" name="Text 45"/>
          <p:cNvSpPr/>
          <p:nvPr/>
        </p:nvSpPr>
        <p:spPr>
          <a:xfrm>
            <a:off x="4667250" y="5153025"/>
            <a:ext cx="2047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Immutable trust infrastructure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086725" y="1685925"/>
            <a:ext cx="3714750" cy="3857625"/>
          </a:xfrm>
          <a:custGeom>
            <a:avLst/>
            <a:gdLst/>
            <a:ahLst/>
            <a:cxnLst/>
            <a:rect l="l" t="t" r="r" b="b"/>
            <a:pathLst>
              <a:path w="3714750" h="3857625">
                <a:moveTo>
                  <a:pt x="76190" y="0"/>
                </a:moveTo>
                <a:lnTo>
                  <a:pt x="3638560" y="0"/>
                </a:lnTo>
                <a:cubicBezTo>
                  <a:pt x="3680639" y="0"/>
                  <a:pt x="3714750" y="34111"/>
                  <a:pt x="3714750" y="76190"/>
                </a:cubicBezTo>
                <a:lnTo>
                  <a:pt x="3714750" y="3781435"/>
                </a:lnTo>
                <a:cubicBezTo>
                  <a:pt x="3714750" y="3823514"/>
                  <a:pt x="3680639" y="3857625"/>
                  <a:pt x="3638560" y="3857625"/>
                </a:cubicBezTo>
                <a:lnTo>
                  <a:pt x="76190" y="3857625"/>
                </a:lnTo>
                <a:cubicBezTo>
                  <a:pt x="34111" y="3857625"/>
                  <a:pt x="0" y="3823514"/>
                  <a:pt x="0" y="3781435"/>
                </a:cubicBezTo>
                <a:lnTo>
                  <a:pt x="0" y="76190"/>
                </a:lnTo>
                <a:cubicBezTo>
                  <a:pt x="0" y="34111"/>
                  <a:pt x="34111" y="0"/>
                  <a:pt x="76190" y="0"/>
                </a:cubicBezTo>
                <a:close/>
              </a:path>
            </a:pathLst>
          </a:custGeom>
          <a:solidFill>
            <a:srgbClr val="4B5563">
              <a:alpha val="20000"/>
            </a:srgbClr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48650" y="18478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50" name="Shape 48"/>
          <p:cNvSpPr/>
          <p:nvPr/>
        </p:nvSpPr>
        <p:spPr>
          <a:xfrm>
            <a:off x="8372475" y="20002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38244" y="14511"/>
                </a:moveTo>
                <a:cubicBezTo>
                  <a:pt x="233645" y="10760"/>
                  <a:pt x="226903" y="11475"/>
                  <a:pt x="223153" y="16073"/>
                </a:cubicBezTo>
                <a:cubicBezTo>
                  <a:pt x="219402" y="20672"/>
                  <a:pt x="220117" y="27414"/>
                  <a:pt x="224716" y="31165"/>
                </a:cubicBezTo>
                <a:cubicBezTo>
                  <a:pt x="248915" y="50810"/>
                  <a:pt x="264319" y="80724"/>
                  <a:pt x="264319" y="114300"/>
                </a:cubicBezTo>
                <a:cubicBezTo>
                  <a:pt x="264319" y="147876"/>
                  <a:pt x="248915" y="177790"/>
                  <a:pt x="224716" y="197480"/>
                </a:cubicBezTo>
                <a:cubicBezTo>
                  <a:pt x="220117" y="201231"/>
                  <a:pt x="219447" y="207972"/>
                  <a:pt x="223153" y="212571"/>
                </a:cubicBezTo>
                <a:cubicBezTo>
                  <a:pt x="226859" y="217170"/>
                  <a:pt x="233645" y="217840"/>
                  <a:pt x="238244" y="214134"/>
                </a:cubicBezTo>
                <a:cubicBezTo>
                  <a:pt x="267221" y="190515"/>
                  <a:pt x="285750" y="154573"/>
                  <a:pt x="285750" y="114300"/>
                </a:cubicBezTo>
                <a:cubicBezTo>
                  <a:pt x="285750" y="74027"/>
                  <a:pt x="267221" y="38040"/>
                  <a:pt x="238244" y="14511"/>
                </a:cubicBezTo>
                <a:close/>
                <a:moveTo>
                  <a:pt x="211232" y="47774"/>
                </a:moveTo>
                <a:cubicBezTo>
                  <a:pt x="206633" y="44023"/>
                  <a:pt x="199891" y="44738"/>
                  <a:pt x="196141" y="49337"/>
                </a:cubicBezTo>
                <a:cubicBezTo>
                  <a:pt x="192390" y="53935"/>
                  <a:pt x="193104" y="60677"/>
                  <a:pt x="197703" y="64428"/>
                </a:cubicBezTo>
                <a:cubicBezTo>
                  <a:pt x="212214" y="76215"/>
                  <a:pt x="221456" y="94164"/>
                  <a:pt x="221456" y="114300"/>
                </a:cubicBezTo>
                <a:cubicBezTo>
                  <a:pt x="221456" y="134436"/>
                  <a:pt x="212214" y="152385"/>
                  <a:pt x="197703" y="164217"/>
                </a:cubicBezTo>
                <a:cubicBezTo>
                  <a:pt x="193104" y="167967"/>
                  <a:pt x="192435" y="174709"/>
                  <a:pt x="196141" y="179308"/>
                </a:cubicBezTo>
                <a:cubicBezTo>
                  <a:pt x="199846" y="183907"/>
                  <a:pt x="206633" y="184577"/>
                  <a:pt x="211232" y="180871"/>
                </a:cubicBezTo>
                <a:cubicBezTo>
                  <a:pt x="230520" y="165155"/>
                  <a:pt x="242888" y="141178"/>
                  <a:pt x="242888" y="114345"/>
                </a:cubicBezTo>
                <a:cubicBezTo>
                  <a:pt x="242888" y="87511"/>
                  <a:pt x="230520" y="63535"/>
                  <a:pt x="211232" y="47818"/>
                </a:cubicBezTo>
                <a:close/>
                <a:moveTo>
                  <a:pt x="184219" y="81037"/>
                </a:moveTo>
                <a:cubicBezTo>
                  <a:pt x="179621" y="77286"/>
                  <a:pt x="172879" y="78001"/>
                  <a:pt x="169128" y="82600"/>
                </a:cubicBezTo>
                <a:cubicBezTo>
                  <a:pt x="165378" y="87198"/>
                  <a:pt x="166092" y="93940"/>
                  <a:pt x="170691" y="97691"/>
                </a:cubicBezTo>
                <a:cubicBezTo>
                  <a:pt x="175513" y="101620"/>
                  <a:pt x="178594" y="107603"/>
                  <a:pt x="178594" y="114300"/>
                </a:cubicBezTo>
                <a:cubicBezTo>
                  <a:pt x="178594" y="120997"/>
                  <a:pt x="175513" y="126980"/>
                  <a:pt x="170691" y="130954"/>
                </a:cubicBezTo>
                <a:cubicBezTo>
                  <a:pt x="166092" y="134704"/>
                  <a:pt x="165422" y="141446"/>
                  <a:pt x="169128" y="146045"/>
                </a:cubicBezTo>
                <a:cubicBezTo>
                  <a:pt x="172834" y="150644"/>
                  <a:pt x="179621" y="151314"/>
                  <a:pt x="184219" y="147608"/>
                </a:cubicBezTo>
                <a:cubicBezTo>
                  <a:pt x="193819" y="139705"/>
                  <a:pt x="200025" y="127739"/>
                  <a:pt x="200025" y="114300"/>
                </a:cubicBezTo>
                <a:cubicBezTo>
                  <a:pt x="200025" y="100861"/>
                  <a:pt x="193819" y="88895"/>
                  <a:pt x="184219" y="81037"/>
                </a:cubicBezTo>
                <a:close/>
                <a:moveTo>
                  <a:pt x="35719" y="157163"/>
                </a:moveTo>
                <a:lnTo>
                  <a:pt x="57150" y="157163"/>
                </a:lnTo>
                <a:lnTo>
                  <a:pt x="117024" y="210383"/>
                </a:lnTo>
                <a:cubicBezTo>
                  <a:pt x="119881" y="212928"/>
                  <a:pt x="123542" y="214313"/>
                  <a:pt x="127337" y="214313"/>
                </a:cubicBezTo>
                <a:cubicBezTo>
                  <a:pt x="135910" y="214313"/>
                  <a:pt x="142875" y="207347"/>
                  <a:pt x="142875" y="198775"/>
                </a:cubicBezTo>
                <a:lnTo>
                  <a:pt x="142875" y="29825"/>
                </a:lnTo>
                <a:cubicBezTo>
                  <a:pt x="142875" y="21253"/>
                  <a:pt x="135910" y="14288"/>
                  <a:pt x="127337" y="14288"/>
                </a:cubicBezTo>
                <a:cubicBezTo>
                  <a:pt x="123542" y="14288"/>
                  <a:pt x="119881" y="15672"/>
                  <a:pt x="117024" y="18217"/>
                </a:cubicBezTo>
                <a:lnTo>
                  <a:pt x="57150" y="71438"/>
                </a:lnTo>
                <a:lnTo>
                  <a:pt x="35719" y="71438"/>
                </a:lnTo>
                <a:cubicBezTo>
                  <a:pt x="23887" y="71438"/>
                  <a:pt x="14288" y="81037"/>
                  <a:pt x="14288" y="92869"/>
                </a:cubicBezTo>
                <a:lnTo>
                  <a:pt x="14288" y="135731"/>
                </a:lnTo>
                <a:cubicBezTo>
                  <a:pt x="14288" y="147563"/>
                  <a:pt x="23887" y="157163"/>
                  <a:pt x="35719" y="157163"/>
                </a:cubicBez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51" name="Text 49"/>
          <p:cNvSpPr/>
          <p:nvPr/>
        </p:nvSpPr>
        <p:spPr>
          <a:xfrm>
            <a:off x="8896350" y="1847850"/>
            <a:ext cx="1733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Detection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896350" y="2152650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 2025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248650" y="2495550"/>
            <a:ext cx="346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 ensemble to detect AI-generated voice and audio deepfakes. Voice cloning detection for podcasts, videos, and voice messages.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58175" y="3352800"/>
            <a:ext cx="3381375" cy="495300"/>
          </a:xfrm>
          <a:custGeom>
            <a:avLst/>
            <a:gdLst/>
            <a:ahLst/>
            <a:cxnLst/>
            <a:rect l="l" t="t" r="r" b="b"/>
            <a:pathLst>
              <a:path w="3381375" h="495300">
                <a:moveTo>
                  <a:pt x="19050" y="0"/>
                </a:moveTo>
                <a:lnTo>
                  <a:pt x="3343277" y="0"/>
                </a:lnTo>
                <a:cubicBezTo>
                  <a:pt x="3364318" y="0"/>
                  <a:pt x="3381375" y="17057"/>
                  <a:pt x="3381375" y="38098"/>
                </a:cubicBezTo>
                <a:lnTo>
                  <a:pt x="3381375" y="457202"/>
                </a:lnTo>
                <a:cubicBezTo>
                  <a:pt x="3381375" y="478243"/>
                  <a:pt x="3364318" y="495300"/>
                  <a:pt x="3343277" y="495300"/>
                </a:cubicBezTo>
                <a:lnTo>
                  <a:pt x="19050" y="495300"/>
                </a:lnTo>
                <a:cubicBezTo>
                  <a:pt x="8536" y="495300"/>
                  <a:pt x="0" y="486764"/>
                  <a:pt x="0" y="4762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258175" y="3352800"/>
            <a:ext cx="19050" cy="495300"/>
          </a:xfrm>
          <a:custGeom>
            <a:avLst/>
            <a:gdLst/>
            <a:ahLst/>
            <a:cxnLst/>
            <a:rect l="l" t="t" r="r" b="b"/>
            <a:pathLst>
              <a:path w="19050" h="495300">
                <a:moveTo>
                  <a:pt x="19050" y="0"/>
                </a:moveTo>
                <a:lnTo>
                  <a:pt x="19050" y="0"/>
                </a:lnTo>
                <a:lnTo>
                  <a:pt x="19050" y="495300"/>
                </a:lnTo>
                <a:lnTo>
                  <a:pt x="19050" y="495300"/>
                </a:lnTo>
                <a:cubicBezTo>
                  <a:pt x="8536" y="495300"/>
                  <a:pt x="0" y="486764"/>
                  <a:pt x="0" y="4762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56" name="Text 54"/>
          <p:cNvSpPr/>
          <p:nvPr/>
        </p:nvSpPr>
        <p:spPr>
          <a:xfrm>
            <a:off x="8382000" y="3390900"/>
            <a:ext cx="3324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Cloning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382000" y="3581400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ElevenLabs, Descript, Play.ht detection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58175" y="3924300"/>
            <a:ext cx="3381375" cy="495300"/>
          </a:xfrm>
          <a:custGeom>
            <a:avLst/>
            <a:gdLst/>
            <a:ahLst/>
            <a:cxnLst/>
            <a:rect l="l" t="t" r="r" b="b"/>
            <a:pathLst>
              <a:path w="3381375" h="495300">
                <a:moveTo>
                  <a:pt x="19050" y="0"/>
                </a:moveTo>
                <a:lnTo>
                  <a:pt x="3343277" y="0"/>
                </a:lnTo>
                <a:cubicBezTo>
                  <a:pt x="3364318" y="0"/>
                  <a:pt x="3381375" y="17057"/>
                  <a:pt x="3381375" y="38098"/>
                </a:cubicBezTo>
                <a:lnTo>
                  <a:pt x="3381375" y="457202"/>
                </a:lnTo>
                <a:cubicBezTo>
                  <a:pt x="3381375" y="478243"/>
                  <a:pt x="3364318" y="495300"/>
                  <a:pt x="3343277" y="495300"/>
                </a:cubicBezTo>
                <a:lnTo>
                  <a:pt x="19050" y="495300"/>
                </a:lnTo>
                <a:cubicBezTo>
                  <a:pt x="8536" y="495300"/>
                  <a:pt x="0" y="486764"/>
                  <a:pt x="0" y="4762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258175" y="3924300"/>
            <a:ext cx="19050" cy="495300"/>
          </a:xfrm>
          <a:custGeom>
            <a:avLst/>
            <a:gdLst/>
            <a:ahLst/>
            <a:cxnLst/>
            <a:rect l="l" t="t" r="r" b="b"/>
            <a:pathLst>
              <a:path w="19050" h="495300">
                <a:moveTo>
                  <a:pt x="19050" y="0"/>
                </a:moveTo>
                <a:lnTo>
                  <a:pt x="19050" y="0"/>
                </a:lnTo>
                <a:lnTo>
                  <a:pt x="19050" y="495300"/>
                </a:lnTo>
                <a:lnTo>
                  <a:pt x="19050" y="495300"/>
                </a:lnTo>
                <a:cubicBezTo>
                  <a:pt x="8536" y="495300"/>
                  <a:pt x="0" y="486764"/>
                  <a:pt x="0" y="4762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60" name="Text 58"/>
          <p:cNvSpPr/>
          <p:nvPr/>
        </p:nvSpPr>
        <p:spPr>
          <a:xfrm>
            <a:off x="8382000" y="3962400"/>
            <a:ext cx="3324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 Artifacts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382000" y="4152900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Spectral analysis, phase detection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258175" y="4495800"/>
            <a:ext cx="3381375" cy="495300"/>
          </a:xfrm>
          <a:custGeom>
            <a:avLst/>
            <a:gdLst/>
            <a:ahLst/>
            <a:cxnLst/>
            <a:rect l="l" t="t" r="r" b="b"/>
            <a:pathLst>
              <a:path w="3381375" h="495300">
                <a:moveTo>
                  <a:pt x="19050" y="0"/>
                </a:moveTo>
                <a:lnTo>
                  <a:pt x="3343277" y="0"/>
                </a:lnTo>
                <a:cubicBezTo>
                  <a:pt x="3364318" y="0"/>
                  <a:pt x="3381375" y="17057"/>
                  <a:pt x="3381375" y="38098"/>
                </a:cubicBezTo>
                <a:lnTo>
                  <a:pt x="3381375" y="457202"/>
                </a:lnTo>
                <a:cubicBezTo>
                  <a:pt x="3381375" y="478243"/>
                  <a:pt x="3364318" y="495300"/>
                  <a:pt x="3343277" y="495300"/>
                </a:cubicBezTo>
                <a:lnTo>
                  <a:pt x="19050" y="495300"/>
                </a:lnTo>
                <a:cubicBezTo>
                  <a:pt x="8536" y="495300"/>
                  <a:pt x="0" y="486764"/>
                  <a:pt x="0" y="4762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258175" y="4495800"/>
            <a:ext cx="19050" cy="495300"/>
          </a:xfrm>
          <a:custGeom>
            <a:avLst/>
            <a:gdLst/>
            <a:ahLst/>
            <a:cxnLst/>
            <a:rect l="l" t="t" r="r" b="b"/>
            <a:pathLst>
              <a:path w="19050" h="495300">
                <a:moveTo>
                  <a:pt x="19050" y="0"/>
                </a:moveTo>
                <a:lnTo>
                  <a:pt x="19050" y="0"/>
                </a:lnTo>
                <a:lnTo>
                  <a:pt x="19050" y="495300"/>
                </a:lnTo>
                <a:lnTo>
                  <a:pt x="19050" y="495300"/>
                </a:lnTo>
                <a:cubicBezTo>
                  <a:pt x="8536" y="495300"/>
                  <a:pt x="0" y="486764"/>
                  <a:pt x="0" y="4762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64" name="Text 62"/>
          <p:cNvSpPr/>
          <p:nvPr/>
        </p:nvSpPr>
        <p:spPr>
          <a:xfrm>
            <a:off x="8382000" y="4533900"/>
            <a:ext cx="3324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Multi-Language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382000" y="4724400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language support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248650" y="5072063"/>
            <a:ext cx="3390900" cy="9525"/>
          </a:xfrm>
          <a:custGeom>
            <a:avLst/>
            <a:gdLst/>
            <a:ahLst/>
            <a:cxnLst/>
            <a:rect l="l" t="t" r="r" b="b"/>
            <a:pathLst>
              <a:path w="3390900" h="9525">
                <a:moveTo>
                  <a:pt x="0" y="0"/>
                </a:moveTo>
                <a:lnTo>
                  <a:pt x="3390900" y="0"/>
                </a:lnTo>
                <a:lnTo>
                  <a:pt x="3390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4D399">
              <a:alpha val="30196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267700" y="5191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68" name="Text 66"/>
          <p:cNvSpPr/>
          <p:nvPr/>
        </p:nvSpPr>
        <p:spPr>
          <a:xfrm>
            <a:off x="8515350" y="5153025"/>
            <a:ext cx="2200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media coverage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385763" y="5672138"/>
            <a:ext cx="11420475" cy="1000125"/>
          </a:xfrm>
          <a:custGeom>
            <a:avLst/>
            <a:gdLst/>
            <a:ahLst/>
            <a:cxnLst/>
            <a:rect l="l" t="t" r="r" b="b"/>
            <a:pathLst>
              <a:path w="11420475" h="1000125">
                <a:moveTo>
                  <a:pt x="76200" y="0"/>
                </a:moveTo>
                <a:lnTo>
                  <a:pt x="11344275" y="0"/>
                </a:lnTo>
                <a:cubicBezTo>
                  <a:pt x="11386359" y="0"/>
                  <a:pt x="11420475" y="34116"/>
                  <a:pt x="11420475" y="76200"/>
                </a:cubicBezTo>
                <a:lnTo>
                  <a:pt x="11420475" y="923925"/>
                </a:lnTo>
                <a:cubicBezTo>
                  <a:pt x="11420475" y="966009"/>
                  <a:pt x="11386359" y="1000125"/>
                  <a:pt x="1134427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4D399">
              <a:alpha val="10196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23875" y="6057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71" name="Text 69"/>
          <p:cNvSpPr/>
          <p:nvPr/>
        </p:nvSpPr>
        <p:spPr>
          <a:xfrm>
            <a:off x="919311" y="5791200"/>
            <a:ext cx="10848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9FAF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Vision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919311" y="6096000"/>
            <a:ext cx="10839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end of 2025, Satya will provide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media authentication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visual, audio, and blockchain domains, establishing the gold standard for digital content verification.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d1eb3b771b626001e5aefde8e3af9c01b94751bc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4651" b="4651"/>
          <a:stretch/>
        </p:blipFill>
        <p:spPr>
          <a:xfrm>
            <a:off x="0" y="0"/>
            <a:ext cx="12192000" cy="7371907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371907"/>
          </a:xfrm>
          <a:custGeom>
            <a:avLst/>
            <a:gdLst/>
            <a:ahLst/>
            <a:cxnLst/>
            <a:rect l="l" t="t" r="r" b="b"/>
            <a:pathLst>
              <a:path w="12192000" h="7371907">
                <a:moveTo>
                  <a:pt x="0" y="0"/>
                </a:moveTo>
                <a:lnTo>
                  <a:pt x="12192000" y="0"/>
                </a:lnTo>
                <a:lnTo>
                  <a:pt x="12192000" y="7371907"/>
                </a:lnTo>
                <a:lnTo>
                  <a:pt x="0" y="7371907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11827"/>
              </a:gs>
              <a:gs pos="50000">
                <a:srgbClr val="111827">
                  <a:alpha val="95000"/>
                </a:srgbClr>
              </a:gs>
              <a:gs pos="100000">
                <a:srgbClr val="34D399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79558" y="31219"/>
            <a:ext cx="832884" cy="726558"/>
          </a:xfrm>
          <a:custGeom>
            <a:avLst/>
            <a:gdLst/>
            <a:ahLst/>
            <a:cxnLst/>
            <a:rect l="l" t="t" r="r" b="b"/>
            <a:pathLst>
              <a:path w="832884" h="726558">
                <a:moveTo>
                  <a:pt x="141766" y="0"/>
                </a:moveTo>
                <a:lnTo>
                  <a:pt x="691118" y="0"/>
                </a:lnTo>
                <a:cubicBezTo>
                  <a:pt x="769360" y="0"/>
                  <a:pt x="832884" y="63523"/>
                  <a:pt x="832884" y="141766"/>
                </a:cubicBezTo>
                <a:lnTo>
                  <a:pt x="832884" y="584792"/>
                </a:lnTo>
                <a:cubicBezTo>
                  <a:pt x="832884" y="663035"/>
                  <a:pt x="769360" y="726558"/>
                  <a:pt x="691118" y="726558"/>
                </a:cubicBezTo>
                <a:lnTo>
                  <a:pt x="141766" y="726558"/>
                </a:lnTo>
                <a:cubicBezTo>
                  <a:pt x="63523" y="726558"/>
                  <a:pt x="0" y="663035"/>
                  <a:pt x="0" y="584792"/>
                </a:cubicBezTo>
                <a:lnTo>
                  <a:pt x="0" y="141766"/>
                </a:lnTo>
                <a:cubicBezTo>
                  <a:pt x="0" y="63523"/>
                  <a:pt x="63523" y="0"/>
                  <a:pt x="141766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83349" y="181847"/>
            <a:ext cx="425302" cy="425302"/>
          </a:xfrm>
          <a:custGeom>
            <a:avLst/>
            <a:gdLst/>
            <a:ahLst/>
            <a:cxnLst/>
            <a:rect l="l" t="t" r="r" b="b"/>
            <a:pathLst>
              <a:path w="425302" h="425302">
                <a:moveTo>
                  <a:pt x="212651" y="0"/>
                </a:moveTo>
                <a:cubicBezTo>
                  <a:pt x="216472" y="0"/>
                  <a:pt x="220293" y="831"/>
                  <a:pt x="223782" y="2409"/>
                </a:cubicBezTo>
                <a:lnTo>
                  <a:pt x="380280" y="68779"/>
                </a:lnTo>
                <a:cubicBezTo>
                  <a:pt x="398555" y="76505"/>
                  <a:pt x="412178" y="94530"/>
                  <a:pt x="412095" y="116294"/>
                </a:cubicBezTo>
                <a:cubicBezTo>
                  <a:pt x="411679" y="198696"/>
                  <a:pt x="377788" y="349462"/>
                  <a:pt x="234664" y="417992"/>
                </a:cubicBezTo>
                <a:cubicBezTo>
                  <a:pt x="220792" y="424638"/>
                  <a:pt x="204677" y="424638"/>
                  <a:pt x="190805" y="417992"/>
                </a:cubicBezTo>
                <a:cubicBezTo>
                  <a:pt x="47597" y="349462"/>
                  <a:pt x="13789" y="198696"/>
                  <a:pt x="13374" y="116294"/>
                </a:cubicBezTo>
                <a:cubicBezTo>
                  <a:pt x="13291" y="94530"/>
                  <a:pt x="26914" y="76505"/>
                  <a:pt x="45188" y="68779"/>
                </a:cubicBezTo>
                <a:lnTo>
                  <a:pt x="201603" y="2409"/>
                </a:lnTo>
                <a:cubicBezTo>
                  <a:pt x="205092" y="831"/>
                  <a:pt x="208830" y="0"/>
                  <a:pt x="212651" y="0"/>
                </a:cubicBezTo>
                <a:close/>
                <a:moveTo>
                  <a:pt x="212651" y="55489"/>
                </a:moveTo>
                <a:lnTo>
                  <a:pt x="212651" y="369564"/>
                </a:lnTo>
                <a:cubicBezTo>
                  <a:pt x="327283" y="314076"/>
                  <a:pt x="358101" y="191137"/>
                  <a:pt x="358849" y="117540"/>
                </a:cubicBezTo>
                <a:lnTo>
                  <a:pt x="212651" y="55572"/>
                </a:lnTo>
                <a:lnTo>
                  <a:pt x="212651" y="55572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6" name="Text 3"/>
          <p:cNvSpPr/>
          <p:nvPr/>
        </p:nvSpPr>
        <p:spPr>
          <a:xfrm>
            <a:off x="1993605" y="1191940"/>
            <a:ext cx="8204791" cy="132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186" b="1" dirty="0">
                <a:solidFill>
                  <a:srgbClr val="F9FAF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Building a Trustworthy Digital Future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28930" y="2733661"/>
            <a:ext cx="1134140" cy="0"/>
          </a:xfrm>
          <a:custGeom>
            <a:avLst/>
            <a:gdLst/>
            <a:ahLst/>
            <a:cxnLst/>
            <a:rect l="l" t="t" r="r" b="b"/>
            <a:pathLst>
              <a:path w="1134140" h="0">
                <a:moveTo>
                  <a:pt x="0" y="0"/>
                </a:moveTo>
                <a:lnTo>
                  <a:pt x="1134140" y="0"/>
                </a:lnTo>
                <a:lnTo>
                  <a:pt x="113414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8" name="Text 5"/>
          <p:cNvSpPr/>
          <p:nvPr/>
        </p:nvSpPr>
        <p:spPr>
          <a:xfrm>
            <a:off x="2640419" y="2946312"/>
            <a:ext cx="6911163" cy="1382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74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Satya represents a critical step forward in media authentication. With </a:t>
            </a:r>
            <a:pPr algn="ctr">
              <a:lnSpc>
                <a:spcPct val="140000"/>
              </a:lnSpc>
            </a:pPr>
            <a:r>
              <a:rPr lang="en-US" sz="1674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explainable AI</a:t>
            </a:r>
            <a:pPr algn="ctr">
              <a:lnSpc>
                <a:spcPct val="140000"/>
              </a:lnSpc>
            </a:pPr>
            <a:r>
              <a:rPr lang="en-US" sz="1674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 algn="ctr">
              <a:lnSpc>
                <a:spcPct val="140000"/>
              </a:lnSpc>
            </a:pPr>
            <a:r>
              <a:rPr lang="en-US" sz="1674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multi-modal detection</a:t>
            </a:r>
            <a:pPr algn="ctr">
              <a:lnSpc>
                <a:spcPct val="140000"/>
              </a:lnSpc>
            </a:pPr>
            <a:r>
              <a:rPr lang="en-US" sz="1674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 algn="ctr">
              <a:lnSpc>
                <a:spcPct val="140000"/>
              </a:lnSpc>
            </a:pPr>
            <a:r>
              <a:rPr lang="en-US" sz="1674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verified certificates</a:t>
            </a:r>
            <a:pPr algn="ctr">
              <a:lnSpc>
                <a:spcPct val="140000"/>
              </a:lnSpc>
            </a:pPr>
            <a:r>
              <a:rPr lang="en-US" sz="1674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we're empowering users to distinguish truth from fabrication in an increasingly AI-generated world.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59336" y="4545626"/>
            <a:ext cx="1745512" cy="1001233"/>
          </a:xfrm>
          <a:custGeom>
            <a:avLst/>
            <a:gdLst/>
            <a:ahLst/>
            <a:cxnLst/>
            <a:rect l="l" t="t" r="r" b="b"/>
            <a:pathLst>
              <a:path w="1745512" h="1001233">
                <a:moveTo>
                  <a:pt x="70887" y="0"/>
                </a:moveTo>
                <a:lnTo>
                  <a:pt x="1674624" y="0"/>
                </a:lnTo>
                <a:cubicBezTo>
                  <a:pt x="1713748" y="0"/>
                  <a:pt x="1745512" y="31764"/>
                  <a:pt x="1745512" y="70887"/>
                </a:cubicBezTo>
                <a:lnTo>
                  <a:pt x="1745512" y="930345"/>
                </a:lnTo>
                <a:cubicBezTo>
                  <a:pt x="1745512" y="969495"/>
                  <a:pt x="1713774" y="1001233"/>
                  <a:pt x="1674624" y="1001233"/>
                </a:cubicBezTo>
                <a:lnTo>
                  <a:pt x="70887" y="1001233"/>
                </a:lnTo>
                <a:cubicBezTo>
                  <a:pt x="31764" y="1001233"/>
                  <a:pt x="0" y="969469"/>
                  <a:pt x="0" y="930345"/>
                </a:cubicBezTo>
                <a:lnTo>
                  <a:pt x="0" y="70887"/>
                </a:lnTo>
                <a:cubicBezTo>
                  <a:pt x="0" y="31764"/>
                  <a:pt x="31764" y="0"/>
                  <a:pt x="70887" y="0"/>
                </a:cubicBezTo>
                <a:close/>
              </a:path>
            </a:pathLst>
          </a:custGeom>
          <a:solidFill>
            <a:srgbClr val="4B5563">
              <a:alpha val="30196"/>
            </a:srgbClr>
          </a:solidFill>
          <a:ln w="12700">
            <a:solidFill>
              <a:srgbClr val="34D399">
                <a:alpha val="50196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61231" y="4727266"/>
            <a:ext cx="1541721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12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97.3%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405534" y="5152568"/>
            <a:ext cx="1453116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Accuracy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224283" y="4545626"/>
            <a:ext cx="1745512" cy="1001233"/>
          </a:xfrm>
          <a:custGeom>
            <a:avLst/>
            <a:gdLst/>
            <a:ahLst/>
            <a:cxnLst/>
            <a:rect l="l" t="t" r="r" b="b"/>
            <a:pathLst>
              <a:path w="1745512" h="1001233">
                <a:moveTo>
                  <a:pt x="70887" y="0"/>
                </a:moveTo>
                <a:lnTo>
                  <a:pt x="1674624" y="0"/>
                </a:lnTo>
                <a:cubicBezTo>
                  <a:pt x="1713748" y="0"/>
                  <a:pt x="1745512" y="31764"/>
                  <a:pt x="1745512" y="70887"/>
                </a:cubicBezTo>
                <a:lnTo>
                  <a:pt x="1745512" y="930345"/>
                </a:lnTo>
                <a:cubicBezTo>
                  <a:pt x="1745512" y="969495"/>
                  <a:pt x="1713774" y="1001233"/>
                  <a:pt x="1674624" y="1001233"/>
                </a:cubicBezTo>
                <a:lnTo>
                  <a:pt x="70887" y="1001233"/>
                </a:lnTo>
                <a:cubicBezTo>
                  <a:pt x="31764" y="1001233"/>
                  <a:pt x="0" y="969469"/>
                  <a:pt x="0" y="930345"/>
                </a:cubicBezTo>
                <a:lnTo>
                  <a:pt x="0" y="70887"/>
                </a:lnTo>
                <a:cubicBezTo>
                  <a:pt x="0" y="31764"/>
                  <a:pt x="31764" y="0"/>
                  <a:pt x="70887" y="0"/>
                </a:cubicBezTo>
                <a:close/>
              </a:path>
            </a:pathLst>
          </a:custGeom>
          <a:solidFill>
            <a:srgbClr val="4B5563">
              <a:alpha val="30196"/>
            </a:srgbClr>
          </a:solidFill>
          <a:ln w="12700">
            <a:solidFill>
              <a:srgbClr val="34D399">
                <a:alpha val="50196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26178" y="4727266"/>
            <a:ext cx="1541721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12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2.3s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70480" y="5152568"/>
            <a:ext cx="1453116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Analysis Time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189229" y="4545626"/>
            <a:ext cx="1745512" cy="1001233"/>
          </a:xfrm>
          <a:custGeom>
            <a:avLst/>
            <a:gdLst/>
            <a:ahLst/>
            <a:cxnLst/>
            <a:rect l="l" t="t" r="r" b="b"/>
            <a:pathLst>
              <a:path w="1745512" h="1001233">
                <a:moveTo>
                  <a:pt x="70887" y="0"/>
                </a:moveTo>
                <a:lnTo>
                  <a:pt x="1674624" y="0"/>
                </a:lnTo>
                <a:cubicBezTo>
                  <a:pt x="1713748" y="0"/>
                  <a:pt x="1745512" y="31764"/>
                  <a:pt x="1745512" y="70887"/>
                </a:cubicBezTo>
                <a:lnTo>
                  <a:pt x="1745512" y="930345"/>
                </a:lnTo>
                <a:cubicBezTo>
                  <a:pt x="1745512" y="969495"/>
                  <a:pt x="1713774" y="1001233"/>
                  <a:pt x="1674624" y="1001233"/>
                </a:cubicBezTo>
                <a:lnTo>
                  <a:pt x="70887" y="1001233"/>
                </a:lnTo>
                <a:cubicBezTo>
                  <a:pt x="31764" y="1001233"/>
                  <a:pt x="0" y="969469"/>
                  <a:pt x="0" y="930345"/>
                </a:cubicBezTo>
                <a:lnTo>
                  <a:pt x="0" y="70887"/>
                </a:lnTo>
                <a:cubicBezTo>
                  <a:pt x="0" y="31764"/>
                  <a:pt x="31764" y="0"/>
                  <a:pt x="70887" y="0"/>
                </a:cubicBezTo>
                <a:close/>
              </a:path>
            </a:pathLst>
          </a:custGeom>
          <a:solidFill>
            <a:srgbClr val="4B5563">
              <a:alpha val="30196"/>
            </a:srgbClr>
          </a:solidFill>
          <a:ln w="12700">
            <a:solidFill>
              <a:srgbClr val="34D399">
                <a:alpha val="50196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91124" y="4727266"/>
            <a:ext cx="1541721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12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12.4K+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335427" y="5152568"/>
            <a:ext cx="1453116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Certificates Issued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2130942" y="5768370"/>
            <a:ext cx="7930116" cy="939209"/>
          </a:xfrm>
          <a:custGeom>
            <a:avLst/>
            <a:gdLst/>
            <a:ahLst/>
            <a:cxnLst/>
            <a:rect l="l" t="t" r="r" b="b"/>
            <a:pathLst>
              <a:path w="7930116" h="939209">
                <a:moveTo>
                  <a:pt x="70882" y="0"/>
                </a:moveTo>
                <a:lnTo>
                  <a:pt x="7859234" y="0"/>
                </a:lnTo>
                <a:cubicBezTo>
                  <a:pt x="7898381" y="0"/>
                  <a:pt x="7930116" y="31735"/>
                  <a:pt x="7930116" y="70882"/>
                </a:cubicBezTo>
                <a:lnTo>
                  <a:pt x="7930116" y="868327"/>
                </a:lnTo>
                <a:cubicBezTo>
                  <a:pt x="7930116" y="907474"/>
                  <a:pt x="7898381" y="939209"/>
                  <a:pt x="7859234" y="939209"/>
                </a:cubicBezTo>
                <a:lnTo>
                  <a:pt x="70882" y="939209"/>
                </a:lnTo>
                <a:cubicBezTo>
                  <a:pt x="31735" y="939209"/>
                  <a:pt x="0" y="907474"/>
                  <a:pt x="0" y="868327"/>
                </a:cubicBezTo>
                <a:lnTo>
                  <a:pt x="0" y="70882"/>
                </a:lnTo>
                <a:cubicBezTo>
                  <a:pt x="0" y="31761"/>
                  <a:pt x="31761" y="0"/>
                  <a:pt x="70882" y="0"/>
                </a:cubicBezTo>
                <a:close/>
              </a:path>
            </a:pathLst>
          </a:custGeom>
          <a:solidFill>
            <a:srgbClr val="34D399">
              <a:alpha val="10196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268279" y="5950010"/>
            <a:ext cx="7655442" cy="575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95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"In an era where seeing is no longer believing, Satya provides the transparency and verification needed to restore trust in digital media."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337198" y="6924661"/>
            <a:ext cx="425302" cy="425302"/>
          </a:xfrm>
          <a:custGeom>
            <a:avLst/>
            <a:gdLst/>
            <a:ahLst/>
            <a:cxnLst/>
            <a:rect l="l" t="t" r="r" b="b"/>
            <a:pathLst>
              <a:path w="425302" h="425302">
                <a:moveTo>
                  <a:pt x="212651" y="0"/>
                </a:moveTo>
                <a:lnTo>
                  <a:pt x="212651" y="0"/>
                </a:lnTo>
                <a:cubicBezTo>
                  <a:pt x="330017" y="0"/>
                  <a:pt x="425302" y="95286"/>
                  <a:pt x="425302" y="212651"/>
                </a:cubicBezTo>
                <a:lnTo>
                  <a:pt x="425302" y="212651"/>
                </a:lnTo>
                <a:cubicBezTo>
                  <a:pt x="425302" y="330017"/>
                  <a:pt x="330017" y="425302"/>
                  <a:pt x="212651" y="425302"/>
                </a:cubicBezTo>
                <a:lnTo>
                  <a:pt x="212651" y="425302"/>
                </a:lnTo>
                <a:cubicBezTo>
                  <a:pt x="95286" y="425302"/>
                  <a:pt x="0" y="330017"/>
                  <a:pt x="0" y="212651"/>
                </a:cubicBezTo>
                <a:lnTo>
                  <a:pt x="0" y="212651"/>
                </a:lnTo>
                <a:cubicBezTo>
                  <a:pt x="0" y="95286"/>
                  <a:pt x="95286" y="0"/>
                  <a:pt x="212651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4461244" y="7048708"/>
            <a:ext cx="177209" cy="177209"/>
          </a:xfrm>
          <a:custGeom>
            <a:avLst/>
            <a:gdLst/>
            <a:ahLst/>
            <a:cxnLst/>
            <a:rect l="l" t="t" r="r" b="b"/>
            <a:pathLst>
              <a:path w="177209" h="177209">
                <a:moveTo>
                  <a:pt x="121797" y="96911"/>
                </a:moveTo>
                <a:lnTo>
                  <a:pt x="55724" y="96911"/>
                </a:lnTo>
                <a:cubicBezTo>
                  <a:pt x="56728" y="119236"/>
                  <a:pt x="61677" y="139795"/>
                  <a:pt x="68703" y="154850"/>
                </a:cubicBezTo>
                <a:cubicBezTo>
                  <a:pt x="72649" y="163330"/>
                  <a:pt x="76906" y="169318"/>
                  <a:pt x="80852" y="172987"/>
                </a:cubicBezTo>
                <a:cubicBezTo>
                  <a:pt x="84728" y="176621"/>
                  <a:pt x="87393" y="177209"/>
                  <a:pt x="88778" y="177209"/>
                </a:cubicBezTo>
                <a:cubicBezTo>
                  <a:pt x="90162" y="177209"/>
                  <a:pt x="92827" y="176621"/>
                  <a:pt x="96704" y="172987"/>
                </a:cubicBezTo>
                <a:cubicBezTo>
                  <a:pt x="100649" y="169318"/>
                  <a:pt x="104907" y="163296"/>
                  <a:pt x="108852" y="154850"/>
                </a:cubicBezTo>
                <a:cubicBezTo>
                  <a:pt x="115878" y="139795"/>
                  <a:pt x="120828" y="119236"/>
                  <a:pt x="121831" y="96911"/>
                </a:cubicBezTo>
                <a:close/>
                <a:moveTo>
                  <a:pt x="55689" y="80298"/>
                </a:moveTo>
                <a:lnTo>
                  <a:pt x="121762" y="80298"/>
                </a:lnTo>
                <a:cubicBezTo>
                  <a:pt x="120793" y="57974"/>
                  <a:pt x="115844" y="37415"/>
                  <a:pt x="108818" y="22359"/>
                </a:cubicBezTo>
                <a:cubicBezTo>
                  <a:pt x="104872" y="13914"/>
                  <a:pt x="100615" y="7891"/>
                  <a:pt x="96669" y="4223"/>
                </a:cubicBezTo>
                <a:cubicBezTo>
                  <a:pt x="92793" y="588"/>
                  <a:pt x="90128" y="0"/>
                  <a:pt x="88743" y="0"/>
                </a:cubicBezTo>
                <a:cubicBezTo>
                  <a:pt x="87359" y="0"/>
                  <a:pt x="84694" y="588"/>
                  <a:pt x="80817" y="4223"/>
                </a:cubicBezTo>
                <a:cubicBezTo>
                  <a:pt x="76871" y="7891"/>
                  <a:pt x="72614" y="13914"/>
                  <a:pt x="68669" y="22359"/>
                </a:cubicBezTo>
                <a:cubicBezTo>
                  <a:pt x="61643" y="37415"/>
                  <a:pt x="56693" y="57974"/>
                  <a:pt x="55689" y="80298"/>
                </a:cubicBezTo>
                <a:close/>
                <a:moveTo>
                  <a:pt x="39076" y="80298"/>
                </a:moveTo>
                <a:cubicBezTo>
                  <a:pt x="40287" y="50671"/>
                  <a:pt x="47937" y="23155"/>
                  <a:pt x="59116" y="5088"/>
                </a:cubicBezTo>
                <a:cubicBezTo>
                  <a:pt x="27239" y="16371"/>
                  <a:pt x="3773" y="45410"/>
                  <a:pt x="519" y="80298"/>
                </a:cubicBezTo>
                <a:lnTo>
                  <a:pt x="39076" y="80298"/>
                </a:lnTo>
                <a:close/>
                <a:moveTo>
                  <a:pt x="519" y="96911"/>
                </a:moveTo>
                <a:cubicBezTo>
                  <a:pt x="3773" y="131799"/>
                  <a:pt x="27239" y="160838"/>
                  <a:pt x="59116" y="172121"/>
                </a:cubicBezTo>
                <a:cubicBezTo>
                  <a:pt x="47937" y="154054"/>
                  <a:pt x="40287" y="126539"/>
                  <a:pt x="39076" y="96911"/>
                </a:cubicBezTo>
                <a:lnTo>
                  <a:pt x="519" y="96911"/>
                </a:lnTo>
                <a:close/>
                <a:moveTo>
                  <a:pt x="138410" y="96911"/>
                </a:moveTo>
                <a:cubicBezTo>
                  <a:pt x="137199" y="126539"/>
                  <a:pt x="129550" y="154054"/>
                  <a:pt x="118370" y="172121"/>
                </a:cubicBezTo>
                <a:cubicBezTo>
                  <a:pt x="150247" y="160804"/>
                  <a:pt x="173714" y="131799"/>
                  <a:pt x="176967" y="96911"/>
                </a:cubicBezTo>
                <a:lnTo>
                  <a:pt x="138410" y="96911"/>
                </a:lnTo>
                <a:close/>
                <a:moveTo>
                  <a:pt x="176967" y="80298"/>
                </a:moveTo>
                <a:cubicBezTo>
                  <a:pt x="173714" y="45410"/>
                  <a:pt x="150247" y="16371"/>
                  <a:pt x="118370" y="5088"/>
                </a:cubicBezTo>
                <a:cubicBezTo>
                  <a:pt x="129550" y="23155"/>
                  <a:pt x="137199" y="50671"/>
                  <a:pt x="138410" y="80298"/>
                </a:cubicBezTo>
                <a:lnTo>
                  <a:pt x="176967" y="80298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22" name="Text 19"/>
          <p:cNvSpPr/>
          <p:nvPr/>
        </p:nvSpPr>
        <p:spPr>
          <a:xfrm>
            <a:off x="4864395" y="7013266"/>
            <a:ext cx="1027814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6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www.satya.ai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991682" y="7030987"/>
            <a:ext cx="8860" cy="212651"/>
          </a:xfrm>
          <a:custGeom>
            <a:avLst/>
            <a:gdLst/>
            <a:ahLst/>
            <a:cxnLst/>
            <a:rect l="l" t="t" r="r" b="b"/>
            <a:pathLst>
              <a:path w="8860" h="212651">
                <a:moveTo>
                  <a:pt x="0" y="0"/>
                </a:moveTo>
                <a:lnTo>
                  <a:pt x="8860" y="0"/>
                </a:lnTo>
                <a:lnTo>
                  <a:pt x="8860" y="212651"/>
                </a:lnTo>
                <a:lnTo>
                  <a:pt x="0" y="212651"/>
                </a:lnTo>
                <a:lnTo>
                  <a:pt x="0" y="0"/>
                </a:lnTo>
                <a:close/>
              </a:path>
            </a:pathLst>
          </a:custGeom>
          <a:solidFill>
            <a:srgbClr val="4B5563"/>
          </a:solidFill>
          <a:ln/>
        </p:spPr>
      </p:sp>
      <p:sp>
        <p:nvSpPr>
          <p:cNvPr id="24" name="Shape 21"/>
          <p:cNvSpPr/>
          <p:nvPr/>
        </p:nvSpPr>
        <p:spPr>
          <a:xfrm>
            <a:off x="6142310" y="6924661"/>
            <a:ext cx="425302" cy="425302"/>
          </a:xfrm>
          <a:custGeom>
            <a:avLst/>
            <a:gdLst/>
            <a:ahLst/>
            <a:cxnLst/>
            <a:rect l="l" t="t" r="r" b="b"/>
            <a:pathLst>
              <a:path w="425302" h="425302">
                <a:moveTo>
                  <a:pt x="212651" y="0"/>
                </a:moveTo>
                <a:lnTo>
                  <a:pt x="212651" y="0"/>
                </a:lnTo>
                <a:cubicBezTo>
                  <a:pt x="330017" y="0"/>
                  <a:pt x="425302" y="95286"/>
                  <a:pt x="425302" y="212651"/>
                </a:cubicBezTo>
                <a:lnTo>
                  <a:pt x="425302" y="212651"/>
                </a:lnTo>
                <a:cubicBezTo>
                  <a:pt x="425302" y="330017"/>
                  <a:pt x="330017" y="425302"/>
                  <a:pt x="212651" y="425302"/>
                </a:cubicBezTo>
                <a:lnTo>
                  <a:pt x="212651" y="425302"/>
                </a:lnTo>
                <a:cubicBezTo>
                  <a:pt x="95286" y="425302"/>
                  <a:pt x="0" y="330017"/>
                  <a:pt x="0" y="212651"/>
                </a:cubicBezTo>
                <a:lnTo>
                  <a:pt x="0" y="212651"/>
                </a:lnTo>
                <a:cubicBezTo>
                  <a:pt x="0" y="95286"/>
                  <a:pt x="95286" y="0"/>
                  <a:pt x="212651" y="0"/>
                </a:cubicBezTo>
                <a:close/>
              </a:path>
            </a:pathLst>
          </a:custGeom>
          <a:solidFill>
            <a:srgbClr val="34D399">
              <a:alpha val="2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266356" y="7048708"/>
            <a:ext cx="177209" cy="177209"/>
          </a:xfrm>
          <a:custGeom>
            <a:avLst/>
            <a:gdLst/>
            <a:ahLst/>
            <a:cxnLst/>
            <a:rect l="l" t="t" r="r" b="b"/>
            <a:pathLst>
              <a:path w="177209" h="177209">
                <a:moveTo>
                  <a:pt x="16613" y="22151"/>
                </a:moveTo>
                <a:cubicBezTo>
                  <a:pt x="7441" y="22151"/>
                  <a:pt x="0" y="29593"/>
                  <a:pt x="0" y="38765"/>
                </a:cubicBezTo>
                <a:cubicBezTo>
                  <a:pt x="0" y="43991"/>
                  <a:pt x="2457" y="48906"/>
                  <a:pt x="6645" y="52055"/>
                </a:cubicBezTo>
                <a:lnTo>
                  <a:pt x="78637" y="106049"/>
                </a:lnTo>
                <a:cubicBezTo>
                  <a:pt x="84555" y="110479"/>
                  <a:pt x="92654" y="110479"/>
                  <a:pt x="98573" y="106049"/>
                </a:cubicBezTo>
                <a:lnTo>
                  <a:pt x="170564" y="52055"/>
                </a:lnTo>
                <a:cubicBezTo>
                  <a:pt x="174752" y="48906"/>
                  <a:pt x="177209" y="43991"/>
                  <a:pt x="177209" y="38765"/>
                </a:cubicBezTo>
                <a:cubicBezTo>
                  <a:pt x="177209" y="29593"/>
                  <a:pt x="169768" y="22151"/>
                  <a:pt x="160596" y="22151"/>
                </a:cubicBezTo>
                <a:lnTo>
                  <a:pt x="16613" y="22151"/>
                </a:lnTo>
                <a:close/>
                <a:moveTo>
                  <a:pt x="0" y="67838"/>
                </a:moveTo>
                <a:lnTo>
                  <a:pt x="0" y="132907"/>
                </a:lnTo>
                <a:cubicBezTo>
                  <a:pt x="0" y="145125"/>
                  <a:pt x="9933" y="155058"/>
                  <a:pt x="22151" y="155058"/>
                </a:cubicBezTo>
                <a:lnTo>
                  <a:pt x="155058" y="155058"/>
                </a:lnTo>
                <a:cubicBezTo>
                  <a:pt x="167276" y="155058"/>
                  <a:pt x="177209" y="145125"/>
                  <a:pt x="177209" y="132907"/>
                </a:cubicBezTo>
                <a:lnTo>
                  <a:pt x="177209" y="67838"/>
                </a:lnTo>
                <a:lnTo>
                  <a:pt x="108541" y="119339"/>
                </a:lnTo>
                <a:cubicBezTo>
                  <a:pt x="96738" y="128200"/>
                  <a:pt x="80471" y="128200"/>
                  <a:pt x="68669" y="119339"/>
                </a:cubicBezTo>
                <a:lnTo>
                  <a:pt x="0" y="67838"/>
                </a:ln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26" name="Text 23"/>
          <p:cNvSpPr/>
          <p:nvPr/>
        </p:nvSpPr>
        <p:spPr>
          <a:xfrm>
            <a:off x="6669507" y="7013266"/>
            <a:ext cx="1222744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6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contact@satya.ai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Satya: Deepfake Detection &amp; Media Authentication Platform</dc:title>
  <dc:subject>Satya: Deepfake Detection &amp; Media Authentication Platform</dc:subject>
  <dc:creator>Kimi</dc:creator>
  <cp:lastModifiedBy>Kimi</cp:lastModifiedBy>
  <cp:revision>1</cp:revision>
  <dcterms:created xsi:type="dcterms:W3CDTF">2026-01-22T17:31:31Z</dcterms:created>
  <dcterms:modified xsi:type="dcterms:W3CDTF">2026-01-22T17:31:31Z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{"Label":"Satya: Deepfake Detection &amp; Media Authentication Platform","ContentProducer":"001191110108MACG2KBH8F10000","ProduceID":"19be6c04-8022-81c0-8000-00000f1c0222","ReservedCode1":"","ContentPropagator":"001191110108MACG2KBH8F20000","PropagateID":"19be6c04-8022-81c0-8000-00000f1c0222","ReservedCode2":""}</vt:lpwstr>
  </property>
</Properties>
</file>